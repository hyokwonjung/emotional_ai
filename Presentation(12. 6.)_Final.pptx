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8" r:id="rId3"/>
    <p:sldId id="257" r:id="rId4"/>
    <p:sldId id="259" r:id="rId5"/>
    <p:sldId id="261" r:id="rId6"/>
    <p:sldId id="260" r:id="rId7"/>
    <p:sldId id="264" r:id="rId8"/>
    <p:sldId id="262" r:id="rId9"/>
    <p:sldId id="265" r:id="rId10"/>
    <p:sldId id="271" r:id="rId11"/>
    <p:sldId id="273" r:id="rId12"/>
    <p:sldId id="277" r:id="rId13"/>
    <p:sldId id="278" r:id="rId14"/>
    <p:sldId id="276" r:id="rId15"/>
    <p:sldId id="274" r:id="rId16"/>
    <p:sldId id="275" r:id="rId17"/>
    <p:sldId id="280" r:id="rId18"/>
    <p:sldId id="282" r:id="rId19"/>
    <p:sldId id="283" r:id="rId20"/>
    <p:sldId id="28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B1EFEF"/>
    <a:srgbClr val="FF9900"/>
    <a:srgbClr val="CC66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2262FD-E213-46A0-8594-8AE9D60CDA79}" v="103" dt="2025-11-30T03:03:27.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348" autoAdjust="0"/>
  </p:normalViewPr>
  <p:slideViewPr>
    <p:cSldViewPr snapToGrid="0">
      <p:cViewPr varScale="1">
        <p:scale>
          <a:sx n="56" d="100"/>
          <a:sy n="56" d="100"/>
        </p:scale>
        <p:origin x="1068" y="268"/>
      </p:cViewPr>
      <p:guideLst/>
    </p:cSldViewPr>
  </p:slideViewPr>
  <p:notesTextViewPr>
    <p:cViewPr>
      <p:scale>
        <a:sx n="1" d="1"/>
        <a:sy n="1" d="1"/>
      </p:scale>
      <p:origin x="0" y="-172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A621D0-918E-4349-B039-D828315DC132}"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1BE262-5D72-4C91-82D3-CB73E3A35E2E}" type="slidenum">
              <a:rPr lang="en-US" smtClean="0"/>
              <a:t>‹#›</a:t>
            </a:fld>
            <a:endParaRPr lang="en-US"/>
          </a:p>
        </p:txBody>
      </p:sp>
    </p:spTree>
    <p:extLst>
      <p:ext uri="{BB962C8B-B14F-4D97-AF65-F5344CB8AC3E}">
        <p14:creationId xmlns:p14="http://schemas.microsoft.com/office/powerpoint/2010/main" val="2346093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Good morning, {Introduction}</a:t>
            </a:r>
          </a:p>
          <a:p>
            <a:r>
              <a:rPr lang="en-US" altLang="ko-KR" dirty="0"/>
              <a:t>Today I am going to present </a:t>
            </a:r>
          </a:p>
          <a:p>
            <a:r>
              <a:rPr lang="en-US" altLang="ko-KR" dirty="0"/>
              <a:t>LSTM-Based Classification of Affective EEG Signals During Facial Expression Mimicry</a:t>
            </a:r>
          </a:p>
        </p:txBody>
      </p:sp>
      <p:sp>
        <p:nvSpPr>
          <p:cNvPr id="4" name="Slide Number Placeholder 3"/>
          <p:cNvSpPr>
            <a:spLocks noGrp="1"/>
          </p:cNvSpPr>
          <p:nvPr>
            <p:ph type="sldNum" sz="quarter" idx="5"/>
          </p:nvPr>
        </p:nvSpPr>
        <p:spPr/>
        <p:txBody>
          <a:bodyPr/>
          <a:lstStyle/>
          <a:p>
            <a:fld id="{E71BE262-5D72-4C91-82D3-CB73E3A35E2E}" type="slidenum">
              <a:rPr lang="en-US" smtClean="0"/>
              <a:t>1</a:t>
            </a:fld>
            <a:endParaRPr lang="en-US"/>
          </a:p>
        </p:txBody>
      </p:sp>
    </p:spTree>
    <p:extLst>
      <p:ext uri="{BB962C8B-B14F-4D97-AF65-F5344CB8AC3E}">
        <p14:creationId xmlns:p14="http://schemas.microsoft.com/office/powerpoint/2010/main" val="3733923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The goal of this research is to recognize a subject’s emotional state using EEG signals. Although many studies have explored EEG-based emotion recognition, one major challenge remains unsolved which is the poor spatial resolution of EEG. So in this study, we shifted the perspective instead of relying on spatial resolution, we focused on EEG’s temporal resolution to classify emotional states.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In particular, we analyzed the dynamic changes in alpha power as the key indicator of emotional state. Another unique aspect of our work is that we intentionally used only two EEG channels when classifying, which means that lightweight and minimal setups can still capture meaningful emotional patterns.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Before mimicry begins (0–4 seconds), the participant is not yet imitating the facial expression, so the brain is not strongly activated. As a result, the alpha-band power remains high (shown in red).</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During the 4–13 second interval, which corresponds to the facial-mimicry period, brain activation increases and alpha-band power decreases (shown in blue).</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Because the presented stimulus is a smiling face, the </a:t>
            </a:r>
            <a:r>
              <a:rPr lang="en-US" altLang="ko-KR" sz="1200" kern="1200" dirty="0" err="1">
                <a:solidFill>
                  <a:schemeClr val="tx1"/>
                </a:solidFill>
                <a:effectLst/>
                <a:latin typeface="+mn-lt"/>
                <a:ea typeface="+mn-ea"/>
                <a:cs typeface="+mn-cs"/>
              </a:rPr>
              <a:t>Fpz</a:t>
            </a:r>
            <a:r>
              <a:rPr lang="en-US" altLang="ko-KR" sz="1200" kern="1200" dirty="0">
                <a:solidFill>
                  <a:schemeClr val="tx1"/>
                </a:solidFill>
                <a:effectLst/>
                <a:latin typeface="+mn-lt"/>
                <a:ea typeface="+mn-ea"/>
                <a:cs typeface="+mn-cs"/>
              </a:rPr>
              <a:t> electrode (associated with positive/pleasant affect) shows stronger blue (lower alpha power) than the F8 electrode (associated with negative/unpleasant affect).</a:t>
            </a:r>
            <a:endParaRPr lang="ko-KR" altLang="ko-KR" sz="1200" kern="1200" dirty="0">
              <a:solidFill>
                <a:schemeClr val="tx1"/>
              </a:solidFill>
              <a:effectLst/>
              <a:latin typeface="+mn-lt"/>
              <a:ea typeface="+mn-ea"/>
              <a:cs typeface="+mn-cs"/>
            </a:endParaRPr>
          </a:p>
          <a:p>
            <a:pPr latinLnBrk="1"/>
            <a:r>
              <a:rPr lang="en-US" altLang="ko-KR" sz="1200" u="sng"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If you ask why EEG?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Captures subconscious emotional responses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Excellent temporal resolution</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Complementary to facial-expression-based emotion recognition</a:t>
            </a:r>
            <a:endParaRPr lang="ko-KR" altLang="ko-KR" sz="1200" kern="1200" dirty="0">
              <a:solidFill>
                <a:schemeClr val="tx1"/>
              </a:solidFill>
              <a:effectLst/>
              <a:latin typeface="+mn-lt"/>
              <a:ea typeface="+mn-ea"/>
              <a:cs typeface="+mn-cs"/>
            </a:endParaRPr>
          </a:p>
          <a:p>
            <a:endParaRPr lang="en-US" sz="1600" dirty="0"/>
          </a:p>
        </p:txBody>
      </p:sp>
      <p:sp>
        <p:nvSpPr>
          <p:cNvPr id="4" name="Slide Number Placeholder 3"/>
          <p:cNvSpPr>
            <a:spLocks noGrp="1"/>
          </p:cNvSpPr>
          <p:nvPr>
            <p:ph type="sldNum" sz="quarter" idx="5"/>
          </p:nvPr>
        </p:nvSpPr>
        <p:spPr/>
        <p:txBody>
          <a:bodyPr/>
          <a:lstStyle/>
          <a:p>
            <a:fld id="{E71BE262-5D72-4C91-82D3-CB73E3A35E2E}" type="slidenum">
              <a:rPr lang="en-US" smtClean="0"/>
              <a:t>2</a:t>
            </a:fld>
            <a:endParaRPr lang="en-US"/>
          </a:p>
        </p:txBody>
      </p:sp>
    </p:spTree>
    <p:extLst>
      <p:ext uri="{BB962C8B-B14F-4D97-AF65-F5344CB8AC3E}">
        <p14:creationId xmlns:p14="http://schemas.microsoft.com/office/powerpoint/2010/main" val="2747114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Emotions shape how we communicate, make decisions, and interact with the world.</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That’s why technology capable of reading human emotions can transform machines from purely functional tools into personalized, adaptive, and truly human-friendly systems.</a:t>
            </a:r>
            <a:endParaRPr lang="ko-KR" altLang="ko-KR" sz="1200" kern="1200" dirty="0">
              <a:solidFill>
                <a:schemeClr val="tx1"/>
              </a:solidFill>
              <a:effectLst/>
              <a:latin typeface="+mn-lt"/>
              <a:ea typeface="+mn-ea"/>
              <a:cs typeface="+mn-cs"/>
            </a:endParaRPr>
          </a:p>
          <a:p>
            <a:pPr latinLnBrk="0"/>
            <a:r>
              <a:rPr lang="en-US" altLang="ko-KR" sz="1200" kern="1200" dirty="0">
                <a:solidFill>
                  <a:schemeClr val="tx1"/>
                </a:solidFill>
                <a:effectLst/>
                <a:latin typeface="+mn-lt"/>
                <a:ea typeface="+mn-ea"/>
                <a:cs typeface="+mn-cs"/>
              </a:rPr>
              <a:t>In education, this technology can enable individualized learning experiences, strengthen engagement between virtual educators and students, and even support richer social interaction between humans and machines.</a:t>
            </a:r>
            <a:endParaRPr lang="ko-KR" altLang="ko-KR" sz="1200" kern="1200" dirty="0">
              <a:solidFill>
                <a:schemeClr val="tx1"/>
              </a:solidFill>
              <a:effectLst/>
              <a:latin typeface="+mn-lt"/>
              <a:ea typeface="+mn-ea"/>
              <a:cs typeface="+mn-cs"/>
            </a:endParaRPr>
          </a:p>
          <a:p>
            <a:pPr latinLnBrk="0"/>
            <a:r>
              <a:rPr lang="en-US" altLang="ko-KR" sz="1200" kern="1200" dirty="0">
                <a:solidFill>
                  <a:schemeClr val="tx1"/>
                </a:solidFill>
                <a:effectLst/>
                <a:latin typeface="+mn-lt"/>
                <a:ea typeface="+mn-ea"/>
                <a:cs typeface="+mn-cs"/>
              </a:rPr>
              <a:t>That’s why we are focusing on capturing hidden messages from the EEG signal.</a:t>
            </a:r>
            <a:endParaRPr lang="ko-KR" altLang="ko-KR" sz="1200" kern="1200" dirty="0">
              <a:solidFill>
                <a:schemeClr val="tx1"/>
              </a:solidFill>
              <a:effectLst/>
              <a:latin typeface="+mn-lt"/>
              <a:ea typeface="+mn-ea"/>
              <a:cs typeface="+mn-cs"/>
            </a:endParaRPr>
          </a:p>
          <a:p>
            <a:endParaRPr lang="en-US" altLang="ko-KR" dirty="0"/>
          </a:p>
        </p:txBody>
      </p:sp>
      <p:sp>
        <p:nvSpPr>
          <p:cNvPr id="4" name="Slide Number Placeholder 3"/>
          <p:cNvSpPr>
            <a:spLocks noGrp="1"/>
          </p:cNvSpPr>
          <p:nvPr>
            <p:ph type="sldNum" sz="quarter" idx="5"/>
          </p:nvPr>
        </p:nvSpPr>
        <p:spPr/>
        <p:txBody>
          <a:bodyPr/>
          <a:lstStyle/>
          <a:p>
            <a:fld id="{E71BE262-5D72-4C91-82D3-CB73E3A35E2E}" type="slidenum">
              <a:rPr lang="en-US" smtClean="0"/>
              <a:t>3</a:t>
            </a:fld>
            <a:endParaRPr lang="en-US"/>
          </a:p>
        </p:txBody>
      </p:sp>
    </p:spTree>
    <p:extLst>
      <p:ext uri="{BB962C8B-B14F-4D97-AF65-F5344CB8AC3E}">
        <p14:creationId xmlns:p14="http://schemas.microsoft.com/office/powerpoint/2010/main" val="1491105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EC52C-FD20-FA71-6211-7C8C302EF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234A0-6B17-3617-CAA4-B912F0519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3698DF-CBF3-935F-2DB3-B71908AD5AC5}"/>
              </a:ext>
            </a:extLst>
          </p:cNvPr>
          <p:cNvSpPr>
            <a:spLocks noGrp="1"/>
          </p:cNvSpPr>
          <p:nvPr>
            <p:ph type="body" idx="1"/>
          </p:nvPr>
        </p:nvSpPr>
        <p:spPr/>
        <p:txBody>
          <a:bodyPr/>
          <a:lstStyle/>
          <a:p>
            <a:pPr latinLnBrk="1"/>
            <a:r>
              <a:rPr lang="ko-KR" altLang="ko-KR" sz="1200" kern="1200" dirty="0">
                <a:solidFill>
                  <a:schemeClr val="tx1"/>
                </a:solidFill>
                <a:effectLst/>
                <a:latin typeface="+mn-lt"/>
                <a:ea typeface="+mn-ea"/>
                <a:cs typeface="+mn-cs"/>
              </a:rPr>
              <a:t>“</a:t>
            </a:r>
            <a:r>
              <a:rPr lang="en-US" altLang="ko-KR" sz="1200" kern="1200" dirty="0">
                <a:solidFill>
                  <a:schemeClr val="tx1"/>
                </a:solidFill>
                <a:effectLst/>
                <a:latin typeface="+mn-lt"/>
                <a:ea typeface="+mn-ea"/>
                <a:cs typeface="+mn-cs"/>
              </a:rPr>
              <a:t>From previous research, we can identify which EEG locations are meaningful for measuring emotion. Based on Heller’s model (1993) and the fMRI findings by </a:t>
            </a:r>
            <a:r>
              <a:rPr lang="en-US" altLang="ko-KR" sz="1200" kern="1200" dirty="0" err="1">
                <a:solidFill>
                  <a:schemeClr val="tx1"/>
                </a:solidFill>
                <a:effectLst/>
                <a:latin typeface="+mn-lt"/>
                <a:ea typeface="+mn-ea"/>
                <a:cs typeface="+mn-cs"/>
              </a:rPr>
              <a:t>Dolcos</a:t>
            </a:r>
            <a:r>
              <a:rPr lang="en-US" altLang="ko-KR" sz="1200" kern="1200" dirty="0">
                <a:solidFill>
                  <a:schemeClr val="tx1"/>
                </a:solidFill>
                <a:effectLst/>
                <a:latin typeface="+mn-lt"/>
                <a:ea typeface="+mn-ea"/>
                <a:cs typeface="+mn-cs"/>
              </a:rPr>
              <a:t> and colleagues (2004), the ventromedial PFC and the left dorsolateral PFC are linked to positive affect (i.e., pleasure). In contrast, the right ventrolateral PFC is associated with negative affect (i.e., unpleasure). The dorsomedial PFC responds to both positive and negative affects, reflecting overall emotional arousal.</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For anyone who isn’t familiar with brain anatomy, including me, I am </a:t>
            </a:r>
            <a:r>
              <a:rPr lang="en-US" altLang="ko-KR" sz="1200" kern="1200" dirty="0" err="1">
                <a:solidFill>
                  <a:schemeClr val="tx1"/>
                </a:solidFill>
                <a:effectLst/>
                <a:latin typeface="+mn-lt"/>
                <a:ea typeface="+mn-ea"/>
                <a:cs typeface="+mn-cs"/>
              </a:rPr>
              <a:t>gonna</a:t>
            </a:r>
            <a:r>
              <a:rPr lang="en-US" altLang="ko-KR" sz="1200" kern="1200" dirty="0">
                <a:solidFill>
                  <a:schemeClr val="tx1"/>
                </a:solidFill>
                <a:effectLst/>
                <a:latin typeface="+mn-lt"/>
                <a:ea typeface="+mn-ea"/>
                <a:cs typeface="+mn-cs"/>
              </a:rPr>
              <a:t> give you very quick introduction.</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The prefrontal cortex, or PFC, is the front part of the brain right behind your forehead. It’s responsible for thinking, decision-making, and emotional responses.</a:t>
            </a:r>
            <a:endParaRPr lang="ko-KR" altLang="ko-KR" sz="1200" kern="1200" dirty="0">
              <a:solidFill>
                <a:schemeClr val="tx1"/>
              </a:solidFill>
              <a:effectLst/>
              <a:latin typeface="+mn-lt"/>
              <a:ea typeface="+mn-ea"/>
              <a:cs typeface="+mn-cs"/>
            </a:endParaRPr>
          </a:p>
          <a:p>
            <a:pPr latinLnBrk="1"/>
            <a:r>
              <a:rPr lang="ko-KR" altLang="ko-KR" sz="1200" kern="1200" dirty="0">
                <a:solidFill>
                  <a:schemeClr val="tx1"/>
                </a:solidFill>
                <a:effectLst/>
                <a:latin typeface="+mn-lt"/>
                <a:ea typeface="+mn-ea"/>
                <a:cs typeface="+mn-cs"/>
              </a:rPr>
              <a:t>‘</a:t>
            </a:r>
            <a:r>
              <a:rPr lang="en-US" altLang="ko-KR" sz="1200" kern="1200" dirty="0">
                <a:solidFill>
                  <a:schemeClr val="tx1"/>
                </a:solidFill>
                <a:effectLst/>
                <a:latin typeface="+mn-lt"/>
                <a:ea typeface="+mn-ea"/>
                <a:cs typeface="+mn-cs"/>
              </a:rPr>
              <a:t>Dorsolateral’- </a:t>
            </a:r>
            <a:r>
              <a:rPr lang="en-US" altLang="ko-KR" sz="1200" kern="1200" dirty="0" err="1">
                <a:solidFill>
                  <a:schemeClr val="tx1"/>
                </a:solidFill>
                <a:effectLst/>
                <a:latin typeface="+mn-lt"/>
                <a:ea typeface="+mn-ea"/>
                <a:cs typeface="+mn-cs"/>
              </a:rPr>
              <a:t>dorso</a:t>
            </a:r>
            <a:r>
              <a:rPr lang="en-US" altLang="ko-KR" sz="1200" kern="1200" dirty="0">
                <a:solidFill>
                  <a:schemeClr val="tx1"/>
                </a:solidFill>
                <a:effectLst/>
                <a:latin typeface="+mn-lt"/>
                <a:ea typeface="+mn-ea"/>
                <a:cs typeface="+mn-cs"/>
              </a:rPr>
              <a:t> for upper and lateral for side—so it means upper side of the PFC.</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‘Ventromedial’- </a:t>
            </a:r>
            <a:r>
              <a:rPr lang="en-US" altLang="ko-KR" sz="1200" kern="1200" dirty="0" err="1">
                <a:solidFill>
                  <a:schemeClr val="tx1"/>
                </a:solidFill>
                <a:effectLst/>
                <a:latin typeface="+mn-lt"/>
                <a:ea typeface="+mn-ea"/>
                <a:cs typeface="+mn-cs"/>
              </a:rPr>
              <a:t>ventro</a:t>
            </a:r>
            <a:r>
              <a:rPr lang="en-US" altLang="ko-KR" sz="1200" kern="1200" dirty="0">
                <a:solidFill>
                  <a:schemeClr val="tx1"/>
                </a:solidFill>
                <a:effectLst/>
                <a:latin typeface="+mn-lt"/>
                <a:ea typeface="+mn-ea"/>
                <a:cs typeface="+mn-cs"/>
              </a:rPr>
              <a:t> for bottom and medial for middle—so the ventromedial area is the lower middle part of the PFC.</a:t>
            </a:r>
            <a:endParaRPr lang="ko-KR" altLang="ko-KR" sz="1200" kern="1200" dirty="0">
              <a:solidFill>
                <a:schemeClr val="tx1"/>
              </a:solidFill>
              <a:effectLst/>
              <a:latin typeface="+mn-lt"/>
              <a:ea typeface="+mn-ea"/>
              <a:cs typeface="+mn-cs"/>
            </a:endParaRPr>
          </a:p>
          <a:p>
            <a:r>
              <a:rPr lang="ko-KR" altLang="ko-KR" sz="1200" kern="1200" dirty="0">
                <a:solidFill>
                  <a:schemeClr val="tx1"/>
                </a:solidFill>
                <a:effectLst/>
                <a:latin typeface="+mn-lt"/>
                <a:ea typeface="+mn-ea"/>
                <a:cs typeface="+mn-cs"/>
              </a:rPr>
              <a:t>‘</a:t>
            </a:r>
            <a:r>
              <a:rPr lang="en-US" altLang="ko-KR" sz="1200" kern="1200" dirty="0">
                <a:solidFill>
                  <a:schemeClr val="tx1"/>
                </a:solidFill>
                <a:effectLst/>
                <a:latin typeface="+mn-lt"/>
                <a:ea typeface="+mn-ea"/>
                <a:cs typeface="+mn-cs"/>
              </a:rPr>
              <a:t>Ventrolateral’ - </a:t>
            </a:r>
            <a:r>
              <a:rPr lang="en-US" altLang="ko-KR" sz="1200" kern="1200" dirty="0" err="1">
                <a:solidFill>
                  <a:schemeClr val="tx1"/>
                </a:solidFill>
                <a:effectLst/>
                <a:latin typeface="+mn-lt"/>
                <a:ea typeface="+mn-ea"/>
                <a:cs typeface="+mn-cs"/>
              </a:rPr>
              <a:t>ventro</a:t>
            </a:r>
            <a:r>
              <a:rPr lang="en-US" altLang="ko-KR" sz="1200" kern="1200" dirty="0">
                <a:solidFill>
                  <a:schemeClr val="tx1"/>
                </a:solidFill>
                <a:effectLst/>
                <a:latin typeface="+mn-lt"/>
                <a:ea typeface="+mn-ea"/>
                <a:cs typeface="+mn-cs"/>
              </a:rPr>
              <a:t> for bottom and lateral for side—so the ventrolateral is the lower side of the PFC.</a:t>
            </a:r>
            <a:endParaRPr lang="en-US" dirty="0"/>
          </a:p>
        </p:txBody>
      </p:sp>
      <p:sp>
        <p:nvSpPr>
          <p:cNvPr id="4" name="Slide Number Placeholder 3">
            <a:extLst>
              <a:ext uri="{FF2B5EF4-FFF2-40B4-BE49-F238E27FC236}">
                <a16:creationId xmlns:a16="http://schemas.microsoft.com/office/drawing/2014/main" id="{B04C59D6-3081-ADE8-F677-F3B3CC65386E}"/>
              </a:ext>
            </a:extLst>
          </p:cNvPr>
          <p:cNvSpPr>
            <a:spLocks noGrp="1"/>
          </p:cNvSpPr>
          <p:nvPr>
            <p:ph type="sldNum" sz="quarter" idx="5"/>
          </p:nvPr>
        </p:nvSpPr>
        <p:spPr/>
        <p:txBody>
          <a:bodyPr/>
          <a:lstStyle/>
          <a:p>
            <a:fld id="{E71BE262-5D72-4C91-82D3-CB73E3A35E2E}" type="slidenum">
              <a:rPr lang="en-US" smtClean="0"/>
              <a:t>4</a:t>
            </a:fld>
            <a:endParaRPr lang="en-US"/>
          </a:p>
        </p:txBody>
      </p:sp>
    </p:spTree>
    <p:extLst>
      <p:ext uri="{BB962C8B-B14F-4D97-AF65-F5344CB8AC3E}">
        <p14:creationId xmlns:p14="http://schemas.microsoft.com/office/powerpoint/2010/main" val="3260398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918E8-2D5E-A727-0DA2-DC0175E1B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0142E-B643-8316-A737-0125A3EFC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7D72D-AE5B-2B68-5865-51951D9D0AD9}"/>
              </a:ext>
            </a:extLst>
          </p:cNvPr>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Based on previous research, we selected eight EEG electrode locations. However, for this study we used only two of them to keep the model lightweight and practical for future applications.</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After the setup was completed, participants were shown images of smiling or angry faces and asked to mimic those expressions. The EEG signals generated during this mimicry were recorded and preprocessed using  a customized </a:t>
            </a:r>
            <a:r>
              <a:rPr lang="en-US" altLang="ko-KR" sz="1200" kern="1200" dirty="0" err="1">
                <a:solidFill>
                  <a:schemeClr val="tx1"/>
                </a:solidFill>
                <a:effectLst/>
                <a:latin typeface="+mn-lt"/>
                <a:ea typeface="+mn-ea"/>
                <a:cs typeface="+mn-cs"/>
              </a:rPr>
              <a:t>OpenBCI</a:t>
            </a:r>
            <a:r>
              <a:rPr lang="en-US" altLang="ko-KR" sz="1200" kern="1200" dirty="0">
                <a:solidFill>
                  <a:schemeClr val="tx1"/>
                </a:solidFill>
                <a:effectLst/>
                <a:latin typeface="+mn-lt"/>
                <a:ea typeface="+mn-ea"/>
                <a:cs typeface="+mn-cs"/>
              </a:rPr>
              <a:t> system (</a:t>
            </a:r>
            <a:r>
              <a:rPr lang="en-US" altLang="ko-KR" sz="1200" kern="1200" dirty="0" err="1">
                <a:solidFill>
                  <a:schemeClr val="tx1"/>
                </a:solidFill>
                <a:effectLst/>
                <a:latin typeface="+mn-lt"/>
                <a:ea typeface="+mn-ea"/>
                <a:cs typeface="+mn-cs"/>
              </a:rPr>
              <a:t>JunEEGLAB</a:t>
            </a:r>
            <a:r>
              <a:rPr lang="en-US" altLang="ko-KR" sz="1200" kern="1200" dirty="0">
                <a:solidFill>
                  <a:schemeClr val="tx1"/>
                </a:solidFill>
                <a:effectLst/>
                <a:latin typeface="+mn-lt"/>
                <a:ea typeface="+mn-ea"/>
                <a:cs typeface="+mn-cs"/>
              </a:rPr>
              <a:t>) developed by </a:t>
            </a:r>
            <a:r>
              <a:rPr lang="en-US" altLang="ko-KR" sz="1200" kern="1200" dirty="0" err="1">
                <a:solidFill>
                  <a:schemeClr val="tx1"/>
                </a:solidFill>
                <a:effectLst/>
                <a:latin typeface="+mn-lt"/>
                <a:ea typeface="+mn-ea"/>
                <a:cs typeface="+mn-cs"/>
              </a:rPr>
              <a:t>Junmeditech</a:t>
            </a:r>
            <a:r>
              <a:rPr lang="en-US" altLang="ko-KR" sz="1200" u="sng" kern="1200" dirty="0">
                <a:solidFill>
                  <a:schemeClr val="tx1"/>
                </a:solidFill>
                <a:effectLst/>
                <a:latin typeface="+mn-lt"/>
                <a:ea typeface="+mn-ea"/>
                <a:cs typeface="+mn-cs"/>
              </a:rPr>
              <a:t>.</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 </a:t>
            </a:r>
            <a:r>
              <a:rPr lang="ko-KR" altLang="ko-KR" sz="1200" kern="1200" dirty="0">
                <a:solidFill>
                  <a:schemeClr val="tx1"/>
                </a:solidFill>
                <a:effectLst/>
                <a:latin typeface="+mn-lt"/>
                <a:ea typeface="+mn-ea"/>
                <a:cs typeface="+mn-cs"/>
              </a:rPr>
              <a:t>수정 예정</a:t>
            </a:r>
          </a:p>
          <a:p>
            <a:endParaRPr lang="en-US" dirty="0"/>
          </a:p>
        </p:txBody>
      </p:sp>
      <p:sp>
        <p:nvSpPr>
          <p:cNvPr id="4" name="Slide Number Placeholder 3">
            <a:extLst>
              <a:ext uri="{FF2B5EF4-FFF2-40B4-BE49-F238E27FC236}">
                <a16:creationId xmlns:a16="http://schemas.microsoft.com/office/drawing/2014/main" id="{81EBB82F-FED8-D99A-FB0F-DDA2799F8E8E}"/>
              </a:ext>
            </a:extLst>
          </p:cNvPr>
          <p:cNvSpPr>
            <a:spLocks noGrp="1"/>
          </p:cNvSpPr>
          <p:nvPr>
            <p:ph type="sldNum" sz="quarter" idx="5"/>
          </p:nvPr>
        </p:nvSpPr>
        <p:spPr/>
        <p:txBody>
          <a:bodyPr/>
          <a:lstStyle/>
          <a:p>
            <a:fld id="{E71BE262-5D72-4C91-82D3-CB73E3A35E2E}" type="slidenum">
              <a:rPr lang="en-US" smtClean="0"/>
              <a:t>5</a:t>
            </a:fld>
            <a:endParaRPr lang="en-US"/>
          </a:p>
        </p:txBody>
      </p:sp>
    </p:spTree>
    <p:extLst>
      <p:ext uri="{BB962C8B-B14F-4D97-AF65-F5344CB8AC3E}">
        <p14:creationId xmlns:p14="http://schemas.microsoft.com/office/powerpoint/2010/main" val="283117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7AE7E-9365-D5D2-AD39-13A872CB3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261DD-6590-80B4-D389-2675F2D12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D9143-6241-5BF4-F26B-592A45CAE669}"/>
              </a:ext>
            </a:extLst>
          </p:cNvPr>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We divided the process into three main steps.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Step 1 is Data Collection.</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Step 2 is Preprocessing.</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Step 3 is Training and Testing the AI Model.</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We fed the preprocessed EEG sequences into a </a:t>
            </a:r>
            <a:r>
              <a:rPr lang="en-US" altLang="ko-KR" sz="1200" kern="1200" dirty="0" err="1">
                <a:solidFill>
                  <a:schemeClr val="tx1"/>
                </a:solidFill>
                <a:effectLst/>
                <a:latin typeface="+mn-lt"/>
                <a:ea typeface="+mn-ea"/>
                <a:cs typeface="+mn-cs"/>
              </a:rPr>
              <a:t>BiLSTM</a:t>
            </a:r>
            <a:r>
              <a:rPr lang="en-US" altLang="ko-KR" sz="1200" kern="1200" dirty="0">
                <a:solidFill>
                  <a:schemeClr val="tx1"/>
                </a:solidFill>
                <a:effectLst/>
                <a:latin typeface="+mn-lt"/>
                <a:ea typeface="+mn-ea"/>
                <a:cs typeface="+mn-cs"/>
              </a:rPr>
              <a:t> network. This model learns temporal patterns in the alpha power and classifies each trial as either ‘smile’ or ‘anger’.</a:t>
            </a:r>
            <a:endParaRPr lang="ko-KR" altLang="ko-KR"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DF1B938-268B-002D-C28F-B1A91F161480}"/>
              </a:ext>
            </a:extLst>
          </p:cNvPr>
          <p:cNvSpPr>
            <a:spLocks noGrp="1"/>
          </p:cNvSpPr>
          <p:nvPr>
            <p:ph type="sldNum" sz="quarter" idx="5"/>
          </p:nvPr>
        </p:nvSpPr>
        <p:spPr/>
        <p:txBody>
          <a:bodyPr/>
          <a:lstStyle/>
          <a:p>
            <a:fld id="{E71BE262-5D72-4C91-82D3-CB73E3A35E2E}" type="slidenum">
              <a:rPr lang="en-US" smtClean="0"/>
              <a:t>6</a:t>
            </a:fld>
            <a:endParaRPr lang="en-US"/>
          </a:p>
        </p:txBody>
      </p:sp>
    </p:spTree>
    <p:extLst>
      <p:ext uri="{BB962C8B-B14F-4D97-AF65-F5344CB8AC3E}">
        <p14:creationId xmlns:p14="http://schemas.microsoft.com/office/powerpoint/2010/main" val="2359963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4AEF8-BC70-98A1-30EE-1C0390F97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3F78C-13CE-DF04-BBC6-0BFF58265D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BB6CA-ECD5-849D-2942-90C066E0811E}"/>
              </a:ext>
            </a:extLst>
          </p:cNvPr>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Participants were shown images of smiling or angry faces and asked to mimic those expressions. While they mimicked the expressions, we recorded their brain activity using our EEG system.</a:t>
            </a:r>
            <a:endParaRPr lang="ko-KR" altLang="ko-KR" sz="1200" kern="1200" dirty="0">
              <a:solidFill>
                <a:schemeClr val="tx1"/>
              </a:solidFill>
              <a:effectLst/>
              <a:latin typeface="+mn-lt"/>
              <a:ea typeface="+mn-ea"/>
              <a:cs typeface="+mn-cs"/>
            </a:endParaRPr>
          </a:p>
          <a:p>
            <a:pPr latinLnBrk="0"/>
            <a:r>
              <a:rPr lang="en-US" altLang="ko-KR" sz="1200" kern="1200" dirty="0">
                <a:solidFill>
                  <a:schemeClr val="tx1"/>
                </a:solidFill>
                <a:effectLst/>
                <a:latin typeface="+mn-lt"/>
                <a:ea typeface="+mn-ea"/>
                <a:cs typeface="+mn-cs"/>
              </a:rPr>
              <a:t>Initially, we planned to collect a large amount of data by having each participant complete 30 trials. However, due to the poor laboratory environment, most of the recordings were contaminated with noise.</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As a result, for this conference we were only able to use 12 usable smile trials and 8 angry trials.</a:t>
            </a:r>
            <a:endParaRPr lang="ko-KR" altLang="ko-KR" sz="1200" kern="1200" dirty="0">
              <a:solidFill>
                <a:schemeClr val="tx1"/>
              </a:solidFill>
              <a:effectLst/>
              <a:latin typeface="+mn-lt"/>
              <a:ea typeface="+mn-ea"/>
              <a:cs typeface="+mn-cs"/>
            </a:endParaRPr>
          </a:p>
          <a:p>
            <a:pPr latinLnBrk="0"/>
            <a:r>
              <a:rPr lang="en-US" altLang="ko-KR" sz="1200" kern="1200" dirty="0">
                <a:solidFill>
                  <a:schemeClr val="tx1"/>
                </a:solidFill>
                <a:effectLst/>
                <a:latin typeface="+mn-lt"/>
                <a:ea typeface="+mn-ea"/>
                <a:cs typeface="+mn-cs"/>
              </a:rPr>
              <a:t>Because of this very small dataset, we needed a reasonable way to still obtain meaningful results. So we applied data augmentation to make the most of the limited data. I will explain the details later in the presentation.</a:t>
            </a:r>
            <a:endParaRPr lang="ko-KR" altLang="ko-KR" sz="1200" kern="1200" dirty="0">
              <a:solidFill>
                <a:schemeClr val="tx1"/>
              </a:solidFill>
              <a:effectLst/>
              <a:latin typeface="+mn-lt"/>
              <a:ea typeface="+mn-ea"/>
              <a:cs typeface="+mn-cs"/>
            </a:endParaRPr>
          </a:p>
          <a:p>
            <a:pPr latinLnBrk="0"/>
            <a:r>
              <a:rPr lang="en-US" altLang="ko-KR" sz="1200" kern="1200" dirty="0">
                <a:solidFill>
                  <a:schemeClr val="tx1"/>
                </a:solidFill>
                <a:effectLst/>
                <a:latin typeface="+mn-lt"/>
                <a:ea typeface="+mn-ea"/>
                <a:cs typeface="+mn-cs"/>
              </a:rPr>
              <a:t>Each trial contained 9 second EEG data recorded at 250 Hz, generating 2,250 samples. </a:t>
            </a:r>
            <a:endParaRPr lang="ko-KR" altLang="ko-K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dirty="0"/>
          </a:p>
        </p:txBody>
      </p:sp>
      <p:sp>
        <p:nvSpPr>
          <p:cNvPr id="4" name="Slide Number Placeholder 3">
            <a:extLst>
              <a:ext uri="{FF2B5EF4-FFF2-40B4-BE49-F238E27FC236}">
                <a16:creationId xmlns:a16="http://schemas.microsoft.com/office/drawing/2014/main" id="{81A8BA93-1ABB-A18B-F730-635851B4B595}"/>
              </a:ext>
            </a:extLst>
          </p:cNvPr>
          <p:cNvSpPr>
            <a:spLocks noGrp="1"/>
          </p:cNvSpPr>
          <p:nvPr>
            <p:ph type="sldNum" sz="quarter" idx="5"/>
          </p:nvPr>
        </p:nvSpPr>
        <p:spPr/>
        <p:txBody>
          <a:bodyPr/>
          <a:lstStyle/>
          <a:p>
            <a:fld id="{E71BE262-5D72-4C91-82D3-CB73E3A35E2E}" type="slidenum">
              <a:rPr lang="en-US" smtClean="0"/>
              <a:t>7</a:t>
            </a:fld>
            <a:endParaRPr lang="en-US"/>
          </a:p>
        </p:txBody>
      </p:sp>
    </p:spTree>
    <p:extLst>
      <p:ext uri="{BB962C8B-B14F-4D97-AF65-F5344CB8AC3E}">
        <p14:creationId xmlns:p14="http://schemas.microsoft.com/office/powerpoint/2010/main" val="3014419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63152-AE75-E6A7-323B-903ADF14A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5D339-2878-5B78-52BD-F8D34C9F67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932F2-8ED4-372F-1CFA-B741A74B416D}"/>
              </a:ext>
            </a:extLst>
          </p:cNvPr>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1) The raw EEG signals contain noise from blinking and facial movement, so we first applied noise reduction with </a:t>
            </a:r>
            <a:r>
              <a:rPr lang="en-US" altLang="ko-KR" sz="1200" kern="1200" dirty="0" err="1">
                <a:solidFill>
                  <a:schemeClr val="tx1"/>
                </a:solidFill>
                <a:effectLst/>
                <a:latin typeface="+mn-lt"/>
                <a:ea typeface="+mn-ea"/>
                <a:cs typeface="+mn-cs"/>
              </a:rPr>
              <a:t>JunEEGLAB</a:t>
            </a:r>
            <a:r>
              <a:rPr lang="en-US" altLang="ko-KR" sz="1200" kern="1200" dirty="0">
                <a:solidFill>
                  <a:schemeClr val="tx1"/>
                </a:solidFill>
                <a:effectLst/>
                <a:latin typeface="+mn-lt"/>
                <a:ea typeface="+mn-ea"/>
                <a:cs typeface="+mn-cs"/>
              </a:rPr>
              <a:t>.</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2) Then we extracted alpha-band signal</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3) and via Short-Time Fourier Transform with 1.5 sec window and 90% overlap we could get 51 frames for 9-s EEG from each trial.</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In short, 9-s signal transformed to 51 frames. Let see what it means in next page. (click link)</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a:t>
            </a:r>
            <a:r>
              <a:rPr lang="ko-KR" altLang="ko-KR" sz="1200" kern="1200" dirty="0">
                <a:solidFill>
                  <a:schemeClr val="tx1"/>
                </a:solidFill>
                <a:effectLst/>
                <a:latin typeface="+mn-lt"/>
                <a:ea typeface="+mn-ea"/>
                <a:cs typeface="+mn-cs"/>
              </a:rPr>
              <a:t>필요시</a:t>
            </a:r>
            <a:r>
              <a:rPr lang="en-US" altLang="ko-KR" sz="1200" kern="1200" dirty="0">
                <a:solidFill>
                  <a:schemeClr val="tx1"/>
                </a:solidFill>
                <a:effectLst/>
                <a:latin typeface="+mn-lt"/>
                <a:ea typeface="+mn-ea"/>
                <a:cs typeface="+mn-cs"/>
              </a:rPr>
              <a:t>)</a:t>
            </a:r>
            <a:endParaRPr lang="ko-KR" altLang="ko-KR" sz="1200" kern="1200" dirty="0">
              <a:solidFill>
                <a:schemeClr val="tx1"/>
              </a:solidFill>
              <a:effectLst/>
              <a:latin typeface="+mn-lt"/>
              <a:ea typeface="+mn-ea"/>
              <a:cs typeface="+mn-cs"/>
            </a:endParaRPr>
          </a:p>
          <a:p>
            <a:pPr lvl="0" latinLnBrk="1"/>
            <a:r>
              <a:rPr lang="en-US" altLang="ko-KR" sz="1200" kern="1200" dirty="0">
                <a:solidFill>
                  <a:schemeClr val="tx1"/>
                </a:solidFill>
                <a:effectLst/>
                <a:latin typeface="+mn-lt"/>
                <a:ea typeface="+mn-ea"/>
                <a:cs typeface="+mn-cs"/>
              </a:rPr>
              <a:t>We used a 1.5-second STFT window because it includes about ten cycles of the lowest alpha frequency, 8 Hz. You need multiple cycles to measure a frequency accurately, so 1.5 seconds gives a stable estimate of alpha-band power. 8 Hz means that 1/8 seconds(0.125 s) for one cycle of signal, so almost 10 times (1.25 sec) is enough to contain lowest frequency.</a:t>
            </a:r>
            <a:endParaRPr lang="ko-KR" altLang="ko-KR" sz="1200" kern="1200" dirty="0">
              <a:solidFill>
                <a:schemeClr val="tx1"/>
              </a:solidFill>
              <a:effectLst/>
              <a:latin typeface="+mn-lt"/>
              <a:ea typeface="+mn-ea"/>
              <a:cs typeface="+mn-cs"/>
            </a:endParaRPr>
          </a:p>
          <a:p>
            <a:endParaRPr lang="en-US" altLang="ko-KR" dirty="0"/>
          </a:p>
        </p:txBody>
      </p:sp>
      <p:sp>
        <p:nvSpPr>
          <p:cNvPr id="4" name="Slide Number Placeholder 3">
            <a:extLst>
              <a:ext uri="{FF2B5EF4-FFF2-40B4-BE49-F238E27FC236}">
                <a16:creationId xmlns:a16="http://schemas.microsoft.com/office/drawing/2014/main" id="{6A359678-201D-9A9E-6020-0EBF93861561}"/>
              </a:ext>
            </a:extLst>
          </p:cNvPr>
          <p:cNvSpPr>
            <a:spLocks noGrp="1"/>
          </p:cNvSpPr>
          <p:nvPr>
            <p:ph type="sldNum" sz="quarter" idx="5"/>
          </p:nvPr>
        </p:nvSpPr>
        <p:spPr/>
        <p:txBody>
          <a:bodyPr/>
          <a:lstStyle/>
          <a:p>
            <a:fld id="{E71BE262-5D72-4C91-82D3-CB73E3A35E2E}" type="slidenum">
              <a:rPr lang="en-US" smtClean="0"/>
              <a:t>8</a:t>
            </a:fld>
            <a:endParaRPr lang="en-US"/>
          </a:p>
        </p:txBody>
      </p:sp>
    </p:spTree>
    <p:extLst>
      <p:ext uri="{BB962C8B-B14F-4D97-AF65-F5344CB8AC3E}">
        <p14:creationId xmlns:p14="http://schemas.microsoft.com/office/powerpoint/2010/main" val="2606972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31252-8A42-2EA1-1F31-7E509F030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D8A007-5D6A-209E-0D87-1DAC6F46B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2B92A-CC49-BD87-DE6E-4E794DD43DD2}"/>
              </a:ext>
            </a:extLst>
          </p:cNvPr>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As you saw before, the input data was two channels with 51 blocks passing through single layer </a:t>
            </a:r>
            <a:r>
              <a:rPr lang="en-US" altLang="ko-KR" sz="1200" kern="1200" dirty="0" err="1">
                <a:solidFill>
                  <a:schemeClr val="tx1"/>
                </a:solidFill>
                <a:effectLst/>
                <a:latin typeface="+mn-lt"/>
                <a:ea typeface="+mn-ea"/>
                <a:cs typeface="+mn-cs"/>
              </a:rPr>
              <a:t>BiLSTM</a:t>
            </a:r>
            <a:r>
              <a:rPr lang="en-US" altLang="ko-KR" sz="1200" kern="1200" dirty="0">
                <a:solidFill>
                  <a:schemeClr val="tx1"/>
                </a:solidFill>
                <a:effectLst/>
                <a:latin typeface="+mn-lt"/>
                <a:ea typeface="+mn-ea"/>
                <a:cs typeface="+mn-cs"/>
              </a:rPr>
              <a:t> with 100 hidden Units.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You might think that 100 hidden units might make overfitting. We partially agree with your opinion.</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Because our dataset was extremely small, we applied data augmentation to help the model generalize better.</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During training, each EEG sequence had a 70% chance of being augmented. When augmentation was triggered, the model randomly applied one of several transformations - or a combination of them.</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These included adding Gaussian noise, scaling the amplitude of the signal, shifting the sequence slightly in time, or mixing these effects together.</a:t>
            </a:r>
            <a:br>
              <a:rPr lang="en-US" altLang="ko-KR" sz="1200" kern="1200" dirty="0">
                <a:solidFill>
                  <a:schemeClr val="tx1"/>
                </a:solidFill>
                <a:effectLst/>
                <a:latin typeface="+mn-lt"/>
                <a:ea typeface="+mn-ea"/>
                <a:cs typeface="+mn-cs"/>
              </a:rPr>
            </a:br>
            <a:r>
              <a:rPr lang="en-US" altLang="ko-KR" sz="1200" kern="1200" dirty="0">
                <a:solidFill>
                  <a:schemeClr val="tx1"/>
                </a:solidFill>
                <a:effectLst/>
                <a:latin typeface="+mn-lt"/>
                <a:ea typeface="+mn-ea"/>
                <a:cs typeface="+mn-cs"/>
              </a:rPr>
              <a:t>This process artificially increases the variability of the data, allowing the </a:t>
            </a:r>
            <a:r>
              <a:rPr lang="en-US" altLang="ko-KR" sz="1200" kern="1200" dirty="0" err="1">
                <a:solidFill>
                  <a:schemeClr val="tx1"/>
                </a:solidFill>
                <a:effectLst/>
                <a:latin typeface="+mn-lt"/>
                <a:ea typeface="+mn-ea"/>
                <a:cs typeface="+mn-cs"/>
              </a:rPr>
              <a:t>BiLSTM</a:t>
            </a:r>
            <a:r>
              <a:rPr lang="en-US" altLang="ko-KR" sz="1200" kern="1200" dirty="0">
                <a:solidFill>
                  <a:schemeClr val="tx1"/>
                </a:solidFill>
                <a:effectLst/>
                <a:latin typeface="+mn-lt"/>
                <a:ea typeface="+mn-ea"/>
                <a:cs typeface="+mn-cs"/>
              </a:rPr>
              <a:t> to learn more robust temporal patterns instead of memorizing the limited original trials.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Importantly, augmentation was applied only during training, never during validation or testing. This ensures the model is evaluated strictly on the real, unmodified EEG signals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Also we used 3-fold cross-validation to get a more reliable result with our small dataset. The data was split into three parts, and each part took turns serving as the validation set while the others were used for training.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We then averaged the performance across all three folds, giving us a more stable and trustworthy accuracy.</a:t>
            </a:r>
            <a:endParaRPr lang="ko-KR" altLang="ko-K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dirty="0"/>
          </a:p>
        </p:txBody>
      </p:sp>
      <p:sp>
        <p:nvSpPr>
          <p:cNvPr id="4" name="Slide Number Placeholder 3">
            <a:extLst>
              <a:ext uri="{FF2B5EF4-FFF2-40B4-BE49-F238E27FC236}">
                <a16:creationId xmlns:a16="http://schemas.microsoft.com/office/drawing/2014/main" id="{258418F0-ECE3-3B37-252A-6451FCE24CBD}"/>
              </a:ext>
            </a:extLst>
          </p:cNvPr>
          <p:cNvSpPr>
            <a:spLocks noGrp="1"/>
          </p:cNvSpPr>
          <p:nvPr>
            <p:ph type="sldNum" sz="quarter" idx="5"/>
          </p:nvPr>
        </p:nvSpPr>
        <p:spPr/>
        <p:txBody>
          <a:bodyPr/>
          <a:lstStyle/>
          <a:p>
            <a:fld id="{E71BE262-5D72-4C91-82D3-CB73E3A35E2E}" type="slidenum">
              <a:rPr lang="en-US" smtClean="0"/>
              <a:t>9</a:t>
            </a:fld>
            <a:endParaRPr lang="en-US"/>
          </a:p>
        </p:txBody>
      </p:sp>
    </p:spTree>
    <p:extLst>
      <p:ext uri="{BB962C8B-B14F-4D97-AF65-F5344CB8AC3E}">
        <p14:creationId xmlns:p14="http://schemas.microsoft.com/office/powerpoint/2010/main" val="1169262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AE627-29A5-01A5-E5C2-B27FBE5F2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89D40-2C35-883E-F151-8BBF56102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D381B-DB73-B25E-2489-10A676E3BB3A}"/>
              </a:ext>
            </a:extLst>
          </p:cNvPr>
          <p:cNvSpPr>
            <a:spLocks noGrp="1"/>
          </p:cNvSpPr>
          <p:nvPr>
            <p:ph type="body" idx="1"/>
          </p:nvPr>
        </p:nvSpPr>
        <p:spPr/>
        <p:txBody>
          <a:bodyPr/>
          <a:lstStyle/>
          <a:p>
            <a:pPr latinLnBrk="1"/>
            <a:r>
              <a:rPr lang="en-US" altLang="ko-KR" sz="1200" kern="1200" dirty="0">
                <a:solidFill>
                  <a:schemeClr val="tx1"/>
                </a:solidFill>
                <a:effectLst/>
                <a:latin typeface="+mn-lt"/>
                <a:ea typeface="+mn-ea"/>
                <a:cs typeface="+mn-cs"/>
              </a:rPr>
              <a:t>The average accuracy is 70.63%, and the standard deviation of ±10.71% indicates moderate variability.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Despite the limited number of samples, the model demonstrates stable and meaningful classification performance.</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However, our study has several important limitations.</a:t>
            </a:r>
            <a:br>
              <a:rPr lang="en-US" altLang="ko-KR" sz="1200" kern="1200" dirty="0">
                <a:solidFill>
                  <a:schemeClr val="tx1"/>
                </a:solidFill>
                <a:effectLst/>
                <a:latin typeface="+mn-lt"/>
                <a:ea typeface="+mn-ea"/>
                <a:cs typeface="+mn-cs"/>
              </a:rPr>
            </a:br>
            <a:r>
              <a:rPr lang="en-US" altLang="ko-KR" sz="1200" b="1" kern="1200" dirty="0">
                <a:solidFill>
                  <a:schemeClr val="tx1"/>
                </a:solidFill>
                <a:effectLst/>
                <a:latin typeface="+mn-lt"/>
                <a:ea typeface="+mn-ea"/>
                <a:cs typeface="+mn-cs"/>
              </a:rPr>
              <a:t>First</a:t>
            </a:r>
            <a:r>
              <a:rPr lang="en-US" altLang="ko-KR" sz="1200" kern="1200" dirty="0">
                <a:solidFill>
                  <a:schemeClr val="tx1"/>
                </a:solidFill>
                <a:effectLst/>
                <a:latin typeface="+mn-lt"/>
                <a:ea typeface="+mn-ea"/>
                <a:cs typeface="+mn-cs"/>
              </a:rPr>
              <a:t>, the dataset was extremely small due to noise and contamination in many of the recordings. This small sample size increases variability and makes it difficult for the model to fully generalize.</a:t>
            </a:r>
            <a:endParaRPr lang="ko-KR" altLang="ko-KR" sz="1200" kern="1200" dirty="0">
              <a:solidFill>
                <a:schemeClr val="tx1"/>
              </a:solidFill>
              <a:effectLst/>
              <a:latin typeface="+mn-lt"/>
              <a:ea typeface="+mn-ea"/>
              <a:cs typeface="+mn-cs"/>
            </a:endParaRPr>
          </a:p>
          <a:p>
            <a:pPr latinLnBrk="1"/>
            <a:r>
              <a:rPr lang="en-US" altLang="ko-KR" sz="1200" b="1" kern="1200" dirty="0">
                <a:solidFill>
                  <a:schemeClr val="tx1"/>
                </a:solidFill>
                <a:effectLst/>
                <a:latin typeface="+mn-lt"/>
                <a:ea typeface="+mn-ea"/>
                <a:cs typeface="+mn-cs"/>
              </a:rPr>
              <a:t>Second</a:t>
            </a:r>
            <a:r>
              <a:rPr lang="en-US" altLang="ko-KR" sz="1200" kern="1200" dirty="0">
                <a:solidFill>
                  <a:schemeClr val="tx1"/>
                </a:solidFill>
                <a:effectLst/>
                <a:latin typeface="+mn-lt"/>
                <a:ea typeface="+mn-ea"/>
                <a:cs typeface="+mn-cs"/>
              </a:rPr>
              <a:t>, the experiment involved a few participants, meaning the model learned person-specific patterns rather than universal features.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For real-world applications, a larger and more diverse participant pool is required.</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For future work,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Most important thing is getting large dataset.</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And seek better location for measure EEG.</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we used two frontal electrodes, </a:t>
            </a:r>
            <a:r>
              <a:rPr lang="en-US" altLang="ko-KR" sz="1200" kern="1200" dirty="0" err="1">
                <a:solidFill>
                  <a:schemeClr val="tx1"/>
                </a:solidFill>
                <a:effectLst/>
                <a:latin typeface="+mn-lt"/>
                <a:ea typeface="+mn-ea"/>
                <a:cs typeface="+mn-cs"/>
              </a:rPr>
              <a:t>Fpz</a:t>
            </a:r>
            <a:r>
              <a:rPr lang="en-US" altLang="ko-KR" sz="1200" kern="1200" dirty="0">
                <a:solidFill>
                  <a:schemeClr val="tx1"/>
                </a:solidFill>
                <a:effectLst/>
                <a:latin typeface="+mn-lt"/>
                <a:ea typeface="+mn-ea"/>
                <a:cs typeface="+mn-cs"/>
              </a:rPr>
              <a:t> and F8, based on previous findings.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However, these positions may also be influenced by neighboring brain activity and other sources of noise, so they are not guaranteed to be the optimal locations for measuring emotional responses.</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 </a:t>
            </a:r>
            <a:endParaRPr lang="ko-KR" altLang="ko-KR" sz="1200" kern="1200" dirty="0">
              <a:solidFill>
                <a:schemeClr val="tx1"/>
              </a:solidFill>
              <a:effectLst/>
              <a:latin typeface="+mn-lt"/>
              <a:ea typeface="+mn-ea"/>
              <a:cs typeface="+mn-cs"/>
            </a:endParaRPr>
          </a:p>
          <a:p>
            <a:pPr latinLnBrk="1"/>
            <a:r>
              <a:rPr lang="en-US" altLang="ko-KR" sz="1200" kern="1200" dirty="0">
                <a:solidFill>
                  <a:schemeClr val="tx1"/>
                </a:solidFill>
                <a:effectLst/>
                <a:latin typeface="+mn-lt"/>
                <a:ea typeface="+mn-ea"/>
                <a:cs typeface="+mn-cs"/>
              </a:rPr>
              <a:t>As future work, we need to record from a broader set of electrodes in a pilot experiment, broader channel selection will allow us to identify the most informative electrode positions for emotion recognition. Ultimately, this approach will help us move from “theoretically reasonable” electrode choices to empirically optimized sensor locations for future experiments and real-world applications.</a:t>
            </a:r>
            <a:endParaRPr lang="ko-KR" altLang="ko-K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dirty="0"/>
          </a:p>
        </p:txBody>
      </p:sp>
      <p:sp>
        <p:nvSpPr>
          <p:cNvPr id="4" name="Slide Number Placeholder 3">
            <a:extLst>
              <a:ext uri="{FF2B5EF4-FFF2-40B4-BE49-F238E27FC236}">
                <a16:creationId xmlns:a16="http://schemas.microsoft.com/office/drawing/2014/main" id="{185B0FD6-0E5A-83A5-8418-0A3D2CE1A5C1}"/>
              </a:ext>
            </a:extLst>
          </p:cNvPr>
          <p:cNvSpPr>
            <a:spLocks noGrp="1"/>
          </p:cNvSpPr>
          <p:nvPr>
            <p:ph type="sldNum" sz="quarter" idx="5"/>
          </p:nvPr>
        </p:nvSpPr>
        <p:spPr/>
        <p:txBody>
          <a:bodyPr/>
          <a:lstStyle/>
          <a:p>
            <a:fld id="{E71BE262-5D72-4C91-82D3-CB73E3A35E2E}" type="slidenum">
              <a:rPr lang="en-US" smtClean="0"/>
              <a:t>10</a:t>
            </a:fld>
            <a:endParaRPr lang="en-US"/>
          </a:p>
        </p:txBody>
      </p:sp>
    </p:spTree>
    <p:extLst>
      <p:ext uri="{BB962C8B-B14F-4D97-AF65-F5344CB8AC3E}">
        <p14:creationId xmlns:p14="http://schemas.microsoft.com/office/powerpoint/2010/main" val="1616518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0CF5E-6DE2-69FF-1C76-7B535E044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343BD-0FD7-5850-46BD-D04F99414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392994-C3F5-9977-CF09-80862D6AEE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dirty="0"/>
          </a:p>
        </p:txBody>
      </p:sp>
      <p:sp>
        <p:nvSpPr>
          <p:cNvPr id="4" name="Slide Number Placeholder 3">
            <a:extLst>
              <a:ext uri="{FF2B5EF4-FFF2-40B4-BE49-F238E27FC236}">
                <a16:creationId xmlns:a16="http://schemas.microsoft.com/office/drawing/2014/main" id="{819A95C3-AA56-81BE-7D47-F54B07074620}"/>
              </a:ext>
            </a:extLst>
          </p:cNvPr>
          <p:cNvSpPr>
            <a:spLocks noGrp="1"/>
          </p:cNvSpPr>
          <p:nvPr>
            <p:ph type="sldNum" sz="quarter" idx="5"/>
          </p:nvPr>
        </p:nvSpPr>
        <p:spPr/>
        <p:txBody>
          <a:bodyPr/>
          <a:lstStyle/>
          <a:p>
            <a:fld id="{E71BE262-5D72-4C91-82D3-CB73E3A35E2E}" type="slidenum">
              <a:rPr lang="en-US" smtClean="0"/>
              <a:t>11</a:t>
            </a:fld>
            <a:endParaRPr lang="en-US"/>
          </a:p>
        </p:txBody>
      </p:sp>
    </p:spTree>
    <p:extLst>
      <p:ext uri="{BB962C8B-B14F-4D97-AF65-F5344CB8AC3E}">
        <p14:creationId xmlns:p14="http://schemas.microsoft.com/office/powerpoint/2010/main" val="478348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D003E-EC93-8A2F-B410-5E7D9722D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76079-6DA6-6739-FBD0-A247502FAE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FF30E7-E11C-E55D-2BD4-CAFA3FD1AC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dirty="0"/>
          </a:p>
        </p:txBody>
      </p:sp>
      <p:sp>
        <p:nvSpPr>
          <p:cNvPr id="4" name="Slide Number Placeholder 3">
            <a:extLst>
              <a:ext uri="{FF2B5EF4-FFF2-40B4-BE49-F238E27FC236}">
                <a16:creationId xmlns:a16="http://schemas.microsoft.com/office/drawing/2014/main" id="{4E2A2E69-F2B5-899D-D5E5-01785A9A8AD2}"/>
              </a:ext>
            </a:extLst>
          </p:cNvPr>
          <p:cNvSpPr>
            <a:spLocks noGrp="1"/>
          </p:cNvSpPr>
          <p:nvPr>
            <p:ph type="sldNum" sz="quarter" idx="5"/>
          </p:nvPr>
        </p:nvSpPr>
        <p:spPr/>
        <p:txBody>
          <a:bodyPr/>
          <a:lstStyle/>
          <a:p>
            <a:fld id="{E71BE262-5D72-4C91-82D3-CB73E3A35E2E}" type="slidenum">
              <a:rPr lang="en-US" smtClean="0"/>
              <a:t>17</a:t>
            </a:fld>
            <a:endParaRPr lang="en-US"/>
          </a:p>
        </p:txBody>
      </p:sp>
    </p:spTree>
    <p:extLst>
      <p:ext uri="{BB962C8B-B14F-4D97-AF65-F5344CB8AC3E}">
        <p14:creationId xmlns:p14="http://schemas.microsoft.com/office/powerpoint/2010/main" val="624980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35A91-5CFB-AD6D-6412-F24B0E6DA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3BFCC-A23B-D677-D8C9-A3C8907B5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87481-4441-E675-6C8C-A18C1A3C9A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dirty="0"/>
          </a:p>
        </p:txBody>
      </p:sp>
      <p:sp>
        <p:nvSpPr>
          <p:cNvPr id="4" name="Slide Number Placeholder 3">
            <a:extLst>
              <a:ext uri="{FF2B5EF4-FFF2-40B4-BE49-F238E27FC236}">
                <a16:creationId xmlns:a16="http://schemas.microsoft.com/office/drawing/2014/main" id="{6ADFD56C-CF46-5B35-5CAD-AEE8C942E1F4}"/>
              </a:ext>
            </a:extLst>
          </p:cNvPr>
          <p:cNvSpPr>
            <a:spLocks noGrp="1"/>
          </p:cNvSpPr>
          <p:nvPr>
            <p:ph type="sldNum" sz="quarter" idx="5"/>
          </p:nvPr>
        </p:nvSpPr>
        <p:spPr/>
        <p:txBody>
          <a:bodyPr/>
          <a:lstStyle/>
          <a:p>
            <a:fld id="{E71BE262-5D72-4C91-82D3-CB73E3A35E2E}" type="slidenum">
              <a:rPr lang="en-US" smtClean="0"/>
              <a:t>18</a:t>
            </a:fld>
            <a:endParaRPr lang="en-US"/>
          </a:p>
        </p:txBody>
      </p:sp>
    </p:spTree>
    <p:extLst>
      <p:ext uri="{BB962C8B-B14F-4D97-AF65-F5344CB8AC3E}">
        <p14:creationId xmlns:p14="http://schemas.microsoft.com/office/powerpoint/2010/main" val="13660449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D9E90-30DF-555D-2CA5-D3FF8E621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9D3AB-2166-EB95-4653-2441209B6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C8D4B-CE6F-DE84-7A9D-D4B9B5523D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dirty="0"/>
          </a:p>
        </p:txBody>
      </p:sp>
      <p:sp>
        <p:nvSpPr>
          <p:cNvPr id="4" name="Slide Number Placeholder 3">
            <a:extLst>
              <a:ext uri="{FF2B5EF4-FFF2-40B4-BE49-F238E27FC236}">
                <a16:creationId xmlns:a16="http://schemas.microsoft.com/office/drawing/2014/main" id="{FEA5EAE5-DF34-5450-1A6C-7060BA53E72E}"/>
              </a:ext>
            </a:extLst>
          </p:cNvPr>
          <p:cNvSpPr>
            <a:spLocks noGrp="1"/>
          </p:cNvSpPr>
          <p:nvPr>
            <p:ph type="sldNum" sz="quarter" idx="5"/>
          </p:nvPr>
        </p:nvSpPr>
        <p:spPr/>
        <p:txBody>
          <a:bodyPr/>
          <a:lstStyle/>
          <a:p>
            <a:fld id="{E71BE262-5D72-4C91-82D3-CB73E3A35E2E}" type="slidenum">
              <a:rPr lang="en-US" smtClean="0"/>
              <a:t>20</a:t>
            </a:fld>
            <a:endParaRPr lang="en-US"/>
          </a:p>
        </p:txBody>
      </p:sp>
    </p:spTree>
    <p:extLst>
      <p:ext uri="{BB962C8B-B14F-4D97-AF65-F5344CB8AC3E}">
        <p14:creationId xmlns:p14="http://schemas.microsoft.com/office/powerpoint/2010/main" val="1888062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313AD5-8E1A-4909-9C0D-E0170180306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1546341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313AD5-8E1A-4909-9C0D-E0170180306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1342891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313AD5-8E1A-4909-9C0D-E0170180306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3860679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313AD5-8E1A-4909-9C0D-E0170180306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332221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313AD5-8E1A-4909-9C0D-E0170180306B}"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3644801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313AD5-8E1A-4909-9C0D-E0170180306B}"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2273989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313AD5-8E1A-4909-9C0D-E0170180306B}"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2581741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313AD5-8E1A-4909-9C0D-E0170180306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504851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313AD5-8E1A-4909-9C0D-E0170180306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155761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313AD5-8E1A-4909-9C0D-E0170180306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2668162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313AD5-8E1A-4909-9C0D-E0170180306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88076C-27C9-48E9-9DC5-13E1FE2F08D9}" type="slidenum">
              <a:rPr lang="en-US" smtClean="0"/>
              <a:t>‹#›</a:t>
            </a:fld>
            <a:endParaRPr lang="en-US"/>
          </a:p>
        </p:txBody>
      </p:sp>
    </p:spTree>
    <p:extLst>
      <p:ext uri="{BB962C8B-B14F-4D97-AF65-F5344CB8AC3E}">
        <p14:creationId xmlns:p14="http://schemas.microsoft.com/office/powerpoint/2010/main" val="2281059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313AD5-8E1A-4909-9C0D-E0170180306B}" type="datetimeFigureOut">
              <a:rPr lang="en-US" smtClean="0"/>
              <a:t>11/30/2025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88076C-27C9-48E9-9DC5-13E1FE2F08D9}" type="slidenum">
              <a:rPr lang="en-US" smtClean="0"/>
              <a:t>‹#›</a:t>
            </a:fld>
            <a:endParaRPr lang="en-US"/>
          </a:p>
        </p:txBody>
      </p:sp>
    </p:spTree>
    <p:extLst>
      <p:ext uri="{BB962C8B-B14F-4D97-AF65-F5344CB8AC3E}">
        <p14:creationId xmlns:p14="http://schemas.microsoft.com/office/powerpoint/2010/main" val="40587317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slide" Target="slide15.xml"/><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7.xml"/><Relationship Id="rId7" Type="http://schemas.openxmlformats.org/officeDocument/2006/relationships/slide" Target="slide20.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slide" Target="slide19.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slide" Target="slide8.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jpeg"/></Relationships>
</file>

<file path=ppt/slides/_rels/slide19.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9D7287-FC05-9A6F-4049-DF097FF434D9}"/>
              </a:ext>
            </a:extLst>
          </p:cNvPr>
          <p:cNvSpPr txBox="1"/>
          <p:nvPr/>
        </p:nvSpPr>
        <p:spPr>
          <a:xfrm>
            <a:off x="937053" y="1700981"/>
            <a:ext cx="10317892" cy="1569660"/>
          </a:xfrm>
          <a:prstGeom prst="rect">
            <a:avLst/>
          </a:prstGeom>
          <a:noFill/>
        </p:spPr>
        <p:txBody>
          <a:bodyPr wrap="square" rtlCol="0">
            <a:spAutoFit/>
          </a:bodyPr>
          <a:lstStyle/>
          <a:p>
            <a:pPr algn="ctr"/>
            <a:r>
              <a:rPr lang="en-US" sz="3200" b="1" dirty="0">
                <a:latin typeface="Arial Black" panose="020B0A04020102020204" pitchFamily="34" charset="0"/>
              </a:rPr>
              <a:t>Classifying EEG signals of affect while mimicking smile vs angry face </a:t>
            </a:r>
            <a:endParaRPr lang="en-US" sz="3200" dirty="0">
              <a:latin typeface="Arial Black" panose="020B0A04020102020204" pitchFamily="34" charset="0"/>
            </a:endParaRPr>
          </a:p>
          <a:p>
            <a:pPr algn="ctr"/>
            <a:r>
              <a:rPr lang="en-US" sz="3200" b="1" dirty="0">
                <a:latin typeface="Arial Black" panose="020B0A04020102020204" pitchFamily="34" charset="0"/>
              </a:rPr>
              <a:t>by using AI with LSTM networks</a:t>
            </a:r>
            <a:endParaRPr lang="en-US" sz="3200" dirty="0">
              <a:latin typeface="Arial Black" panose="020B0A04020102020204" pitchFamily="34" charset="0"/>
            </a:endParaRPr>
          </a:p>
        </p:txBody>
      </p:sp>
      <p:sp>
        <p:nvSpPr>
          <p:cNvPr id="6" name="TextBox 5">
            <a:extLst>
              <a:ext uri="{FF2B5EF4-FFF2-40B4-BE49-F238E27FC236}">
                <a16:creationId xmlns:a16="http://schemas.microsoft.com/office/drawing/2014/main" id="{AAABFC54-2EC4-01AD-BC51-5A73615D74A5}"/>
              </a:ext>
            </a:extLst>
          </p:cNvPr>
          <p:cNvSpPr txBox="1"/>
          <p:nvPr/>
        </p:nvSpPr>
        <p:spPr>
          <a:xfrm>
            <a:off x="0" y="4478470"/>
            <a:ext cx="12192000" cy="787395"/>
          </a:xfrm>
          <a:prstGeom prst="rect">
            <a:avLst/>
          </a:prstGeom>
          <a:noFill/>
        </p:spPr>
        <p:txBody>
          <a:bodyPr wrap="square">
            <a:spAutoFit/>
          </a:bodyPr>
          <a:lstStyle/>
          <a:p>
            <a:pPr algn="ctr">
              <a:spcAft>
                <a:spcPts val="1125"/>
              </a:spcAft>
            </a:pPr>
            <a:r>
              <a:rPr lang="en-US" b="1" dirty="0">
                <a:solidFill>
                  <a:srgbClr val="334155"/>
                </a:solidFill>
                <a:latin typeface="Arial" panose="020B0604020202020204" pitchFamily="34" charset="0"/>
                <a:cs typeface="Arial" panose="020B0604020202020204" pitchFamily="34" charset="0"/>
              </a:rPr>
              <a:t>Hyokwon Jung, </a:t>
            </a:r>
            <a:r>
              <a:rPr lang="en-US" b="1" dirty="0" err="1">
                <a:solidFill>
                  <a:srgbClr val="334155"/>
                </a:solidFill>
                <a:latin typeface="Arial" panose="020B0604020202020204" pitchFamily="34" charset="0"/>
                <a:cs typeface="Arial" panose="020B0604020202020204" pitchFamily="34" charset="0"/>
              </a:rPr>
              <a:t>Yaeeun</a:t>
            </a:r>
            <a:r>
              <a:rPr lang="en-US" b="1" dirty="0">
                <a:solidFill>
                  <a:srgbClr val="334155"/>
                </a:solidFill>
                <a:latin typeface="Arial" panose="020B0604020202020204" pitchFamily="34" charset="0"/>
                <a:cs typeface="Arial" panose="020B0604020202020204" pitchFamily="34" charset="0"/>
              </a:rPr>
              <a:t> Kim, </a:t>
            </a:r>
            <a:r>
              <a:rPr lang="en-US" b="1" dirty="0" err="1">
                <a:solidFill>
                  <a:srgbClr val="334155"/>
                </a:solidFill>
                <a:latin typeface="Arial" panose="020B0604020202020204" pitchFamily="34" charset="0"/>
                <a:cs typeface="Arial" panose="020B0604020202020204" pitchFamily="34" charset="0"/>
              </a:rPr>
              <a:t>Youngjun</a:t>
            </a:r>
            <a:r>
              <a:rPr lang="en-US" b="1" dirty="0">
                <a:solidFill>
                  <a:srgbClr val="334155"/>
                </a:solidFill>
                <a:latin typeface="Arial" panose="020B0604020202020204" pitchFamily="34" charset="0"/>
                <a:cs typeface="Arial" panose="020B0604020202020204" pitchFamily="34" charset="0"/>
              </a:rPr>
              <a:t> Yoon, </a:t>
            </a:r>
            <a:r>
              <a:rPr lang="en-US" b="1" dirty="0" err="1">
                <a:solidFill>
                  <a:srgbClr val="334155"/>
                </a:solidFill>
                <a:latin typeface="Arial" panose="020B0604020202020204" pitchFamily="34" charset="0"/>
                <a:cs typeface="Arial" panose="020B0604020202020204" pitchFamily="34" charset="0"/>
              </a:rPr>
              <a:t>Wuon</a:t>
            </a:r>
            <a:r>
              <a:rPr lang="en-US" b="1" dirty="0">
                <a:solidFill>
                  <a:srgbClr val="334155"/>
                </a:solidFill>
                <a:latin typeface="Arial" panose="020B0604020202020204" pitchFamily="34" charset="0"/>
                <a:cs typeface="Arial" panose="020B0604020202020204" pitchFamily="34" charset="0"/>
              </a:rPr>
              <a:t>-Shik Kim</a:t>
            </a:r>
            <a:endParaRPr lang="en-US" dirty="0">
              <a:solidFill>
                <a:srgbClr val="334155"/>
              </a:solidFill>
              <a:latin typeface="Arial" panose="020B0604020202020204" pitchFamily="34" charset="0"/>
              <a:cs typeface="Arial" panose="020B0604020202020204" pitchFamily="34" charset="0"/>
            </a:endParaRPr>
          </a:p>
          <a:p>
            <a:pPr algn="ctr">
              <a:spcAft>
                <a:spcPts val="1125"/>
              </a:spcAft>
            </a:pPr>
            <a:r>
              <a:rPr lang="en-US" dirty="0">
                <a:solidFill>
                  <a:srgbClr val="334155"/>
                </a:solidFill>
                <a:latin typeface="Arial" panose="020B0604020202020204" pitchFamily="34" charset="0"/>
                <a:cs typeface="Arial" panose="020B0604020202020204" pitchFamily="34" charset="0"/>
              </a:rPr>
              <a:t>Republic of Korea Navy | CSU Sacramento | </a:t>
            </a:r>
            <a:r>
              <a:rPr lang="en-US" dirty="0" err="1">
                <a:solidFill>
                  <a:srgbClr val="334155"/>
                </a:solidFill>
                <a:latin typeface="Arial" panose="020B0604020202020204" pitchFamily="34" charset="0"/>
                <a:cs typeface="Arial" panose="020B0604020202020204" pitchFamily="34" charset="0"/>
              </a:rPr>
              <a:t>Junmeditech</a:t>
            </a:r>
            <a:r>
              <a:rPr lang="en-US" dirty="0">
                <a:solidFill>
                  <a:srgbClr val="334155"/>
                </a:solidFill>
                <a:latin typeface="Arial" panose="020B0604020202020204" pitchFamily="34" charset="0"/>
                <a:cs typeface="Arial" panose="020B0604020202020204" pitchFamily="34" charset="0"/>
              </a:rPr>
              <a:t> | K</a:t>
            </a:r>
            <a:r>
              <a:rPr lang="en-US" dirty="0">
                <a:latin typeface="Arial" panose="020B0604020202020204" pitchFamily="34" charset="0"/>
                <a:cs typeface="Arial" panose="020B0604020202020204" pitchFamily="34" charset="0"/>
              </a:rPr>
              <a:t>OSE</a:t>
            </a:r>
            <a:r>
              <a:rPr lang="en-US" dirty="0">
                <a:solidFill>
                  <a:srgbClr val="334155"/>
                </a:solidFill>
                <a:latin typeface="Arial" panose="020B0604020202020204" pitchFamily="34" charset="0"/>
                <a:cs typeface="Arial" panose="020B0604020202020204" pitchFamily="34" charset="0"/>
              </a:rPr>
              <a:t>S</a:t>
            </a:r>
          </a:p>
        </p:txBody>
      </p:sp>
    </p:spTree>
    <p:extLst>
      <p:ext uri="{BB962C8B-B14F-4D97-AF65-F5344CB8AC3E}">
        <p14:creationId xmlns:p14="http://schemas.microsoft.com/office/powerpoint/2010/main" val="1314869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FD33B6-4F76-33DC-FD11-DE3EAAB54FF2}"/>
              </a:ext>
            </a:extLst>
          </p:cNvPr>
          <p:cNvSpPr txBox="1"/>
          <p:nvPr/>
        </p:nvSpPr>
        <p:spPr>
          <a:xfrm>
            <a:off x="1" y="282169"/>
            <a:ext cx="5884268" cy="707886"/>
          </a:xfrm>
          <a:prstGeom prst="rect">
            <a:avLst/>
          </a:prstGeom>
          <a:noFill/>
        </p:spPr>
        <p:txBody>
          <a:bodyPr wrap="square" rtlCol="0">
            <a:spAutoFit/>
          </a:bodyPr>
          <a:lstStyle/>
          <a:p>
            <a:pPr algn="ctr"/>
            <a:r>
              <a:rPr lang="en-US" sz="4000" b="1" dirty="0">
                <a:latin typeface="Arial Black" panose="020B0A04020102020204" pitchFamily="34" charset="0"/>
              </a:rPr>
              <a:t>Research Summary</a:t>
            </a:r>
            <a:endParaRPr lang="en-US" sz="4000" dirty="0">
              <a:latin typeface="Arial Black" panose="020B0A04020102020204" pitchFamily="34" charset="0"/>
            </a:endParaRPr>
          </a:p>
        </p:txBody>
      </p:sp>
      <p:sp>
        <p:nvSpPr>
          <p:cNvPr id="6" name="Rectangle 5">
            <a:extLst>
              <a:ext uri="{FF2B5EF4-FFF2-40B4-BE49-F238E27FC236}">
                <a16:creationId xmlns:a16="http://schemas.microsoft.com/office/drawing/2014/main" id="{D0FC1E2E-E3BA-3D75-98B5-5FBBBF0D7375}"/>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F406272-EA5F-8A68-8004-4E7FA74D421F}"/>
              </a:ext>
            </a:extLst>
          </p:cNvPr>
          <p:cNvSpPr txBox="1"/>
          <p:nvPr/>
        </p:nvSpPr>
        <p:spPr>
          <a:xfrm>
            <a:off x="381665" y="1250268"/>
            <a:ext cx="8301416" cy="523220"/>
          </a:xfrm>
          <a:prstGeom prst="rect">
            <a:avLst/>
          </a:prstGeom>
          <a:noFill/>
        </p:spPr>
        <p:txBody>
          <a:bodyPr wrap="square" rtlCol="0">
            <a:spAutoFit/>
          </a:bodyPr>
          <a:lstStyle/>
          <a:p>
            <a:pPr algn="ctr"/>
            <a:r>
              <a:rPr lang="en-US" sz="2800" b="1" dirty="0">
                <a:latin typeface="Arial Black" panose="020B0A04020102020204" pitchFamily="34" charset="0"/>
              </a:rPr>
              <a:t>Goal of Research : </a:t>
            </a:r>
            <a:r>
              <a:rPr lang="en-US" sz="2800" b="1" dirty="0">
                <a:solidFill>
                  <a:srgbClr val="0000FF"/>
                </a:solidFill>
                <a:latin typeface="Arial Black" panose="020B0A04020102020204" pitchFamily="34" charset="0"/>
              </a:rPr>
              <a:t>Emotion Recognition</a:t>
            </a:r>
            <a:endParaRPr lang="en-US" sz="2800" dirty="0">
              <a:solidFill>
                <a:srgbClr val="0000FF"/>
              </a:solidFill>
              <a:latin typeface="Arial Black" panose="020B0A04020102020204" pitchFamily="34" charset="0"/>
            </a:endParaRPr>
          </a:p>
        </p:txBody>
      </p:sp>
      <p:pic>
        <p:nvPicPr>
          <p:cNvPr id="1026" name="Picture 2" descr="Emotion AI: Can Robots Truly Feel or ...">
            <a:extLst>
              <a:ext uri="{FF2B5EF4-FFF2-40B4-BE49-F238E27FC236}">
                <a16:creationId xmlns:a16="http://schemas.microsoft.com/office/drawing/2014/main" id="{76EC632A-6338-40FC-06B6-396ADE23F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3081" y="1307088"/>
            <a:ext cx="3328465" cy="2057743"/>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9B9EDE9D-BA34-5800-F969-8FE891B212C2}"/>
              </a:ext>
            </a:extLst>
          </p:cNvPr>
          <p:cNvGrpSpPr/>
          <p:nvPr/>
        </p:nvGrpSpPr>
        <p:grpSpPr>
          <a:xfrm>
            <a:off x="367129" y="1975097"/>
            <a:ext cx="4927844" cy="3833191"/>
            <a:chOff x="6777728" y="2992228"/>
            <a:chExt cx="4927844" cy="1815922"/>
          </a:xfrm>
        </p:grpSpPr>
        <p:pic>
          <p:nvPicPr>
            <p:cNvPr id="10" name="Picture 9">
              <a:extLst>
                <a:ext uri="{FF2B5EF4-FFF2-40B4-BE49-F238E27FC236}">
                  <a16:creationId xmlns:a16="http://schemas.microsoft.com/office/drawing/2014/main" id="{CC2D6F47-DC1D-97A3-C8D9-558FC6E76DC9}"/>
                </a:ext>
              </a:extLst>
            </p:cNvPr>
            <p:cNvPicPr>
              <a:picLocks noChangeAspect="1"/>
            </p:cNvPicPr>
            <p:nvPr/>
          </p:nvPicPr>
          <p:blipFill>
            <a:blip r:embed="rId4"/>
            <a:stretch>
              <a:fillRect/>
            </a:stretch>
          </p:blipFill>
          <p:spPr>
            <a:xfrm>
              <a:off x="6777728" y="2992228"/>
              <a:ext cx="4739808" cy="1626375"/>
            </a:xfrm>
            <a:prstGeom prst="rect">
              <a:avLst/>
            </a:prstGeom>
          </p:spPr>
        </p:pic>
        <p:sp>
          <p:nvSpPr>
            <p:cNvPr id="12" name="TextBox 11">
              <a:extLst>
                <a:ext uri="{FF2B5EF4-FFF2-40B4-BE49-F238E27FC236}">
                  <a16:creationId xmlns:a16="http://schemas.microsoft.com/office/drawing/2014/main" id="{92585A06-3A25-16F7-E6D8-97E58278FF9F}"/>
                </a:ext>
              </a:extLst>
            </p:cNvPr>
            <p:cNvSpPr txBox="1"/>
            <p:nvPr/>
          </p:nvSpPr>
          <p:spPr>
            <a:xfrm>
              <a:off x="6777728" y="4618603"/>
              <a:ext cx="4927844" cy="189547"/>
            </a:xfrm>
            <a:prstGeom prst="rect">
              <a:avLst/>
            </a:prstGeom>
            <a:noFill/>
          </p:spPr>
          <p:txBody>
            <a:bodyPr wrap="square">
              <a:spAutoFit/>
            </a:bodyPr>
            <a:lstStyle/>
            <a:p>
              <a:pPr algn="ctr"/>
              <a:r>
                <a:rPr lang="en-US" sz="2000" dirty="0"/>
                <a:t>( </a:t>
              </a:r>
              <a:r>
                <a:rPr lang="en-US" sz="2000" dirty="0" err="1"/>
                <a:t>Šimkovič</a:t>
              </a:r>
              <a:r>
                <a:rPr lang="en-US" sz="2000" dirty="0"/>
                <a:t>, Vladimír &amp; </a:t>
              </a:r>
              <a:r>
                <a:rPr lang="en-US" sz="2000" dirty="0" err="1"/>
                <a:t>Kulifaj</a:t>
              </a:r>
              <a:r>
                <a:rPr lang="en-US" sz="2000" dirty="0"/>
                <a:t>, Ing. (2021).)</a:t>
              </a:r>
            </a:p>
          </p:txBody>
        </p:sp>
      </p:grpSp>
      <p:sp>
        <p:nvSpPr>
          <p:cNvPr id="3" name="TextBox 2">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1/10</a:t>
            </a:r>
            <a:endParaRPr lang="ko-KR" altLang="en-US" b="1" dirty="0"/>
          </a:p>
        </p:txBody>
      </p:sp>
      <p:pic>
        <p:nvPicPr>
          <p:cNvPr id="5" name="그림 4"/>
          <p:cNvPicPr>
            <a:picLocks noChangeAspect="1"/>
          </p:cNvPicPr>
          <p:nvPr/>
        </p:nvPicPr>
        <p:blipFill>
          <a:blip r:embed="rId5"/>
          <a:stretch>
            <a:fillRect/>
          </a:stretch>
        </p:blipFill>
        <p:spPr>
          <a:xfrm>
            <a:off x="6661601" y="2138935"/>
            <a:ext cx="4927844" cy="3358055"/>
          </a:xfrm>
          <a:prstGeom prst="rect">
            <a:avLst/>
          </a:prstGeom>
        </p:spPr>
      </p:pic>
      <p:sp>
        <p:nvSpPr>
          <p:cNvPr id="2" name="Arrow: Right 1">
            <a:extLst>
              <a:ext uri="{FF2B5EF4-FFF2-40B4-BE49-F238E27FC236}">
                <a16:creationId xmlns:a16="http://schemas.microsoft.com/office/drawing/2014/main" id="{B29096AC-7AA4-E2C6-A8E8-8F1DCFA40FA9}"/>
              </a:ext>
            </a:extLst>
          </p:cNvPr>
          <p:cNvSpPr/>
          <p:nvPr/>
        </p:nvSpPr>
        <p:spPr>
          <a:xfrm>
            <a:off x="5379773" y="3326767"/>
            <a:ext cx="1008992" cy="29380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grpSp>
        <p:nvGrpSpPr>
          <p:cNvPr id="27" name="Group 26">
            <a:extLst>
              <a:ext uri="{FF2B5EF4-FFF2-40B4-BE49-F238E27FC236}">
                <a16:creationId xmlns:a16="http://schemas.microsoft.com/office/drawing/2014/main" id="{CB67AD42-8004-8238-B370-BFD3A6A0D7EE}"/>
              </a:ext>
            </a:extLst>
          </p:cNvPr>
          <p:cNvGrpSpPr/>
          <p:nvPr/>
        </p:nvGrpSpPr>
        <p:grpSpPr>
          <a:xfrm>
            <a:off x="7072974" y="5566253"/>
            <a:ext cx="4585625" cy="461665"/>
            <a:chOff x="7072974" y="4710228"/>
            <a:chExt cx="4585625" cy="461665"/>
          </a:xfrm>
        </p:grpSpPr>
        <p:sp>
          <p:nvSpPr>
            <p:cNvPr id="14" name="TextBox 13">
              <a:extLst>
                <a:ext uri="{FF2B5EF4-FFF2-40B4-BE49-F238E27FC236}">
                  <a16:creationId xmlns:a16="http://schemas.microsoft.com/office/drawing/2014/main" id="{6DC26EFD-8E85-B49F-A15D-901EECDA9BDD}"/>
                </a:ext>
              </a:extLst>
            </p:cNvPr>
            <p:cNvSpPr txBox="1"/>
            <p:nvPr/>
          </p:nvSpPr>
          <p:spPr>
            <a:xfrm>
              <a:off x="7072974" y="4710228"/>
              <a:ext cx="498855" cy="461665"/>
            </a:xfrm>
            <a:prstGeom prst="rect">
              <a:avLst/>
            </a:prstGeom>
            <a:noFill/>
          </p:spPr>
          <p:txBody>
            <a:bodyPr wrap="none" rtlCol="0">
              <a:spAutoFit/>
            </a:bodyPr>
            <a:lstStyle/>
            <a:p>
              <a:r>
                <a:rPr lang="en-US" altLang="ko-KR" sz="2400" dirty="0"/>
                <a:t>0s</a:t>
              </a:r>
              <a:endParaRPr lang="ko-KR" altLang="en-US" sz="2400" dirty="0"/>
            </a:p>
          </p:txBody>
        </p:sp>
        <p:sp>
          <p:nvSpPr>
            <p:cNvPr id="16" name="TextBox 15">
              <a:extLst>
                <a:ext uri="{FF2B5EF4-FFF2-40B4-BE49-F238E27FC236}">
                  <a16:creationId xmlns:a16="http://schemas.microsoft.com/office/drawing/2014/main" id="{7698BC04-797D-94BB-7E9A-5681AE0A8D83}"/>
                </a:ext>
              </a:extLst>
            </p:cNvPr>
            <p:cNvSpPr txBox="1"/>
            <p:nvPr/>
          </p:nvSpPr>
          <p:spPr>
            <a:xfrm>
              <a:off x="8207508" y="4710228"/>
              <a:ext cx="498855" cy="461665"/>
            </a:xfrm>
            <a:prstGeom prst="rect">
              <a:avLst/>
            </a:prstGeom>
            <a:noFill/>
          </p:spPr>
          <p:txBody>
            <a:bodyPr wrap="none" rtlCol="0">
              <a:spAutoFit/>
            </a:bodyPr>
            <a:lstStyle/>
            <a:p>
              <a:r>
                <a:rPr lang="en-US" altLang="ko-KR" sz="2400" dirty="0"/>
                <a:t>4s</a:t>
              </a:r>
              <a:endParaRPr lang="ko-KR" altLang="en-US" sz="2400" dirty="0"/>
            </a:p>
          </p:txBody>
        </p:sp>
        <p:sp>
          <p:nvSpPr>
            <p:cNvPr id="17" name="TextBox 16">
              <a:extLst>
                <a:ext uri="{FF2B5EF4-FFF2-40B4-BE49-F238E27FC236}">
                  <a16:creationId xmlns:a16="http://schemas.microsoft.com/office/drawing/2014/main" id="{7451C88D-F7CE-F45B-C16E-FB34551FA85F}"/>
                </a:ext>
              </a:extLst>
            </p:cNvPr>
            <p:cNvSpPr txBox="1"/>
            <p:nvPr/>
          </p:nvSpPr>
          <p:spPr>
            <a:xfrm>
              <a:off x="10705174" y="4710228"/>
              <a:ext cx="953425" cy="461665"/>
            </a:xfrm>
            <a:prstGeom prst="rect">
              <a:avLst/>
            </a:prstGeom>
            <a:noFill/>
          </p:spPr>
          <p:txBody>
            <a:bodyPr wrap="square" rtlCol="0">
              <a:spAutoFit/>
            </a:bodyPr>
            <a:lstStyle/>
            <a:p>
              <a:r>
                <a:rPr lang="en-US" altLang="ko-KR" sz="2400" dirty="0"/>
                <a:t>13s</a:t>
              </a:r>
              <a:endParaRPr lang="ko-KR" altLang="en-US" sz="2400" dirty="0"/>
            </a:p>
          </p:txBody>
        </p:sp>
        <p:cxnSp>
          <p:nvCxnSpPr>
            <p:cNvPr id="19" name="Straight Arrow Connector 18">
              <a:extLst>
                <a:ext uri="{FF2B5EF4-FFF2-40B4-BE49-F238E27FC236}">
                  <a16:creationId xmlns:a16="http://schemas.microsoft.com/office/drawing/2014/main" id="{8B4D78BA-92EF-9B0E-4E73-6F8B3D025EAE}"/>
                </a:ext>
              </a:extLst>
            </p:cNvPr>
            <p:cNvCxnSpPr>
              <a:cxnSpLocks/>
              <a:stCxn id="16" idx="3"/>
              <a:endCxn id="17" idx="1"/>
            </p:cNvCxnSpPr>
            <p:nvPr/>
          </p:nvCxnSpPr>
          <p:spPr>
            <a:xfrm>
              <a:off x="8706363" y="4941061"/>
              <a:ext cx="1998811" cy="0"/>
            </a:xfrm>
            <a:prstGeom prst="straightConnector1">
              <a:avLst/>
            </a:prstGeom>
            <a:ln w="28575">
              <a:solidFill>
                <a:schemeClr val="tx1"/>
              </a:solidFill>
              <a:prstDash val="sys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BBB75B2-A2CC-44AF-D68D-80C45C26E80E}"/>
                </a:ext>
              </a:extLst>
            </p:cNvPr>
            <p:cNvCxnSpPr>
              <a:cxnSpLocks/>
              <a:stCxn id="14" idx="3"/>
              <a:endCxn id="16" idx="1"/>
            </p:cNvCxnSpPr>
            <p:nvPr/>
          </p:nvCxnSpPr>
          <p:spPr>
            <a:xfrm>
              <a:off x="7571829" y="4941061"/>
              <a:ext cx="635679" cy="0"/>
            </a:xfrm>
            <a:prstGeom prst="straightConnector1">
              <a:avLst/>
            </a:prstGeom>
            <a:ln w="28575">
              <a:solidFill>
                <a:schemeClr val="tx1"/>
              </a:solidFill>
              <a:prstDash val="sysDash"/>
              <a:headEnd type="triangle"/>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195146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nodeType="clickEffect">
                                  <p:stCondLst>
                                    <p:cond delay="0"/>
                                  </p:stCondLst>
                                  <p:childTnLst>
                                    <p:animEffect transition="out" filter="blinds(horizontal)">
                                      <p:cBhvr>
                                        <p:cTn id="16" dur="500"/>
                                        <p:tgtEl>
                                          <p:spTgt spid="1026"/>
                                        </p:tgtEl>
                                      </p:cBhvr>
                                    </p:animEffect>
                                    <p:set>
                                      <p:cBhvr>
                                        <p:cTn id="17" dur="1" fill="hold">
                                          <p:stCondLst>
                                            <p:cond delay="499"/>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DF85E9-554A-418B-3AFD-BC884B35D469}"/>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BCD10A8-134D-BB5F-A02D-5330E5B50AF4}"/>
              </a:ext>
            </a:extLst>
          </p:cNvPr>
          <p:cNvSpPr txBox="1"/>
          <p:nvPr/>
        </p:nvSpPr>
        <p:spPr>
          <a:xfrm>
            <a:off x="2" y="282169"/>
            <a:ext cx="10002558" cy="707886"/>
          </a:xfrm>
          <a:prstGeom prst="rect">
            <a:avLst/>
          </a:prstGeom>
          <a:noFill/>
        </p:spPr>
        <p:txBody>
          <a:bodyPr wrap="square" rtlCol="0">
            <a:spAutoFit/>
          </a:bodyPr>
          <a:lstStyle/>
          <a:p>
            <a:pPr algn="just"/>
            <a:r>
              <a:rPr lang="en-US" sz="4000" b="1" dirty="0">
                <a:latin typeface="Arial Black" panose="020B0A04020102020204" pitchFamily="34" charset="0"/>
              </a:rPr>
              <a:t>Why Emotion Recognition? </a:t>
            </a:r>
            <a:endParaRPr lang="en-US" sz="4000" dirty="0">
              <a:latin typeface="Arial Black" panose="020B0A04020102020204" pitchFamily="34" charset="0"/>
            </a:endParaRPr>
          </a:p>
        </p:txBody>
      </p:sp>
      <p:grpSp>
        <p:nvGrpSpPr>
          <p:cNvPr id="42" name="Group 41">
            <a:extLst>
              <a:ext uri="{FF2B5EF4-FFF2-40B4-BE49-F238E27FC236}">
                <a16:creationId xmlns:a16="http://schemas.microsoft.com/office/drawing/2014/main" id="{85CB5686-A14D-670C-A860-4CDA3FF7FE8E}"/>
              </a:ext>
            </a:extLst>
          </p:cNvPr>
          <p:cNvGrpSpPr/>
          <p:nvPr/>
        </p:nvGrpSpPr>
        <p:grpSpPr>
          <a:xfrm>
            <a:off x="477733" y="2487962"/>
            <a:ext cx="2250012" cy="3150973"/>
            <a:chOff x="502455" y="2174957"/>
            <a:chExt cx="2250012" cy="3150973"/>
          </a:xfrm>
        </p:grpSpPr>
        <p:sp>
          <p:nvSpPr>
            <p:cNvPr id="12" name="Rectangle: Rounded Corners 11">
              <a:extLst>
                <a:ext uri="{FF2B5EF4-FFF2-40B4-BE49-F238E27FC236}">
                  <a16:creationId xmlns:a16="http://schemas.microsoft.com/office/drawing/2014/main" id="{830E2892-5E2B-24AD-AF48-3485CD6A0C01}"/>
                </a:ext>
              </a:extLst>
            </p:cNvPr>
            <p:cNvSpPr/>
            <p:nvPr/>
          </p:nvSpPr>
          <p:spPr>
            <a:xfrm>
              <a:off x="502455" y="2174957"/>
              <a:ext cx="2250012" cy="315097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D72C6C4-BE76-7273-CC19-72FAF142C65C}"/>
                </a:ext>
              </a:extLst>
            </p:cNvPr>
            <p:cNvSpPr txBox="1"/>
            <p:nvPr/>
          </p:nvSpPr>
          <p:spPr>
            <a:xfrm>
              <a:off x="502455" y="4583079"/>
              <a:ext cx="2250012" cy="400110"/>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Human Emotion </a:t>
              </a:r>
              <a:endParaRPr lang="en-US" sz="20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4D5ED59-9DA7-3067-890B-D205A4AB3972}"/>
                </a:ext>
              </a:extLst>
            </p:cNvPr>
            <p:cNvPicPr>
              <a:picLocks noChangeAspect="1"/>
            </p:cNvPicPr>
            <p:nvPr/>
          </p:nvPicPr>
          <p:blipFill>
            <a:blip r:embed="rId3"/>
            <a:stretch>
              <a:fillRect/>
            </a:stretch>
          </p:blipFill>
          <p:spPr>
            <a:xfrm>
              <a:off x="567329" y="2483447"/>
              <a:ext cx="2120264" cy="2075084"/>
            </a:xfrm>
            <a:prstGeom prst="rect">
              <a:avLst/>
            </a:prstGeom>
          </p:spPr>
        </p:pic>
      </p:grpSp>
      <p:grpSp>
        <p:nvGrpSpPr>
          <p:cNvPr id="2" name="Group 1">
            <a:extLst>
              <a:ext uri="{FF2B5EF4-FFF2-40B4-BE49-F238E27FC236}">
                <a16:creationId xmlns:a16="http://schemas.microsoft.com/office/drawing/2014/main" id="{54EA1F75-1687-0816-C781-0029DADC9FA9}"/>
              </a:ext>
            </a:extLst>
          </p:cNvPr>
          <p:cNvGrpSpPr/>
          <p:nvPr/>
        </p:nvGrpSpPr>
        <p:grpSpPr>
          <a:xfrm>
            <a:off x="4003345" y="3292726"/>
            <a:ext cx="1649568" cy="1582561"/>
            <a:chOff x="4055733" y="3214477"/>
            <a:chExt cx="1649568" cy="1582561"/>
          </a:xfrm>
        </p:grpSpPr>
        <p:sp>
          <p:nvSpPr>
            <p:cNvPr id="22" name="Rectangle: Rounded Corners 21">
              <a:extLst>
                <a:ext uri="{FF2B5EF4-FFF2-40B4-BE49-F238E27FC236}">
                  <a16:creationId xmlns:a16="http://schemas.microsoft.com/office/drawing/2014/main" id="{B6327106-DB42-3875-B9DF-0C16D268C402}"/>
                </a:ext>
              </a:extLst>
            </p:cNvPr>
            <p:cNvSpPr/>
            <p:nvPr/>
          </p:nvSpPr>
          <p:spPr>
            <a:xfrm>
              <a:off x="4203955" y="3214477"/>
              <a:ext cx="1411318" cy="1582561"/>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67C3E04-DE0F-0DEA-1BAD-19E3B13C6AE4}"/>
                </a:ext>
              </a:extLst>
            </p:cNvPr>
            <p:cNvPicPr>
              <a:picLocks noChangeAspect="1"/>
            </p:cNvPicPr>
            <p:nvPr/>
          </p:nvPicPr>
          <p:blipFill>
            <a:blip r:embed="rId4"/>
            <a:srcRect l="14009" r="10784" b="7732"/>
            <a:stretch>
              <a:fillRect/>
            </a:stretch>
          </p:blipFill>
          <p:spPr>
            <a:xfrm>
              <a:off x="4291917" y="3323264"/>
              <a:ext cx="1228996" cy="1182549"/>
            </a:xfrm>
            <a:prstGeom prst="rect">
              <a:avLst/>
            </a:prstGeom>
          </p:spPr>
        </p:pic>
        <p:sp>
          <p:nvSpPr>
            <p:cNvPr id="23" name="TextBox 22">
              <a:extLst>
                <a:ext uri="{FF2B5EF4-FFF2-40B4-BE49-F238E27FC236}">
                  <a16:creationId xmlns:a16="http://schemas.microsoft.com/office/drawing/2014/main" id="{00300638-82A9-F12B-120A-C77093B0DF8E}"/>
                </a:ext>
              </a:extLst>
            </p:cNvPr>
            <p:cNvSpPr txBox="1"/>
            <p:nvPr/>
          </p:nvSpPr>
          <p:spPr>
            <a:xfrm>
              <a:off x="4055733" y="4489261"/>
              <a:ext cx="1649568" cy="307777"/>
            </a:xfrm>
            <a:prstGeom prst="rect">
              <a:avLst/>
            </a:prstGeom>
            <a:noFill/>
          </p:spPr>
          <p:txBody>
            <a:bodyPr wrap="square" rtlCol="0">
              <a:spAutoFit/>
            </a:bodyPr>
            <a:lstStyle/>
            <a:p>
              <a:pPr algn="ctr"/>
              <a:r>
                <a:rPr lang="en-US" sz="1400" b="1" spc="-100" dirty="0">
                  <a:latin typeface="Arial" panose="020B0604020202020204" pitchFamily="34" charset="0"/>
                  <a:cs typeface="Arial" panose="020B0604020202020204" pitchFamily="34" charset="0"/>
                </a:rPr>
                <a:t>Decision making</a:t>
              </a:r>
            </a:p>
          </p:txBody>
        </p:sp>
      </p:grpSp>
      <p:grpSp>
        <p:nvGrpSpPr>
          <p:cNvPr id="6" name="Group 5">
            <a:extLst>
              <a:ext uri="{FF2B5EF4-FFF2-40B4-BE49-F238E27FC236}">
                <a16:creationId xmlns:a16="http://schemas.microsoft.com/office/drawing/2014/main" id="{0CF230B9-795E-B626-041E-8575099F0CC0}"/>
              </a:ext>
            </a:extLst>
          </p:cNvPr>
          <p:cNvGrpSpPr/>
          <p:nvPr/>
        </p:nvGrpSpPr>
        <p:grpSpPr>
          <a:xfrm>
            <a:off x="4155742" y="5075227"/>
            <a:ext cx="1501345" cy="1541447"/>
            <a:chOff x="4203956" y="5075227"/>
            <a:chExt cx="1501345" cy="1541447"/>
          </a:xfrm>
        </p:grpSpPr>
        <p:sp>
          <p:nvSpPr>
            <p:cNvPr id="28" name="Rectangle: Rounded Corners 27">
              <a:extLst>
                <a:ext uri="{FF2B5EF4-FFF2-40B4-BE49-F238E27FC236}">
                  <a16:creationId xmlns:a16="http://schemas.microsoft.com/office/drawing/2014/main" id="{16B20085-F67C-E186-F6DE-F34CED4AC56C}"/>
                </a:ext>
              </a:extLst>
            </p:cNvPr>
            <p:cNvSpPr/>
            <p:nvPr/>
          </p:nvSpPr>
          <p:spPr>
            <a:xfrm>
              <a:off x="4203956" y="5075227"/>
              <a:ext cx="1411319" cy="1541447"/>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8C48C1B-D4D6-DDA0-3E21-0AEBE75A51C0}"/>
                </a:ext>
              </a:extLst>
            </p:cNvPr>
            <p:cNvSpPr txBox="1"/>
            <p:nvPr/>
          </p:nvSpPr>
          <p:spPr>
            <a:xfrm>
              <a:off x="4203956" y="6308897"/>
              <a:ext cx="15013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Interaction </a:t>
              </a:r>
              <a:endParaRPr lang="en-US" sz="1400" dirty="0">
                <a:latin typeface="Arial" panose="020B0604020202020204" pitchFamily="34" charset="0"/>
                <a:cs typeface="Arial" panose="020B0604020202020204" pitchFamily="34" charset="0"/>
              </a:endParaRPr>
            </a:p>
          </p:txBody>
        </p:sp>
        <p:pic>
          <p:nvPicPr>
            <p:cNvPr id="25" name="Picture 24">
              <a:extLst>
                <a:ext uri="{FF2B5EF4-FFF2-40B4-BE49-F238E27FC236}">
                  <a16:creationId xmlns:a16="http://schemas.microsoft.com/office/drawing/2014/main" id="{91894434-F31C-402F-8D56-F39528A4FB05}"/>
                </a:ext>
              </a:extLst>
            </p:cNvPr>
            <p:cNvPicPr>
              <a:picLocks noChangeAspect="1"/>
            </p:cNvPicPr>
            <p:nvPr/>
          </p:nvPicPr>
          <p:blipFill>
            <a:blip r:embed="rId5"/>
            <a:stretch>
              <a:fillRect/>
            </a:stretch>
          </p:blipFill>
          <p:spPr>
            <a:xfrm>
              <a:off x="4291917" y="5140869"/>
              <a:ext cx="1228995" cy="1182550"/>
            </a:xfrm>
            <a:prstGeom prst="rect">
              <a:avLst/>
            </a:prstGeom>
          </p:spPr>
        </p:pic>
      </p:grpSp>
      <p:grpSp>
        <p:nvGrpSpPr>
          <p:cNvPr id="3" name="Group 2">
            <a:extLst>
              <a:ext uri="{FF2B5EF4-FFF2-40B4-BE49-F238E27FC236}">
                <a16:creationId xmlns:a16="http://schemas.microsoft.com/office/drawing/2014/main" id="{3F41D4C4-81A0-F16A-285D-06C8C6E365A7}"/>
              </a:ext>
            </a:extLst>
          </p:cNvPr>
          <p:cNvGrpSpPr/>
          <p:nvPr/>
        </p:nvGrpSpPr>
        <p:grpSpPr>
          <a:xfrm>
            <a:off x="3873728" y="1415867"/>
            <a:ext cx="1964642" cy="1697943"/>
            <a:chOff x="3924093" y="1403378"/>
            <a:chExt cx="1964642" cy="1697943"/>
          </a:xfrm>
        </p:grpSpPr>
        <p:sp>
          <p:nvSpPr>
            <p:cNvPr id="19" name="Rectangle: Rounded Corners 18">
              <a:extLst>
                <a:ext uri="{FF2B5EF4-FFF2-40B4-BE49-F238E27FC236}">
                  <a16:creationId xmlns:a16="http://schemas.microsoft.com/office/drawing/2014/main" id="{9F660682-9CE5-C54B-D638-2C24F12CD1F6}"/>
                </a:ext>
              </a:extLst>
            </p:cNvPr>
            <p:cNvSpPr/>
            <p:nvPr/>
          </p:nvSpPr>
          <p:spPr>
            <a:xfrm>
              <a:off x="4139063" y="1403378"/>
              <a:ext cx="1476210" cy="1697943"/>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CE26CEC-2148-743A-3E3E-B2ED3DCA9C25}"/>
                </a:ext>
              </a:extLst>
            </p:cNvPr>
            <p:cNvSpPr txBox="1"/>
            <p:nvPr/>
          </p:nvSpPr>
          <p:spPr>
            <a:xfrm>
              <a:off x="3924093" y="2691798"/>
              <a:ext cx="1964642" cy="276999"/>
            </a:xfrm>
            <a:prstGeom prst="rect">
              <a:avLst/>
            </a:prstGeom>
            <a:noFill/>
          </p:spPr>
          <p:txBody>
            <a:bodyPr wrap="square" rtlCol="0">
              <a:spAutoFit/>
            </a:bodyPr>
            <a:lstStyle/>
            <a:p>
              <a:pPr algn="ctr"/>
              <a:r>
                <a:rPr lang="en-US" sz="1200" b="1" dirty="0">
                  <a:latin typeface="Arial" panose="020B0604020202020204" pitchFamily="34" charset="0"/>
                  <a:cs typeface="Arial" panose="020B0604020202020204" pitchFamily="34" charset="0"/>
                </a:rPr>
                <a:t>Communication</a:t>
              </a:r>
              <a:endParaRPr lang="en-US" sz="1200" dirty="0">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92F8B9D0-0A4D-AB34-632C-74D801A2E94F}"/>
                </a:ext>
              </a:extLst>
            </p:cNvPr>
            <p:cNvPicPr>
              <a:picLocks noChangeAspect="1"/>
            </p:cNvPicPr>
            <p:nvPr/>
          </p:nvPicPr>
          <p:blipFill>
            <a:blip r:embed="rId6"/>
            <a:stretch>
              <a:fillRect/>
            </a:stretch>
          </p:blipFill>
          <p:spPr>
            <a:xfrm>
              <a:off x="4265436" y="1516535"/>
              <a:ext cx="1228995" cy="1182550"/>
            </a:xfrm>
            <a:prstGeom prst="rect">
              <a:avLst/>
            </a:prstGeom>
          </p:spPr>
        </p:pic>
      </p:grpSp>
      <p:cxnSp>
        <p:nvCxnSpPr>
          <p:cNvPr id="32" name="Straight Connector 31">
            <a:extLst>
              <a:ext uri="{FF2B5EF4-FFF2-40B4-BE49-F238E27FC236}">
                <a16:creationId xmlns:a16="http://schemas.microsoft.com/office/drawing/2014/main" id="{B6C52FBE-AFDC-9B6C-3C03-DDE559F4375A}"/>
              </a:ext>
            </a:extLst>
          </p:cNvPr>
          <p:cNvCxnSpPr>
            <a:cxnSpLocks/>
            <a:stCxn id="12" idx="3"/>
            <a:endCxn id="19" idx="1"/>
          </p:cNvCxnSpPr>
          <p:nvPr/>
        </p:nvCxnSpPr>
        <p:spPr>
          <a:xfrm flipV="1">
            <a:off x="2727745" y="2264839"/>
            <a:ext cx="1360953" cy="179861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F07688B0-2E25-D524-520A-EF62FD5C9640}"/>
              </a:ext>
            </a:extLst>
          </p:cNvPr>
          <p:cNvCxnSpPr>
            <a:cxnSpLocks/>
            <a:stCxn id="12" idx="3"/>
            <a:endCxn id="22" idx="1"/>
          </p:cNvCxnSpPr>
          <p:nvPr/>
        </p:nvCxnSpPr>
        <p:spPr>
          <a:xfrm>
            <a:off x="2727745" y="4063449"/>
            <a:ext cx="1423822" cy="20558"/>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0EAB4D4-51FA-A0BF-EEE2-DD7E196C2D9E}"/>
              </a:ext>
            </a:extLst>
          </p:cNvPr>
          <p:cNvCxnSpPr>
            <a:cxnSpLocks/>
            <a:stCxn id="12" idx="3"/>
            <a:endCxn id="28" idx="1"/>
          </p:cNvCxnSpPr>
          <p:nvPr/>
        </p:nvCxnSpPr>
        <p:spPr>
          <a:xfrm>
            <a:off x="2727745" y="4063449"/>
            <a:ext cx="1427997" cy="178250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43" name="Arrow: Right 42">
            <a:extLst>
              <a:ext uri="{FF2B5EF4-FFF2-40B4-BE49-F238E27FC236}">
                <a16:creationId xmlns:a16="http://schemas.microsoft.com/office/drawing/2014/main" id="{6369F448-A604-B6E9-5729-5E85D37A7362}"/>
              </a:ext>
            </a:extLst>
          </p:cNvPr>
          <p:cNvSpPr/>
          <p:nvPr/>
        </p:nvSpPr>
        <p:spPr>
          <a:xfrm>
            <a:off x="5758030" y="3712833"/>
            <a:ext cx="537333" cy="552322"/>
          </a:xfrm>
          <a:prstGeom prst="rightArrow">
            <a:avLst>
              <a:gd name="adj1" fmla="val 50000"/>
              <a:gd name="adj2" fmla="val 5177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76E26658-B61F-FAF4-F85A-ECC054ECF93E}"/>
              </a:ext>
            </a:extLst>
          </p:cNvPr>
          <p:cNvSpPr/>
          <p:nvPr/>
        </p:nvSpPr>
        <p:spPr>
          <a:xfrm rot="2222568">
            <a:off x="3368803" y="2979642"/>
            <a:ext cx="188955" cy="20442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Isosceles Triangle 9">
            <a:extLst>
              <a:ext uri="{FF2B5EF4-FFF2-40B4-BE49-F238E27FC236}">
                <a16:creationId xmlns:a16="http://schemas.microsoft.com/office/drawing/2014/main" id="{36966735-B8CD-B62A-DD75-D4383BC0B212}"/>
              </a:ext>
            </a:extLst>
          </p:cNvPr>
          <p:cNvSpPr/>
          <p:nvPr/>
        </p:nvSpPr>
        <p:spPr>
          <a:xfrm rot="5400000">
            <a:off x="3403575" y="3981259"/>
            <a:ext cx="188955" cy="20442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Isosceles Triangle 12">
            <a:extLst>
              <a:ext uri="{FF2B5EF4-FFF2-40B4-BE49-F238E27FC236}">
                <a16:creationId xmlns:a16="http://schemas.microsoft.com/office/drawing/2014/main" id="{6D321EBD-AA02-8D00-1741-18EDE84FFA65}"/>
              </a:ext>
            </a:extLst>
          </p:cNvPr>
          <p:cNvSpPr/>
          <p:nvPr/>
        </p:nvSpPr>
        <p:spPr>
          <a:xfrm rot="8647952">
            <a:off x="3346463" y="4860520"/>
            <a:ext cx="188955" cy="204426"/>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4" name="Group 23">
            <a:extLst>
              <a:ext uri="{FF2B5EF4-FFF2-40B4-BE49-F238E27FC236}">
                <a16:creationId xmlns:a16="http://schemas.microsoft.com/office/drawing/2014/main" id="{714A9428-8727-F8EA-673C-B9A6230F2378}"/>
              </a:ext>
            </a:extLst>
          </p:cNvPr>
          <p:cNvGrpSpPr/>
          <p:nvPr/>
        </p:nvGrpSpPr>
        <p:grpSpPr>
          <a:xfrm>
            <a:off x="6572713" y="1326209"/>
            <a:ext cx="2834709" cy="2305542"/>
            <a:chOff x="7262192" y="1302314"/>
            <a:chExt cx="2834709" cy="2305542"/>
          </a:xfrm>
        </p:grpSpPr>
        <p:pic>
          <p:nvPicPr>
            <p:cNvPr id="15" name="Picture 14">
              <a:extLst>
                <a:ext uri="{FF2B5EF4-FFF2-40B4-BE49-F238E27FC236}">
                  <a16:creationId xmlns:a16="http://schemas.microsoft.com/office/drawing/2014/main" id="{6367DBCE-B148-4AD0-6727-2EFE3D3F2429}"/>
                </a:ext>
              </a:extLst>
            </p:cNvPr>
            <p:cNvPicPr>
              <a:picLocks noChangeAspect="1"/>
            </p:cNvPicPr>
            <p:nvPr/>
          </p:nvPicPr>
          <p:blipFill>
            <a:blip r:embed="rId7"/>
            <a:stretch>
              <a:fillRect/>
            </a:stretch>
          </p:blipFill>
          <p:spPr>
            <a:xfrm>
              <a:off x="7262192" y="1302314"/>
              <a:ext cx="2834709" cy="2157785"/>
            </a:xfrm>
            <a:prstGeom prst="rect">
              <a:avLst/>
            </a:prstGeom>
          </p:spPr>
        </p:pic>
        <p:sp>
          <p:nvSpPr>
            <p:cNvPr id="44" name="TextBox 43">
              <a:extLst>
                <a:ext uri="{FF2B5EF4-FFF2-40B4-BE49-F238E27FC236}">
                  <a16:creationId xmlns:a16="http://schemas.microsoft.com/office/drawing/2014/main" id="{CF105214-0D56-1E53-8C79-30D208F798BC}"/>
                </a:ext>
              </a:extLst>
            </p:cNvPr>
            <p:cNvSpPr txBox="1"/>
            <p:nvPr/>
          </p:nvSpPr>
          <p:spPr>
            <a:xfrm>
              <a:off x="7262192" y="3146191"/>
              <a:ext cx="2834709" cy="461665"/>
            </a:xfrm>
            <a:prstGeom prst="rect">
              <a:avLst/>
            </a:prstGeom>
            <a:solidFill>
              <a:srgbClr val="B1EFEF"/>
            </a:solidFill>
          </p:spPr>
          <p:txBody>
            <a:bodyPr wrap="square" rtlCol="0">
              <a:spAutoFit/>
            </a:bodyPr>
            <a:lstStyle/>
            <a:p>
              <a:r>
                <a:rPr lang="en-US" sz="2400" b="1" spc="-100" dirty="0">
                  <a:latin typeface="Arial" panose="020B0604020202020204" pitchFamily="34" charset="0"/>
                  <a:cs typeface="Arial" panose="020B0604020202020204" pitchFamily="34" charset="0"/>
                </a:rPr>
                <a:t>Functional Machine</a:t>
              </a:r>
            </a:p>
          </p:txBody>
        </p:sp>
      </p:grpSp>
      <p:grpSp>
        <p:nvGrpSpPr>
          <p:cNvPr id="31" name="Group 30">
            <a:extLst>
              <a:ext uri="{FF2B5EF4-FFF2-40B4-BE49-F238E27FC236}">
                <a16:creationId xmlns:a16="http://schemas.microsoft.com/office/drawing/2014/main" id="{93B95408-BAA3-BC0A-A56B-AD673118D1AC}"/>
              </a:ext>
            </a:extLst>
          </p:cNvPr>
          <p:cNvGrpSpPr/>
          <p:nvPr/>
        </p:nvGrpSpPr>
        <p:grpSpPr>
          <a:xfrm>
            <a:off x="6519615" y="3981132"/>
            <a:ext cx="5555231" cy="2372131"/>
            <a:chOff x="6519615" y="4336677"/>
            <a:chExt cx="5555231" cy="2372131"/>
          </a:xfrm>
        </p:grpSpPr>
        <p:sp>
          <p:nvSpPr>
            <p:cNvPr id="29" name="Rectangle 28">
              <a:extLst>
                <a:ext uri="{FF2B5EF4-FFF2-40B4-BE49-F238E27FC236}">
                  <a16:creationId xmlns:a16="http://schemas.microsoft.com/office/drawing/2014/main" id="{F9B10728-5E05-6A12-3C4A-32FBE8E4B0F2}"/>
                </a:ext>
              </a:extLst>
            </p:cNvPr>
            <p:cNvSpPr/>
            <p:nvPr/>
          </p:nvSpPr>
          <p:spPr>
            <a:xfrm>
              <a:off x="6519615" y="4336677"/>
              <a:ext cx="5555231" cy="2372131"/>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A18160A4-A375-D899-E2D8-E8A0A6456F64}"/>
                </a:ext>
              </a:extLst>
            </p:cNvPr>
            <p:cNvSpPr txBox="1"/>
            <p:nvPr/>
          </p:nvSpPr>
          <p:spPr>
            <a:xfrm>
              <a:off x="6519615" y="4336677"/>
              <a:ext cx="5555231" cy="461665"/>
            </a:xfrm>
            <a:prstGeom prst="rect">
              <a:avLst/>
            </a:prstGeom>
            <a:noFill/>
          </p:spPr>
          <p:txBody>
            <a:bodyPr wrap="square" rtlCol="0">
              <a:spAutoFit/>
            </a:bodyPr>
            <a:lstStyle/>
            <a:p>
              <a:r>
                <a:rPr lang="en-US" sz="2400" b="1" spc="-100" dirty="0">
                  <a:solidFill>
                    <a:schemeClr val="bg1">
                      <a:lumMod val="95000"/>
                    </a:schemeClr>
                  </a:solidFill>
                  <a:latin typeface="Arial" panose="020B0604020202020204" pitchFamily="34" charset="0"/>
                  <a:cs typeface="Arial" panose="020B0604020202020204" pitchFamily="34" charset="0"/>
                </a:rPr>
                <a:t>Adaptive, Personalized, Emotion Aware</a:t>
              </a:r>
            </a:p>
          </p:txBody>
        </p:sp>
        <p:pic>
          <p:nvPicPr>
            <p:cNvPr id="16" name="Picture 15">
              <a:extLst>
                <a:ext uri="{FF2B5EF4-FFF2-40B4-BE49-F238E27FC236}">
                  <a16:creationId xmlns:a16="http://schemas.microsoft.com/office/drawing/2014/main" id="{7D434B1B-B878-5797-5EAF-A5437004C979}"/>
                </a:ext>
              </a:extLst>
            </p:cNvPr>
            <p:cNvPicPr>
              <a:picLocks noChangeAspect="1"/>
            </p:cNvPicPr>
            <p:nvPr/>
          </p:nvPicPr>
          <p:blipFill>
            <a:blip r:embed="rId8"/>
            <a:stretch>
              <a:fillRect/>
            </a:stretch>
          </p:blipFill>
          <p:spPr>
            <a:xfrm>
              <a:off x="6560065" y="4843672"/>
              <a:ext cx="2478888" cy="1686736"/>
            </a:xfrm>
            <a:prstGeom prst="rect">
              <a:avLst/>
            </a:prstGeom>
          </p:spPr>
        </p:pic>
        <p:pic>
          <p:nvPicPr>
            <p:cNvPr id="20" name="Picture 19">
              <a:extLst>
                <a:ext uri="{FF2B5EF4-FFF2-40B4-BE49-F238E27FC236}">
                  <a16:creationId xmlns:a16="http://schemas.microsoft.com/office/drawing/2014/main" id="{F7F32D98-AE0B-2CA9-C29E-224693854E69}"/>
                </a:ext>
              </a:extLst>
            </p:cNvPr>
            <p:cNvPicPr>
              <a:picLocks noChangeAspect="1"/>
            </p:cNvPicPr>
            <p:nvPr/>
          </p:nvPicPr>
          <p:blipFill>
            <a:blip r:embed="rId9"/>
            <a:stretch>
              <a:fillRect/>
            </a:stretch>
          </p:blipFill>
          <p:spPr>
            <a:xfrm>
              <a:off x="9038953" y="4827875"/>
              <a:ext cx="2466241" cy="1702533"/>
            </a:xfrm>
            <a:prstGeom prst="rect">
              <a:avLst/>
            </a:prstGeom>
          </p:spPr>
        </p:pic>
      </p:grpSp>
      <p:sp>
        <p:nvSpPr>
          <p:cNvPr id="26" name="Arrow: Curved Left 25">
            <a:extLst>
              <a:ext uri="{FF2B5EF4-FFF2-40B4-BE49-F238E27FC236}">
                <a16:creationId xmlns:a16="http://schemas.microsoft.com/office/drawing/2014/main" id="{0D70CEDF-39CA-3D12-F36D-CBF05BC9B88B}"/>
              </a:ext>
            </a:extLst>
          </p:cNvPr>
          <p:cNvSpPr/>
          <p:nvPr/>
        </p:nvSpPr>
        <p:spPr>
          <a:xfrm rot="18741553">
            <a:off x="9819304" y="2469270"/>
            <a:ext cx="644920" cy="1677289"/>
          </a:xfrm>
          <a:prstGeom prst="curvedLeftArrow">
            <a:avLst>
              <a:gd name="adj1" fmla="val 25000"/>
              <a:gd name="adj2" fmla="val 50000"/>
              <a:gd name="adj3" fmla="val 41426"/>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7" name="TextBox 36">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2/10</a:t>
            </a:r>
            <a:endParaRPr lang="ko-KR" altLang="en-US" b="1" dirty="0"/>
          </a:p>
        </p:txBody>
      </p:sp>
    </p:spTree>
    <p:extLst>
      <p:ext uri="{BB962C8B-B14F-4D97-AF65-F5344CB8AC3E}">
        <p14:creationId xmlns:p14="http://schemas.microsoft.com/office/powerpoint/2010/main" val="2489530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4E6CC-64E0-E7B2-87B7-4FB773E4BAEB}"/>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35FAD1D5-0B80-60C3-E2CD-EF1DBD2EA96F}"/>
              </a:ext>
            </a:extLst>
          </p:cNvPr>
          <p:cNvSpPr/>
          <p:nvPr/>
        </p:nvSpPr>
        <p:spPr>
          <a:xfrm>
            <a:off x="187890" y="1365336"/>
            <a:ext cx="5551310" cy="480247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Rectangle 3">
            <a:extLst>
              <a:ext uri="{FF2B5EF4-FFF2-40B4-BE49-F238E27FC236}">
                <a16:creationId xmlns:a16="http://schemas.microsoft.com/office/drawing/2014/main" id="{737B8270-8CB3-C3B1-2756-E51898FDB73F}"/>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AC615DE-5024-C32B-F257-5A196792E163}"/>
              </a:ext>
            </a:extLst>
          </p:cNvPr>
          <p:cNvSpPr txBox="1"/>
          <p:nvPr/>
        </p:nvSpPr>
        <p:spPr>
          <a:xfrm>
            <a:off x="2" y="282169"/>
            <a:ext cx="10002558" cy="707886"/>
          </a:xfrm>
          <a:prstGeom prst="rect">
            <a:avLst/>
          </a:prstGeom>
          <a:noFill/>
        </p:spPr>
        <p:txBody>
          <a:bodyPr wrap="square" rtlCol="0">
            <a:spAutoFit/>
          </a:bodyPr>
          <a:lstStyle/>
          <a:p>
            <a:r>
              <a:rPr lang="en-US" sz="4000" b="1" dirty="0">
                <a:latin typeface="Arial Black" panose="020B0A04020102020204" pitchFamily="34" charset="0"/>
              </a:rPr>
              <a:t>Previous Research</a:t>
            </a:r>
            <a:endParaRPr lang="en-US" sz="4000" dirty="0">
              <a:latin typeface="Arial Black" panose="020B0A04020102020204" pitchFamily="34" charset="0"/>
            </a:endParaRPr>
          </a:p>
        </p:txBody>
      </p:sp>
      <p:sp>
        <p:nvSpPr>
          <p:cNvPr id="8" name="TextBox 7">
            <a:extLst>
              <a:ext uri="{FF2B5EF4-FFF2-40B4-BE49-F238E27FC236}">
                <a16:creationId xmlns:a16="http://schemas.microsoft.com/office/drawing/2014/main" id="{966DFA74-BCDA-1690-E791-E53DE1B03CF6}"/>
              </a:ext>
            </a:extLst>
          </p:cNvPr>
          <p:cNvSpPr txBox="1"/>
          <p:nvPr/>
        </p:nvSpPr>
        <p:spPr>
          <a:xfrm>
            <a:off x="5797550" y="6198705"/>
            <a:ext cx="6299200" cy="338554"/>
          </a:xfrm>
          <a:prstGeom prst="rect">
            <a:avLst/>
          </a:prstGeom>
          <a:noFill/>
        </p:spPr>
        <p:txBody>
          <a:bodyPr wrap="square">
            <a:spAutoFit/>
          </a:bodyPr>
          <a:lstStyle/>
          <a:p>
            <a:pPr algn="just"/>
            <a:r>
              <a:rPr lang="en-US" altLang="ko-KR" sz="1600" b="1" spc="-100" baseline="30000" dirty="0"/>
              <a:t>†</a:t>
            </a:r>
            <a:r>
              <a:rPr lang="en-US" altLang="ko-KR" sz="1600" spc="-100" dirty="0" err="1"/>
              <a:t>Dolcos</a:t>
            </a:r>
            <a:r>
              <a:rPr lang="en-US" altLang="ko-KR" sz="1600" spc="-100" dirty="0"/>
              <a:t> et al. focusing on PFC based on fMRI (2004) </a:t>
            </a:r>
            <a:endParaRPr lang="ko-KR" altLang="en-US" sz="1600" spc="-100" dirty="0"/>
          </a:p>
        </p:txBody>
      </p:sp>
      <p:sp>
        <p:nvSpPr>
          <p:cNvPr id="6" name="TextBox 5">
            <a:extLst>
              <a:ext uri="{FF2B5EF4-FFF2-40B4-BE49-F238E27FC236}">
                <a16:creationId xmlns:a16="http://schemas.microsoft.com/office/drawing/2014/main" id="{FE3F8655-EB35-B5E3-AF72-F1A6B33B9505}"/>
              </a:ext>
            </a:extLst>
          </p:cNvPr>
          <p:cNvSpPr txBox="1"/>
          <p:nvPr/>
        </p:nvSpPr>
        <p:spPr>
          <a:xfrm>
            <a:off x="5739200" y="3009711"/>
            <a:ext cx="6414701" cy="800219"/>
          </a:xfrm>
          <a:prstGeom prst="rect">
            <a:avLst/>
          </a:prstGeom>
          <a:noFill/>
          <a:ln>
            <a:solidFill>
              <a:srgbClr val="00B050"/>
            </a:solidFill>
          </a:ln>
        </p:spPr>
        <p:txBody>
          <a:bodyPr wrap="square">
            <a:spAutoFit/>
          </a:bodyPr>
          <a:lstStyle/>
          <a:p>
            <a:pPr>
              <a:buNone/>
            </a:pPr>
            <a:r>
              <a:rPr lang="en-US" altLang="ko-KR" sz="2400" b="1" dirty="0"/>
              <a:t>▪ </a:t>
            </a:r>
            <a:r>
              <a:rPr lang="en-US" altLang="ko-KR" sz="2400" b="1" dirty="0">
                <a:solidFill>
                  <a:srgbClr val="00B050"/>
                </a:solidFill>
                <a:latin typeface="Arial" panose="020B0604020202020204" pitchFamily="34" charset="0"/>
                <a:cs typeface="Arial" panose="020B0604020202020204" pitchFamily="34" charset="0"/>
              </a:rPr>
              <a:t>Pleasure </a:t>
            </a:r>
          </a:p>
          <a:p>
            <a:r>
              <a:rPr lang="en-US" altLang="ko-KR" sz="2200" b="1" kern="800" spc="-130" dirty="0"/>
              <a:t>-&gt; </a:t>
            </a:r>
            <a:r>
              <a:rPr lang="en-US" altLang="ko-KR" sz="2000" b="1" kern="800" spc="-130" dirty="0"/>
              <a:t>left DLPFC (F3)</a:t>
            </a:r>
            <a:r>
              <a:rPr lang="en-US" altLang="ko-KR" sz="2000" dirty="0"/>
              <a:t>*</a:t>
            </a:r>
            <a:r>
              <a:rPr lang="en-US" altLang="ko-KR" sz="2000" b="1" baseline="30000" dirty="0"/>
              <a:t>†</a:t>
            </a:r>
            <a:r>
              <a:rPr lang="en-US" altLang="ko-KR" sz="2000" b="1" kern="800" spc="-130" dirty="0"/>
              <a:t> + Fp1</a:t>
            </a:r>
            <a:r>
              <a:rPr lang="en-US" altLang="ko-KR" sz="2000" dirty="0"/>
              <a:t>* </a:t>
            </a:r>
            <a:r>
              <a:rPr lang="en-US" altLang="ko-KR" sz="2000" b="1" kern="800" spc="-130" dirty="0"/>
              <a:t>+ VMPFC (</a:t>
            </a:r>
            <a:r>
              <a:rPr lang="en-US" altLang="ko-KR" sz="2000" b="1" kern="800" spc="-130" dirty="0" err="1"/>
              <a:t>Fpz</a:t>
            </a:r>
            <a:r>
              <a:rPr lang="en-US" altLang="ko-KR" sz="2000" b="1" kern="800" spc="-130" dirty="0"/>
              <a:t>)</a:t>
            </a:r>
            <a:r>
              <a:rPr lang="en-US" altLang="ko-KR" sz="2000" b="1" baseline="30000" dirty="0"/>
              <a:t>†</a:t>
            </a:r>
            <a:endParaRPr lang="en-US" altLang="ko-KR" sz="2000" b="1" kern="800" spc="-130" dirty="0"/>
          </a:p>
        </p:txBody>
      </p:sp>
      <p:sp>
        <p:nvSpPr>
          <p:cNvPr id="11" name="TextBox 10">
            <a:extLst>
              <a:ext uri="{FF2B5EF4-FFF2-40B4-BE49-F238E27FC236}">
                <a16:creationId xmlns:a16="http://schemas.microsoft.com/office/drawing/2014/main" id="{94BF18DE-241A-5E08-84EA-A01EA8A6A035}"/>
              </a:ext>
            </a:extLst>
          </p:cNvPr>
          <p:cNvSpPr txBox="1"/>
          <p:nvPr/>
        </p:nvSpPr>
        <p:spPr>
          <a:xfrm>
            <a:off x="5739203" y="3879089"/>
            <a:ext cx="6414698" cy="769441"/>
          </a:xfrm>
          <a:prstGeom prst="rect">
            <a:avLst/>
          </a:prstGeom>
          <a:noFill/>
          <a:ln>
            <a:solidFill>
              <a:srgbClr val="7030A0"/>
            </a:solidFill>
          </a:ln>
        </p:spPr>
        <p:txBody>
          <a:bodyPr wrap="square">
            <a:spAutoFit/>
          </a:bodyPr>
          <a:lstStyle/>
          <a:p>
            <a:pPr>
              <a:buNone/>
            </a:pPr>
            <a:r>
              <a:rPr lang="en-US" altLang="ko-KR" sz="2400" b="1" dirty="0">
                <a:latin typeface="Arial" panose="020B0604020202020204" pitchFamily="34" charset="0"/>
                <a:cs typeface="Arial" panose="020B0604020202020204" pitchFamily="34" charset="0"/>
              </a:rPr>
              <a:t>▪ </a:t>
            </a:r>
            <a:r>
              <a:rPr lang="en-US" altLang="ko-KR" sz="2400" b="1" dirty="0" err="1">
                <a:solidFill>
                  <a:srgbClr val="7030A0"/>
                </a:solidFill>
                <a:latin typeface="Arial" panose="020B0604020202020204" pitchFamily="34" charset="0"/>
                <a:cs typeface="Arial" panose="020B0604020202020204" pitchFamily="34" charset="0"/>
              </a:rPr>
              <a:t>Unpleasure</a:t>
            </a:r>
            <a:r>
              <a:rPr lang="en-US" altLang="ko-KR" sz="2400" b="1" dirty="0">
                <a:latin typeface="Arial" panose="020B0604020202020204" pitchFamily="34" charset="0"/>
                <a:cs typeface="Arial" panose="020B0604020202020204" pitchFamily="34" charset="0"/>
              </a:rPr>
              <a:t> </a:t>
            </a:r>
          </a:p>
          <a:p>
            <a:pPr>
              <a:buNone/>
            </a:pPr>
            <a:r>
              <a:rPr lang="en-US" altLang="ko-KR" sz="2000" b="1" spc="-100" dirty="0"/>
              <a:t>-&gt; right {DLPFC (F4)</a:t>
            </a:r>
            <a:r>
              <a:rPr lang="en-US" altLang="ko-KR" sz="2000" dirty="0"/>
              <a:t>*</a:t>
            </a:r>
            <a:r>
              <a:rPr lang="en-US" altLang="ko-KR" sz="2000" b="1" spc="-100" dirty="0"/>
              <a:t> + Fp2</a:t>
            </a:r>
            <a:r>
              <a:rPr lang="en-US" altLang="ko-KR" sz="2000" dirty="0"/>
              <a:t>*</a:t>
            </a:r>
            <a:r>
              <a:rPr lang="en-US" altLang="ko-KR" sz="2000" b="1" spc="-100" dirty="0"/>
              <a:t> + VLPFC (F8)</a:t>
            </a:r>
            <a:r>
              <a:rPr lang="en-US" altLang="ko-KR" sz="2000" b="1" baseline="30000" dirty="0"/>
              <a:t>†</a:t>
            </a:r>
            <a:r>
              <a:rPr lang="en-US" altLang="ko-KR" sz="2000" b="1" spc="-100" dirty="0"/>
              <a:t>}</a:t>
            </a:r>
          </a:p>
        </p:txBody>
      </p:sp>
      <p:sp>
        <p:nvSpPr>
          <p:cNvPr id="34" name="TextBox 33">
            <a:extLst>
              <a:ext uri="{FF2B5EF4-FFF2-40B4-BE49-F238E27FC236}">
                <a16:creationId xmlns:a16="http://schemas.microsoft.com/office/drawing/2014/main" id="{881217DD-61C7-BE04-2DD7-CF2204340910}"/>
              </a:ext>
            </a:extLst>
          </p:cNvPr>
          <p:cNvSpPr txBox="1"/>
          <p:nvPr/>
        </p:nvSpPr>
        <p:spPr>
          <a:xfrm>
            <a:off x="5739202" y="2466466"/>
            <a:ext cx="4382227" cy="523220"/>
          </a:xfrm>
          <a:prstGeom prst="rect">
            <a:avLst/>
          </a:prstGeom>
          <a:noFill/>
        </p:spPr>
        <p:txBody>
          <a:bodyPr wrap="square">
            <a:spAutoFit/>
          </a:bodyPr>
          <a:lstStyle/>
          <a:p>
            <a:pPr>
              <a:buNone/>
            </a:pPr>
            <a:r>
              <a:rPr lang="en-US" altLang="ko-KR" sz="2800" b="1" dirty="0">
                <a:latin typeface="Arial" panose="020B0604020202020204" pitchFamily="34" charset="0"/>
                <a:cs typeface="Arial" panose="020B0604020202020204" pitchFamily="34" charset="0"/>
              </a:rPr>
              <a:t>Affective </a:t>
            </a:r>
            <a:r>
              <a:rPr lang="en-US" altLang="ko-KR" sz="2800" b="1" dirty="0">
                <a:solidFill>
                  <a:srgbClr val="0000FF"/>
                </a:solidFill>
                <a:latin typeface="Arial" panose="020B0604020202020204" pitchFamily="34" charset="0"/>
                <a:cs typeface="Arial" panose="020B0604020202020204" pitchFamily="34" charset="0"/>
              </a:rPr>
              <a:t>Valence</a:t>
            </a:r>
          </a:p>
        </p:txBody>
      </p:sp>
      <p:pic>
        <p:nvPicPr>
          <p:cNvPr id="10" name="Graphic 9">
            <a:extLst>
              <a:ext uri="{FF2B5EF4-FFF2-40B4-BE49-F238E27FC236}">
                <a16:creationId xmlns:a16="http://schemas.microsoft.com/office/drawing/2014/main" id="{F931BD48-4E7A-9D1C-E523-367769A440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7947" y="1590820"/>
            <a:ext cx="5301188" cy="4064707"/>
          </a:xfrm>
          <a:prstGeom prst="rect">
            <a:avLst/>
          </a:prstGeom>
        </p:spPr>
      </p:pic>
      <p:grpSp>
        <p:nvGrpSpPr>
          <p:cNvPr id="3" name="Group 2">
            <a:extLst>
              <a:ext uri="{FF2B5EF4-FFF2-40B4-BE49-F238E27FC236}">
                <a16:creationId xmlns:a16="http://schemas.microsoft.com/office/drawing/2014/main" id="{9E1F1187-6C14-1E25-9AD4-0C844F320ADE}"/>
              </a:ext>
            </a:extLst>
          </p:cNvPr>
          <p:cNvGrpSpPr/>
          <p:nvPr/>
        </p:nvGrpSpPr>
        <p:grpSpPr>
          <a:xfrm>
            <a:off x="982133" y="1918437"/>
            <a:ext cx="4942417" cy="1280494"/>
            <a:chOff x="982133" y="1918437"/>
            <a:chExt cx="4942417" cy="1280494"/>
          </a:xfrm>
        </p:grpSpPr>
        <p:sp>
          <p:nvSpPr>
            <p:cNvPr id="44" name="Rectangle 43">
              <a:extLst>
                <a:ext uri="{FF2B5EF4-FFF2-40B4-BE49-F238E27FC236}">
                  <a16:creationId xmlns:a16="http://schemas.microsoft.com/office/drawing/2014/main" id="{C7D2F03F-FC68-F264-23A1-4D1CC5625864}"/>
                </a:ext>
              </a:extLst>
            </p:cNvPr>
            <p:cNvSpPr/>
            <p:nvPr/>
          </p:nvSpPr>
          <p:spPr>
            <a:xfrm>
              <a:off x="982133" y="1918437"/>
              <a:ext cx="1509868" cy="1280494"/>
            </a:xfrm>
            <a:prstGeom prst="rect">
              <a:avLst/>
            </a:prstGeom>
            <a:solidFill>
              <a:srgbClr val="0000FF">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Oval 34">
              <a:extLst>
                <a:ext uri="{FF2B5EF4-FFF2-40B4-BE49-F238E27FC236}">
                  <a16:creationId xmlns:a16="http://schemas.microsoft.com/office/drawing/2014/main" id="{A95404DC-C03B-904D-4B52-80B585FAE9CA}"/>
                </a:ext>
              </a:extLst>
            </p:cNvPr>
            <p:cNvSpPr/>
            <p:nvPr/>
          </p:nvSpPr>
          <p:spPr>
            <a:xfrm>
              <a:off x="1292669" y="2742202"/>
              <a:ext cx="390804" cy="390804"/>
            </a:xfrm>
            <a:prstGeom prst="ellipse">
              <a:avLst/>
            </a:prstGeom>
            <a:noFill/>
            <a:ln w="28575">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Oval 37">
              <a:extLst>
                <a:ext uri="{FF2B5EF4-FFF2-40B4-BE49-F238E27FC236}">
                  <a16:creationId xmlns:a16="http://schemas.microsoft.com/office/drawing/2014/main" id="{ACD5D2FB-20C8-DF25-4127-7AAFCD394237}"/>
                </a:ext>
              </a:extLst>
            </p:cNvPr>
            <p:cNvSpPr/>
            <p:nvPr/>
          </p:nvSpPr>
          <p:spPr>
            <a:xfrm>
              <a:off x="1418221" y="2099141"/>
              <a:ext cx="390804" cy="390804"/>
            </a:xfrm>
            <a:prstGeom prst="ellipse">
              <a:avLst/>
            </a:prstGeom>
            <a:noFill/>
            <a:ln w="28575">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Oval 38">
              <a:extLst>
                <a:ext uri="{FF2B5EF4-FFF2-40B4-BE49-F238E27FC236}">
                  <a16:creationId xmlns:a16="http://schemas.microsoft.com/office/drawing/2014/main" id="{8B8395C9-3FA8-0332-A654-D05FF6B4AA19}"/>
                </a:ext>
              </a:extLst>
            </p:cNvPr>
            <p:cNvSpPr/>
            <p:nvPr/>
          </p:nvSpPr>
          <p:spPr>
            <a:xfrm>
              <a:off x="1809025" y="2038422"/>
              <a:ext cx="390804" cy="390804"/>
            </a:xfrm>
            <a:prstGeom prst="ellipse">
              <a:avLst/>
            </a:prstGeom>
            <a:noFill/>
            <a:ln w="28575">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2" name="Straight Arrow Connector 41">
              <a:extLst>
                <a:ext uri="{FF2B5EF4-FFF2-40B4-BE49-F238E27FC236}">
                  <a16:creationId xmlns:a16="http://schemas.microsoft.com/office/drawing/2014/main" id="{3D37A4AA-686D-9EC1-B512-50BB44FF9DB1}"/>
                </a:ext>
              </a:extLst>
            </p:cNvPr>
            <p:cNvCxnSpPr>
              <a:cxnSpLocks/>
            </p:cNvCxnSpPr>
            <p:nvPr/>
          </p:nvCxnSpPr>
          <p:spPr>
            <a:xfrm>
              <a:off x="1947673" y="2336800"/>
              <a:ext cx="3976877" cy="745189"/>
            </a:xfrm>
            <a:prstGeom prst="straightConnector1">
              <a:avLst/>
            </a:prstGeom>
            <a:ln>
              <a:solidFill>
                <a:srgbClr val="00B050"/>
              </a:solidFill>
              <a:tailEnd type="triangle" w="lg" len="med"/>
            </a:ln>
          </p:spPr>
          <p:style>
            <a:lnRef idx="2">
              <a:schemeClr val="accent1"/>
            </a:lnRef>
            <a:fillRef idx="0">
              <a:schemeClr val="accent1"/>
            </a:fillRef>
            <a:effectRef idx="1">
              <a:schemeClr val="accent1"/>
            </a:effectRef>
            <a:fontRef idx="minor">
              <a:schemeClr val="tx1"/>
            </a:fontRef>
          </p:style>
        </p:cxnSp>
      </p:grpSp>
      <p:sp>
        <p:nvSpPr>
          <p:cNvPr id="7" name="Rectangle 6">
            <a:extLst>
              <a:ext uri="{FF2B5EF4-FFF2-40B4-BE49-F238E27FC236}">
                <a16:creationId xmlns:a16="http://schemas.microsoft.com/office/drawing/2014/main" id="{1E4B07AA-A37E-AC93-9FD4-2DC00D25B0DF}"/>
              </a:ext>
            </a:extLst>
          </p:cNvPr>
          <p:cNvSpPr/>
          <p:nvPr/>
        </p:nvSpPr>
        <p:spPr>
          <a:xfrm>
            <a:off x="2245114" y="2133600"/>
            <a:ext cx="1039954" cy="948389"/>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Oval 11">
            <a:extLst>
              <a:ext uri="{FF2B5EF4-FFF2-40B4-BE49-F238E27FC236}">
                <a16:creationId xmlns:a16="http://schemas.microsoft.com/office/drawing/2014/main" id="{F33B9E53-7379-EF14-CA45-E84119D0EDC5}"/>
              </a:ext>
            </a:extLst>
          </p:cNvPr>
          <p:cNvSpPr/>
          <p:nvPr/>
        </p:nvSpPr>
        <p:spPr>
          <a:xfrm>
            <a:off x="2849192" y="2613892"/>
            <a:ext cx="411413" cy="411413"/>
          </a:xfrm>
          <a:prstGeom prst="ellipse">
            <a:avLst/>
          </a:prstGeom>
          <a:noFill/>
          <a:ln w="28575">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 name="Straight Arrow Connector 12">
            <a:extLst>
              <a:ext uri="{FF2B5EF4-FFF2-40B4-BE49-F238E27FC236}">
                <a16:creationId xmlns:a16="http://schemas.microsoft.com/office/drawing/2014/main" id="{59CAF35C-6EBA-FB95-7C99-777B6A0A04DA}"/>
              </a:ext>
            </a:extLst>
          </p:cNvPr>
          <p:cNvCxnSpPr>
            <a:cxnSpLocks/>
          </p:cNvCxnSpPr>
          <p:nvPr/>
        </p:nvCxnSpPr>
        <p:spPr>
          <a:xfrm>
            <a:off x="2770037" y="2822225"/>
            <a:ext cx="3154513" cy="1140175"/>
          </a:xfrm>
          <a:prstGeom prst="straightConnector1">
            <a:avLst/>
          </a:prstGeom>
          <a:ln>
            <a:solidFill>
              <a:srgbClr val="7030A0"/>
            </a:solidFill>
            <a:tailEnd type="triangle" w="lg" len="med"/>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794C21F8-C26F-B143-3C4D-608E884E56B4}"/>
              </a:ext>
            </a:extLst>
          </p:cNvPr>
          <p:cNvSpPr txBox="1"/>
          <p:nvPr/>
        </p:nvSpPr>
        <p:spPr>
          <a:xfrm>
            <a:off x="2351574" y="5740063"/>
            <a:ext cx="2184191" cy="369332"/>
          </a:xfrm>
          <a:prstGeom prst="rect">
            <a:avLst/>
          </a:prstGeom>
          <a:noFill/>
        </p:spPr>
        <p:txBody>
          <a:bodyPr wrap="square">
            <a:spAutoFit/>
          </a:bodyPr>
          <a:lstStyle/>
          <a:p>
            <a:pPr algn="ctr"/>
            <a:r>
              <a:rPr lang="en-US" altLang="ko-KR" b="1" dirty="0"/>
              <a:t>10-10 System</a:t>
            </a:r>
            <a:endParaRPr lang="ko-KR" altLang="en-US" b="1" dirty="0"/>
          </a:p>
        </p:txBody>
      </p:sp>
      <p:sp>
        <p:nvSpPr>
          <p:cNvPr id="48" name="Oval 47">
            <a:extLst>
              <a:ext uri="{FF2B5EF4-FFF2-40B4-BE49-F238E27FC236}">
                <a16:creationId xmlns:a16="http://schemas.microsoft.com/office/drawing/2014/main" id="{7ECDA38F-4DFC-54C0-660E-2216B9D95E0B}"/>
              </a:ext>
            </a:extLst>
          </p:cNvPr>
          <p:cNvSpPr/>
          <p:nvPr/>
        </p:nvSpPr>
        <p:spPr>
          <a:xfrm>
            <a:off x="2198397" y="2122958"/>
            <a:ext cx="411413" cy="411413"/>
          </a:xfrm>
          <a:prstGeom prst="ellipse">
            <a:avLst/>
          </a:prstGeom>
          <a:noFill/>
          <a:ln w="28575">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Oval 48">
            <a:extLst>
              <a:ext uri="{FF2B5EF4-FFF2-40B4-BE49-F238E27FC236}">
                <a16:creationId xmlns:a16="http://schemas.microsoft.com/office/drawing/2014/main" id="{1E4BF6F7-3109-0152-9C55-D49E2743E4C3}"/>
              </a:ext>
            </a:extLst>
          </p:cNvPr>
          <p:cNvSpPr/>
          <p:nvPr/>
        </p:nvSpPr>
        <p:spPr>
          <a:xfrm>
            <a:off x="2351574" y="2742933"/>
            <a:ext cx="411413" cy="411413"/>
          </a:xfrm>
          <a:prstGeom prst="ellipse">
            <a:avLst/>
          </a:prstGeom>
          <a:noFill/>
          <a:ln w="28575">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TextBox 49">
            <a:extLst>
              <a:ext uri="{FF2B5EF4-FFF2-40B4-BE49-F238E27FC236}">
                <a16:creationId xmlns:a16="http://schemas.microsoft.com/office/drawing/2014/main" id="{4949BAD2-70E0-C494-EDCB-39B2956C4142}"/>
              </a:ext>
            </a:extLst>
          </p:cNvPr>
          <p:cNvSpPr txBox="1"/>
          <p:nvPr/>
        </p:nvSpPr>
        <p:spPr>
          <a:xfrm>
            <a:off x="5784850" y="5911923"/>
            <a:ext cx="4028827" cy="338554"/>
          </a:xfrm>
          <a:prstGeom prst="rect">
            <a:avLst/>
          </a:prstGeom>
          <a:noFill/>
        </p:spPr>
        <p:txBody>
          <a:bodyPr wrap="square">
            <a:spAutoFit/>
          </a:bodyPr>
          <a:lstStyle/>
          <a:p>
            <a:pPr algn="just"/>
            <a:r>
              <a:rPr lang="en-US" altLang="ko-KR" sz="1600" spc="-100" dirty="0"/>
              <a:t>*Heller based on EEG  (1993) </a:t>
            </a:r>
            <a:endParaRPr lang="ko-KR" altLang="en-US" sz="1600" spc="-100" dirty="0"/>
          </a:p>
        </p:txBody>
      </p:sp>
      <p:sp>
        <p:nvSpPr>
          <p:cNvPr id="45" name="TextBox 44">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3/10</a:t>
            </a:r>
            <a:endParaRPr lang="ko-KR" altLang="en-US" b="1" dirty="0"/>
          </a:p>
        </p:txBody>
      </p:sp>
      <p:sp>
        <p:nvSpPr>
          <p:cNvPr id="53" name="TextBox 52">
            <a:extLst>
              <a:ext uri="{FF2B5EF4-FFF2-40B4-BE49-F238E27FC236}">
                <a16:creationId xmlns:a16="http://schemas.microsoft.com/office/drawing/2014/main" id="{881217DD-61C7-BE04-2DD7-CF2204340910}"/>
              </a:ext>
            </a:extLst>
          </p:cNvPr>
          <p:cNvSpPr txBox="1"/>
          <p:nvPr/>
        </p:nvSpPr>
        <p:spPr>
          <a:xfrm>
            <a:off x="5739201" y="4874461"/>
            <a:ext cx="4801799" cy="830997"/>
          </a:xfrm>
          <a:prstGeom prst="rect">
            <a:avLst/>
          </a:prstGeom>
          <a:noFill/>
          <a:ln>
            <a:solidFill>
              <a:srgbClr val="FF0000"/>
            </a:solidFill>
          </a:ln>
        </p:spPr>
        <p:txBody>
          <a:bodyPr wrap="square">
            <a:spAutoFit/>
          </a:bodyPr>
          <a:lstStyle/>
          <a:p>
            <a:pPr>
              <a:buNone/>
            </a:pPr>
            <a:r>
              <a:rPr lang="en-US" altLang="ko-KR" sz="2800" b="1" dirty="0">
                <a:latin typeface="Arial" panose="020B0604020202020204" pitchFamily="34" charset="0"/>
                <a:cs typeface="Arial" panose="020B0604020202020204" pitchFamily="34" charset="0"/>
              </a:rPr>
              <a:t>Affective Arousal</a:t>
            </a:r>
          </a:p>
          <a:p>
            <a:r>
              <a:rPr lang="en-US" altLang="ko-KR" sz="2000" b="1" spc="-100" dirty="0"/>
              <a:t>-&gt; right PT (P4)</a:t>
            </a:r>
            <a:r>
              <a:rPr lang="en-US" altLang="ko-KR" sz="2000" dirty="0"/>
              <a:t>* + </a:t>
            </a:r>
            <a:r>
              <a:rPr lang="en-US" altLang="ko-KR" sz="2000" b="1" spc="-100" dirty="0"/>
              <a:t>DMPFC (</a:t>
            </a:r>
            <a:r>
              <a:rPr lang="en-US" altLang="ko-KR" sz="2000" b="1" spc="-100" dirty="0" err="1"/>
              <a:t>AFz</a:t>
            </a:r>
            <a:r>
              <a:rPr lang="en-US" altLang="ko-KR" sz="2000" b="1" spc="-100" dirty="0"/>
              <a:t>)</a:t>
            </a:r>
            <a:r>
              <a:rPr lang="en-US" altLang="ko-KR" sz="2000" b="1" baseline="30000" dirty="0"/>
              <a:t>†</a:t>
            </a:r>
            <a:endParaRPr lang="en-US" altLang="ko-KR" sz="2000" b="1" dirty="0">
              <a:solidFill>
                <a:srgbClr val="FF0000"/>
              </a:solidFill>
              <a:latin typeface="Aptos" panose="020B0004020202020204" pitchFamily="34" charset="0"/>
              <a:cs typeface="Arial" panose="020B0604020202020204" pitchFamily="34" charset="0"/>
            </a:endParaRPr>
          </a:p>
        </p:txBody>
      </p:sp>
      <p:sp>
        <p:nvSpPr>
          <p:cNvPr id="54" name="Oval 38">
            <a:extLst>
              <a:ext uri="{FF2B5EF4-FFF2-40B4-BE49-F238E27FC236}">
                <a16:creationId xmlns:a16="http://schemas.microsoft.com/office/drawing/2014/main" id="{8B8395C9-3FA8-0332-A654-D05FF6B4AA19}"/>
              </a:ext>
            </a:extLst>
          </p:cNvPr>
          <p:cNvSpPr/>
          <p:nvPr/>
        </p:nvSpPr>
        <p:spPr>
          <a:xfrm>
            <a:off x="1822121" y="2431421"/>
            <a:ext cx="390804" cy="390804"/>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Oval 38">
            <a:extLst>
              <a:ext uri="{FF2B5EF4-FFF2-40B4-BE49-F238E27FC236}">
                <a16:creationId xmlns:a16="http://schemas.microsoft.com/office/drawing/2014/main" id="{8B8395C9-3FA8-0332-A654-D05FF6B4AA19}"/>
              </a:ext>
            </a:extLst>
          </p:cNvPr>
          <p:cNvSpPr/>
          <p:nvPr/>
        </p:nvSpPr>
        <p:spPr>
          <a:xfrm>
            <a:off x="2361878" y="4290298"/>
            <a:ext cx="390804" cy="390804"/>
          </a:xfrm>
          <a:prstGeom prst="ellipse">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63" name="Straight Arrow Connector 12">
            <a:extLst>
              <a:ext uri="{FF2B5EF4-FFF2-40B4-BE49-F238E27FC236}">
                <a16:creationId xmlns:a16="http://schemas.microsoft.com/office/drawing/2014/main" id="{59CAF35C-6EBA-FB95-7C99-777B6A0A04DA}"/>
              </a:ext>
            </a:extLst>
          </p:cNvPr>
          <p:cNvCxnSpPr>
            <a:cxnSpLocks/>
          </p:cNvCxnSpPr>
          <p:nvPr/>
        </p:nvCxnSpPr>
        <p:spPr>
          <a:xfrm>
            <a:off x="2133600" y="2673476"/>
            <a:ext cx="3715657" cy="2279524"/>
          </a:xfrm>
          <a:prstGeom prst="straightConnector1">
            <a:avLst/>
          </a:prstGeom>
          <a:ln>
            <a:solidFill>
              <a:srgbClr val="FF0000"/>
            </a:solidFill>
            <a:tailEnd type="triangle" w="lg" len="med"/>
          </a:ln>
        </p:spPr>
        <p:style>
          <a:lnRef idx="2">
            <a:schemeClr val="accent1"/>
          </a:lnRef>
          <a:fillRef idx="0">
            <a:schemeClr val="accent1"/>
          </a:fillRef>
          <a:effectRef idx="1">
            <a:schemeClr val="accent1"/>
          </a:effectRef>
          <a:fontRef idx="minor">
            <a:schemeClr val="tx1"/>
          </a:fontRef>
        </p:style>
      </p:cxnSp>
      <p:cxnSp>
        <p:nvCxnSpPr>
          <p:cNvPr id="64" name="Straight Arrow Connector 12">
            <a:extLst>
              <a:ext uri="{FF2B5EF4-FFF2-40B4-BE49-F238E27FC236}">
                <a16:creationId xmlns:a16="http://schemas.microsoft.com/office/drawing/2014/main" id="{59CAF35C-6EBA-FB95-7C99-777B6A0A04DA}"/>
              </a:ext>
            </a:extLst>
          </p:cNvPr>
          <p:cNvCxnSpPr>
            <a:cxnSpLocks/>
          </p:cNvCxnSpPr>
          <p:nvPr/>
        </p:nvCxnSpPr>
        <p:spPr>
          <a:xfrm>
            <a:off x="2609810" y="4501276"/>
            <a:ext cx="3239447" cy="559674"/>
          </a:xfrm>
          <a:prstGeom prst="straightConnector1">
            <a:avLst/>
          </a:prstGeom>
          <a:ln>
            <a:solidFill>
              <a:srgbClr val="FF0000"/>
            </a:solidFill>
            <a:tailEnd type="triangle" w="lg" len="med"/>
          </a:ln>
        </p:spPr>
        <p:style>
          <a:lnRef idx="2">
            <a:schemeClr val="accent1"/>
          </a:lnRef>
          <a:fillRef idx="0">
            <a:schemeClr val="accent1"/>
          </a:fillRef>
          <a:effectRef idx="1">
            <a:schemeClr val="accent1"/>
          </a:effectRef>
          <a:fontRef idx="minor">
            <a:schemeClr val="tx1"/>
          </a:fontRef>
        </p:style>
      </p:cxnSp>
      <p:sp>
        <p:nvSpPr>
          <p:cNvPr id="72" name="직사각형 71"/>
          <p:cNvSpPr/>
          <p:nvPr/>
        </p:nvSpPr>
        <p:spPr>
          <a:xfrm>
            <a:off x="5797549" y="1408315"/>
            <a:ext cx="6356352" cy="923330"/>
          </a:xfrm>
          <a:prstGeom prst="rect">
            <a:avLst/>
          </a:prstGeom>
        </p:spPr>
        <p:txBody>
          <a:bodyPr wrap="square">
            <a:spAutoFit/>
          </a:bodyPr>
          <a:lstStyle/>
          <a:p>
            <a:pPr algn="just"/>
            <a:r>
              <a:rPr lang="en-US" altLang="ko-KR" b="1" dirty="0"/>
              <a:t>Grounding on Russell’s Circumplex model of affect (1980), human affect consists of affective valence and affective arousal (</a:t>
            </a:r>
            <a:r>
              <a:rPr lang="en-US" altLang="ko-KR" b="1" dirty="0">
                <a:hlinkClick r:id="rId5" action="ppaction://hlinksldjump"/>
              </a:rPr>
              <a:t>More Info</a:t>
            </a:r>
            <a:r>
              <a:rPr lang="en-US" altLang="ko-KR" b="1" dirty="0"/>
              <a:t>).</a:t>
            </a:r>
          </a:p>
        </p:txBody>
      </p:sp>
    </p:spTree>
    <p:extLst>
      <p:ext uri="{BB962C8B-B14F-4D97-AF65-F5344CB8AC3E}">
        <p14:creationId xmlns:p14="http://schemas.microsoft.com/office/powerpoint/2010/main" val="1321456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48" grpId="0" animBg="1"/>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678BD-D1E6-28D2-1895-23485F9A26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7CE93D-E7DC-78AB-B7B0-B01C121B1772}"/>
              </a:ext>
            </a:extLst>
          </p:cNvPr>
          <p:cNvSpPr txBox="1"/>
          <p:nvPr/>
        </p:nvSpPr>
        <p:spPr>
          <a:xfrm>
            <a:off x="2" y="282169"/>
            <a:ext cx="10002558" cy="707886"/>
          </a:xfrm>
          <a:prstGeom prst="rect">
            <a:avLst/>
          </a:prstGeom>
          <a:noFill/>
        </p:spPr>
        <p:txBody>
          <a:bodyPr wrap="square" rtlCol="0">
            <a:spAutoFit/>
          </a:bodyPr>
          <a:lstStyle/>
          <a:p>
            <a:r>
              <a:rPr lang="en-US" sz="4000" b="1" dirty="0">
                <a:latin typeface="Arial Black" panose="020B0A04020102020204" pitchFamily="34" charset="0"/>
              </a:rPr>
              <a:t>Experiment Set up</a:t>
            </a:r>
            <a:endParaRPr lang="en-US" sz="4000" dirty="0">
              <a:latin typeface="Arial Black" panose="020B0A04020102020204" pitchFamily="34" charset="0"/>
            </a:endParaRPr>
          </a:p>
        </p:txBody>
      </p:sp>
      <p:sp>
        <p:nvSpPr>
          <p:cNvPr id="9" name="Rectangle 8">
            <a:extLst>
              <a:ext uri="{FF2B5EF4-FFF2-40B4-BE49-F238E27FC236}">
                <a16:creationId xmlns:a16="http://schemas.microsoft.com/office/drawing/2014/main" id="{EBE76A82-0FCE-1D29-13B5-6C0A485B1B4E}"/>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F7AFB57-44D6-AD9F-F1F8-129398B53FFE}"/>
              </a:ext>
            </a:extLst>
          </p:cNvPr>
          <p:cNvSpPr txBox="1"/>
          <p:nvPr/>
        </p:nvSpPr>
        <p:spPr>
          <a:xfrm>
            <a:off x="114300" y="1308770"/>
            <a:ext cx="5713063" cy="954107"/>
          </a:xfrm>
          <a:prstGeom prst="rect">
            <a:avLst/>
          </a:prstGeom>
          <a:noFill/>
        </p:spPr>
        <p:txBody>
          <a:bodyPr wrap="square">
            <a:spAutoFit/>
          </a:bodyPr>
          <a:lstStyle/>
          <a:p>
            <a:pPr>
              <a:buNone/>
            </a:pPr>
            <a:r>
              <a:rPr lang="en-US" altLang="ko-KR" sz="3600" b="1" dirty="0"/>
              <a:t>▪ </a:t>
            </a:r>
            <a:r>
              <a:rPr lang="en-US" altLang="ko-KR" sz="2800" b="1" dirty="0"/>
              <a:t>8 Electrodes Selected </a:t>
            </a:r>
          </a:p>
          <a:p>
            <a:pPr>
              <a:buNone/>
            </a:pPr>
            <a:r>
              <a:rPr lang="en-US" altLang="ko-KR" sz="2000" dirty="0"/>
              <a:t>* F3, FP1, </a:t>
            </a:r>
            <a:r>
              <a:rPr lang="en-US" altLang="ko-KR" sz="2000" b="1" dirty="0" err="1">
                <a:solidFill>
                  <a:srgbClr val="00B050"/>
                </a:solidFill>
              </a:rPr>
              <a:t>FPz</a:t>
            </a:r>
            <a:r>
              <a:rPr lang="en-US" altLang="ko-KR" sz="2000" dirty="0"/>
              <a:t>, </a:t>
            </a:r>
            <a:r>
              <a:rPr lang="en-US" altLang="ko-KR" sz="2000" dirty="0" err="1"/>
              <a:t>AFz</a:t>
            </a:r>
            <a:r>
              <a:rPr lang="en-US" altLang="ko-KR" sz="2000" dirty="0"/>
              <a:t>, FP2, F4, </a:t>
            </a:r>
            <a:r>
              <a:rPr lang="en-US" altLang="ko-KR" sz="2000" b="1" dirty="0">
                <a:solidFill>
                  <a:srgbClr val="7030A0"/>
                </a:solidFill>
              </a:rPr>
              <a:t>F8</a:t>
            </a:r>
            <a:r>
              <a:rPr lang="en-US" altLang="ko-KR" sz="2000" dirty="0"/>
              <a:t>, P4</a:t>
            </a:r>
          </a:p>
        </p:txBody>
      </p:sp>
      <p:pic>
        <p:nvPicPr>
          <p:cNvPr id="1028" name="Picture 4">
            <a:extLst>
              <a:ext uri="{FF2B5EF4-FFF2-40B4-BE49-F238E27FC236}">
                <a16:creationId xmlns:a16="http://schemas.microsoft.com/office/drawing/2014/main" id="{61DB4423-3A64-F474-9353-F21151790B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5812" y="3809811"/>
            <a:ext cx="3799268" cy="2674181"/>
          </a:xfrm>
          <a:prstGeom prst="rect">
            <a:avLst/>
          </a:prstGeom>
          <a:noFill/>
          <a:ln>
            <a:solidFill>
              <a:schemeClr val="accent1">
                <a:shade val="15000"/>
              </a:schemeClr>
            </a:solidFill>
          </a:ln>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759A4913-A534-D826-8DD2-44016861B60B}"/>
              </a:ext>
            </a:extLst>
          </p:cNvPr>
          <p:cNvSpPr txBox="1"/>
          <p:nvPr/>
        </p:nvSpPr>
        <p:spPr>
          <a:xfrm>
            <a:off x="114301" y="4477242"/>
            <a:ext cx="7061199" cy="646331"/>
          </a:xfrm>
          <a:prstGeom prst="rect">
            <a:avLst/>
          </a:prstGeom>
          <a:noFill/>
        </p:spPr>
        <p:txBody>
          <a:bodyPr wrap="square">
            <a:spAutoFit/>
          </a:bodyPr>
          <a:lstStyle/>
          <a:p>
            <a:pPr>
              <a:buNone/>
            </a:pPr>
            <a:r>
              <a:rPr lang="en-US" altLang="ko-KR" sz="3600" b="1" dirty="0"/>
              <a:t>▪ Customized </a:t>
            </a:r>
            <a:r>
              <a:rPr lang="en-US" altLang="ko-KR" sz="3600" b="1" dirty="0" err="1"/>
              <a:t>OpenBCI</a:t>
            </a:r>
            <a:r>
              <a:rPr lang="en-US" altLang="ko-KR" sz="3600" b="1" dirty="0"/>
              <a:t> </a:t>
            </a:r>
            <a:r>
              <a:rPr lang="en-US" altLang="ko-KR" sz="2000" b="1" dirty="0">
                <a:solidFill>
                  <a:schemeClr val="accent6">
                    <a:lumMod val="50000"/>
                  </a:schemeClr>
                </a:solidFill>
                <a:latin typeface="굴림" panose="020B0600000101010101" pitchFamily="50" charset="-127"/>
                <a:ea typeface="굴림" panose="020B0600000101010101" pitchFamily="50" charset="-127"/>
              </a:rPr>
              <a:t>*</a:t>
            </a:r>
            <a:endParaRPr lang="en-US" altLang="ko-KR" sz="3600" b="1" dirty="0">
              <a:solidFill>
                <a:schemeClr val="accent6">
                  <a:lumMod val="50000"/>
                </a:schemeClr>
              </a:solidFill>
              <a:latin typeface="굴림" panose="020B0600000101010101" pitchFamily="50" charset="-127"/>
              <a:ea typeface="굴림" panose="020B0600000101010101" pitchFamily="50" charset="-127"/>
            </a:endParaRPr>
          </a:p>
        </p:txBody>
      </p:sp>
      <p:sp>
        <p:nvSpPr>
          <p:cNvPr id="53" name="TextBox 52">
            <a:extLst>
              <a:ext uri="{FF2B5EF4-FFF2-40B4-BE49-F238E27FC236}">
                <a16:creationId xmlns:a16="http://schemas.microsoft.com/office/drawing/2014/main" id="{E44B7894-8208-9C78-868A-CB5BA6404DE5}"/>
              </a:ext>
            </a:extLst>
          </p:cNvPr>
          <p:cNvSpPr txBox="1"/>
          <p:nvPr/>
        </p:nvSpPr>
        <p:spPr>
          <a:xfrm>
            <a:off x="387616" y="5335302"/>
            <a:ext cx="7334767" cy="769441"/>
          </a:xfrm>
          <a:prstGeom prst="rect">
            <a:avLst/>
          </a:prstGeom>
          <a:noFill/>
        </p:spPr>
        <p:txBody>
          <a:bodyPr wrap="square">
            <a:spAutoFit/>
          </a:bodyPr>
          <a:lstStyle/>
          <a:p>
            <a:r>
              <a:rPr lang="en-US" altLang="ko-KR" sz="2200" dirty="0"/>
              <a:t>* </a:t>
            </a:r>
            <a:r>
              <a:rPr lang="en-US" altLang="ko-KR" sz="2200" dirty="0" err="1"/>
              <a:t>JunEEGLAB</a:t>
            </a:r>
            <a:r>
              <a:rPr lang="en-US" altLang="ko-KR" sz="2200" dirty="0"/>
              <a:t> Program reduce noises in EEG signal(eye blink, facial movement etc.)</a:t>
            </a:r>
            <a:endParaRPr lang="ko-KR" altLang="en-US" sz="2200" dirty="0"/>
          </a:p>
        </p:txBody>
      </p:sp>
      <p:pic>
        <p:nvPicPr>
          <p:cNvPr id="55" name="그림 1">
            <a:extLst>
              <a:ext uri="{FF2B5EF4-FFF2-40B4-BE49-F238E27FC236}">
                <a16:creationId xmlns:a16="http://schemas.microsoft.com/office/drawing/2014/main" id="{544CED99-865E-5558-CD6F-EC52A085EC9E}"/>
              </a:ext>
            </a:extLst>
          </p:cNvPr>
          <p:cNvPicPr>
            <a:picLocks noChangeAspect="1"/>
          </p:cNvPicPr>
          <p:nvPr/>
        </p:nvPicPr>
        <p:blipFill>
          <a:blip r:embed="rId4"/>
          <a:stretch>
            <a:fillRect/>
          </a:stretch>
        </p:blipFill>
        <p:spPr>
          <a:xfrm>
            <a:off x="5724822" y="1387776"/>
            <a:ext cx="6100258" cy="2250092"/>
          </a:xfrm>
          <a:prstGeom prst="rect">
            <a:avLst/>
          </a:prstGeom>
        </p:spPr>
      </p:pic>
      <p:sp>
        <p:nvSpPr>
          <p:cNvPr id="58" name="TextBox 57">
            <a:extLst>
              <a:ext uri="{FF2B5EF4-FFF2-40B4-BE49-F238E27FC236}">
                <a16:creationId xmlns:a16="http://schemas.microsoft.com/office/drawing/2014/main" id="{AD94EAB0-727C-805C-02DC-8B2190B8B54C}"/>
              </a:ext>
            </a:extLst>
          </p:cNvPr>
          <p:cNvSpPr txBox="1"/>
          <p:nvPr/>
        </p:nvSpPr>
        <p:spPr>
          <a:xfrm>
            <a:off x="114301" y="3083434"/>
            <a:ext cx="5454664" cy="584775"/>
          </a:xfrm>
          <a:prstGeom prst="rect">
            <a:avLst/>
          </a:prstGeom>
          <a:noFill/>
        </p:spPr>
        <p:txBody>
          <a:bodyPr wrap="square">
            <a:spAutoFit/>
          </a:bodyPr>
          <a:lstStyle/>
          <a:p>
            <a:pPr>
              <a:buNone/>
            </a:pPr>
            <a:r>
              <a:rPr lang="en-US" altLang="ko-KR" sz="3200" b="1" dirty="0"/>
              <a:t>▪ Facial Mimicry Test</a:t>
            </a:r>
          </a:p>
        </p:txBody>
      </p:sp>
      <p:sp>
        <p:nvSpPr>
          <p:cNvPr id="3" name="Oval 2">
            <a:extLst>
              <a:ext uri="{FF2B5EF4-FFF2-40B4-BE49-F238E27FC236}">
                <a16:creationId xmlns:a16="http://schemas.microsoft.com/office/drawing/2014/main" id="{D7E2905E-484B-E5B5-9692-8924356749C9}"/>
              </a:ext>
            </a:extLst>
          </p:cNvPr>
          <p:cNvSpPr/>
          <p:nvPr/>
        </p:nvSpPr>
        <p:spPr>
          <a:xfrm>
            <a:off x="9687093" y="1708862"/>
            <a:ext cx="413886" cy="355275"/>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Oval 3">
            <a:extLst>
              <a:ext uri="{FF2B5EF4-FFF2-40B4-BE49-F238E27FC236}">
                <a16:creationId xmlns:a16="http://schemas.microsoft.com/office/drawing/2014/main" id="{45263AD0-33E5-2433-550B-944C8C8C9B30}"/>
              </a:ext>
            </a:extLst>
          </p:cNvPr>
          <p:cNvSpPr/>
          <p:nvPr/>
        </p:nvSpPr>
        <p:spPr>
          <a:xfrm>
            <a:off x="10994622" y="2051437"/>
            <a:ext cx="413886" cy="355275"/>
          </a:xfrm>
          <a:prstGeom prst="ellipse">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24FD2422-6D68-2907-BCCE-9EBFA267A46D}"/>
              </a:ext>
            </a:extLst>
          </p:cNvPr>
          <p:cNvSpPr txBox="1"/>
          <p:nvPr/>
        </p:nvSpPr>
        <p:spPr>
          <a:xfrm>
            <a:off x="7845735" y="6471269"/>
            <a:ext cx="1678312" cy="369332"/>
          </a:xfrm>
          <a:prstGeom prst="rect">
            <a:avLst/>
          </a:prstGeom>
          <a:noFill/>
        </p:spPr>
        <p:txBody>
          <a:bodyPr wrap="square">
            <a:spAutoFit/>
          </a:bodyPr>
          <a:lstStyle/>
          <a:p>
            <a:r>
              <a:rPr lang="en-US" altLang="ko-KR" dirty="0"/>
              <a:t>*</a:t>
            </a:r>
            <a:r>
              <a:rPr lang="en-US" altLang="ko-KR" dirty="0" err="1"/>
              <a:t>JunEEGLAB</a:t>
            </a:r>
            <a:endParaRPr lang="ko-KR" altLang="en-US" dirty="0"/>
          </a:p>
        </p:txBody>
      </p:sp>
      <p:sp>
        <p:nvSpPr>
          <p:cNvPr id="16" name="TextBox 15">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4/10</a:t>
            </a:r>
            <a:endParaRPr lang="ko-KR" altLang="en-US" b="1" dirty="0"/>
          </a:p>
        </p:txBody>
      </p:sp>
    </p:spTree>
    <p:extLst>
      <p:ext uri="{BB962C8B-B14F-4D97-AF65-F5344CB8AC3E}">
        <p14:creationId xmlns:p14="http://schemas.microsoft.com/office/powerpoint/2010/main" val="68613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0B566-9B78-328A-DA23-F2EB48F09A41}"/>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5170787D-9E6B-E3A0-25A0-A0FEABFAAE81}"/>
              </a:ext>
            </a:extLst>
          </p:cNvPr>
          <p:cNvGrpSpPr/>
          <p:nvPr/>
        </p:nvGrpSpPr>
        <p:grpSpPr>
          <a:xfrm>
            <a:off x="406400" y="2288345"/>
            <a:ext cx="3276600" cy="4072651"/>
            <a:chOff x="406400" y="2764538"/>
            <a:chExt cx="3276600" cy="4072651"/>
          </a:xfrm>
        </p:grpSpPr>
        <p:sp>
          <p:nvSpPr>
            <p:cNvPr id="9" name="Rectangle: Rounded Corners 8">
              <a:extLst>
                <a:ext uri="{FF2B5EF4-FFF2-40B4-BE49-F238E27FC236}">
                  <a16:creationId xmlns:a16="http://schemas.microsoft.com/office/drawing/2014/main" id="{DB380C65-B638-76CE-4BE7-6496765AF2CC}"/>
                </a:ext>
              </a:extLst>
            </p:cNvPr>
            <p:cNvSpPr/>
            <p:nvPr/>
          </p:nvSpPr>
          <p:spPr>
            <a:xfrm>
              <a:off x="406400" y="3077193"/>
              <a:ext cx="3276600" cy="3759996"/>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Rounded Corners 9">
              <a:extLst>
                <a:ext uri="{FF2B5EF4-FFF2-40B4-BE49-F238E27FC236}">
                  <a16:creationId xmlns:a16="http://schemas.microsoft.com/office/drawing/2014/main" id="{D785E4C8-3A06-B8C6-64D4-1B0B97B5B2B1}"/>
                </a:ext>
              </a:extLst>
            </p:cNvPr>
            <p:cNvSpPr/>
            <p:nvPr/>
          </p:nvSpPr>
          <p:spPr>
            <a:xfrm>
              <a:off x="406400" y="2764538"/>
              <a:ext cx="3276600" cy="664462"/>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800" b="1" dirty="0">
                  <a:solidFill>
                    <a:schemeClr val="tx1"/>
                  </a:solidFill>
                  <a:latin typeface="Arial" panose="020B0604020202020204" pitchFamily="34" charset="0"/>
                  <a:cs typeface="Arial" panose="020B0604020202020204" pitchFamily="34" charset="0"/>
                </a:rPr>
                <a:t>Data Collection</a:t>
              </a:r>
            </a:p>
          </p:txBody>
        </p:sp>
      </p:grpSp>
      <p:grpSp>
        <p:nvGrpSpPr>
          <p:cNvPr id="24" name="Group 23">
            <a:extLst>
              <a:ext uri="{FF2B5EF4-FFF2-40B4-BE49-F238E27FC236}">
                <a16:creationId xmlns:a16="http://schemas.microsoft.com/office/drawing/2014/main" id="{8B88606A-31C8-26B9-BB25-B2AC90C6DA05}"/>
              </a:ext>
            </a:extLst>
          </p:cNvPr>
          <p:cNvGrpSpPr/>
          <p:nvPr/>
        </p:nvGrpSpPr>
        <p:grpSpPr>
          <a:xfrm>
            <a:off x="4324350" y="2288345"/>
            <a:ext cx="3276600" cy="4072651"/>
            <a:chOff x="3937000" y="2764538"/>
            <a:chExt cx="3276600" cy="4072651"/>
          </a:xfrm>
        </p:grpSpPr>
        <p:sp>
          <p:nvSpPr>
            <p:cNvPr id="11" name="Rectangle: Rounded Corners 10">
              <a:extLst>
                <a:ext uri="{FF2B5EF4-FFF2-40B4-BE49-F238E27FC236}">
                  <a16:creationId xmlns:a16="http://schemas.microsoft.com/office/drawing/2014/main" id="{4D8534C1-2AC1-1964-6395-651DFDF1079F}"/>
                </a:ext>
              </a:extLst>
            </p:cNvPr>
            <p:cNvSpPr/>
            <p:nvPr/>
          </p:nvSpPr>
          <p:spPr>
            <a:xfrm>
              <a:off x="3937000" y="3077193"/>
              <a:ext cx="3276600" cy="3759996"/>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Rectangle: Rounded Corners 11">
              <a:extLst>
                <a:ext uri="{FF2B5EF4-FFF2-40B4-BE49-F238E27FC236}">
                  <a16:creationId xmlns:a16="http://schemas.microsoft.com/office/drawing/2014/main" id="{2FF8D39D-950F-0E5C-C473-02C09B9947CC}"/>
                </a:ext>
              </a:extLst>
            </p:cNvPr>
            <p:cNvSpPr/>
            <p:nvPr/>
          </p:nvSpPr>
          <p:spPr>
            <a:xfrm>
              <a:off x="3937000" y="2764538"/>
              <a:ext cx="3276600" cy="664462"/>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800" b="1" dirty="0">
                  <a:solidFill>
                    <a:schemeClr val="tx1"/>
                  </a:solidFill>
                  <a:latin typeface="Arial" panose="020B0604020202020204" pitchFamily="34" charset="0"/>
                  <a:cs typeface="Arial" panose="020B0604020202020204" pitchFamily="34" charset="0"/>
                </a:rPr>
                <a:t>Preprocessing</a:t>
              </a:r>
            </a:p>
          </p:txBody>
        </p:sp>
      </p:grpSp>
      <p:grpSp>
        <p:nvGrpSpPr>
          <p:cNvPr id="25" name="Group 24">
            <a:extLst>
              <a:ext uri="{FF2B5EF4-FFF2-40B4-BE49-F238E27FC236}">
                <a16:creationId xmlns:a16="http://schemas.microsoft.com/office/drawing/2014/main" id="{2F341255-4164-E4CA-DD1F-A23279225C3B}"/>
              </a:ext>
            </a:extLst>
          </p:cNvPr>
          <p:cNvGrpSpPr/>
          <p:nvPr/>
        </p:nvGrpSpPr>
        <p:grpSpPr>
          <a:xfrm>
            <a:off x="8331200" y="2288345"/>
            <a:ext cx="3276600" cy="4072651"/>
            <a:chOff x="8242300" y="2764538"/>
            <a:chExt cx="3276600" cy="4072651"/>
          </a:xfrm>
        </p:grpSpPr>
        <p:sp>
          <p:nvSpPr>
            <p:cNvPr id="13" name="Rectangle: Rounded Corners 12">
              <a:extLst>
                <a:ext uri="{FF2B5EF4-FFF2-40B4-BE49-F238E27FC236}">
                  <a16:creationId xmlns:a16="http://schemas.microsoft.com/office/drawing/2014/main" id="{AE7F3FBE-BF3A-B325-67E6-9DF686A74F08}"/>
                </a:ext>
              </a:extLst>
            </p:cNvPr>
            <p:cNvSpPr/>
            <p:nvPr/>
          </p:nvSpPr>
          <p:spPr>
            <a:xfrm>
              <a:off x="8242300" y="3077193"/>
              <a:ext cx="3276600" cy="3759996"/>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Rectangle: Rounded Corners 13">
              <a:extLst>
                <a:ext uri="{FF2B5EF4-FFF2-40B4-BE49-F238E27FC236}">
                  <a16:creationId xmlns:a16="http://schemas.microsoft.com/office/drawing/2014/main" id="{E7CDBB5E-974E-263E-30CD-48F28A086AEE}"/>
                </a:ext>
              </a:extLst>
            </p:cNvPr>
            <p:cNvSpPr/>
            <p:nvPr/>
          </p:nvSpPr>
          <p:spPr>
            <a:xfrm>
              <a:off x="8242300" y="2764538"/>
              <a:ext cx="3276600" cy="664462"/>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800" b="1" spc="-110" dirty="0">
                  <a:solidFill>
                    <a:schemeClr val="tx1"/>
                  </a:solidFill>
                  <a:latin typeface="Arial" panose="020B0604020202020204" pitchFamily="34" charset="0"/>
                  <a:cs typeface="Arial" panose="020B0604020202020204" pitchFamily="34" charset="0"/>
                </a:rPr>
                <a:t>Train/Test AI Model</a:t>
              </a:r>
            </a:p>
          </p:txBody>
        </p:sp>
      </p:grpSp>
      <p:sp>
        <p:nvSpPr>
          <p:cNvPr id="4" name="Rectangle 3">
            <a:extLst>
              <a:ext uri="{FF2B5EF4-FFF2-40B4-BE49-F238E27FC236}">
                <a16:creationId xmlns:a16="http://schemas.microsoft.com/office/drawing/2014/main" id="{962B7F36-0AA0-A3AB-6020-746C7189BDF1}"/>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727CEF6-11DD-F012-E9D7-275C938F5BA3}"/>
              </a:ext>
            </a:extLst>
          </p:cNvPr>
          <p:cNvSpPr txBox="1"/>
          <p:nvPr/>
        </p:nvSpPr>
        <p:spPr>
          <a:xfrm>
            <a:off x="2" y="282169"/>
            <a:ext cx="10002558" cy="707886"/>
          </a:xfrm>
          <a:prstGeom prst="rect">
            <a:avLst/>
          </a:prstGeom>
          <a:noFill/>
        </p:spPr>
        <p:txBody>
          <a:bodyPr wrap="square" rtlCol="0">
            <a:spAutoFit/>
          </a:bodyPr>
          <a:lstStyle/>
          <a:p>
            <a:r>
              <a:rPr lang="en-US" sz="4000" b="1" dirty="0">
                <a:latin typeface="Arial Black" panose="020B0A04020102020204" pitchFamily="34" charset="0"/>
              </a:rPr>
              <a:t>Experiment Design</a:t>
            </a:r>
            <a:endParaRPr lang="en-US" sz="4000" dirty="0">
              <a:latin typeface="Arial Black" panose="020B0A04020102020204" pitchFamily="34" charset="0"/>
            </a:endParaRPr>
          </a:p>
        </p:txBody>
      </p:sp>
      <p:sp>
        <p:nvSpPr>
          <p:cNvPr id="18" name="TextBox 17">
            <a:extLst>
              <a:ext uri="{FF2B5EF4-FFF2-40B4-BE49-F238E27FC236}">
                <a16:creationId xmlns:a16="http://schemas.microsoft.com/office/drawing/2014/main" id="{15993B54-0EFF-247F-3C7D-A5468EA68CB2}"/>
              </a:ext>
            </a:extLst>
          </p:cNvPr>
          <p:cNvSpPr txBox="1"/>
          <p:nvPr/>
        </p:nvSpPr>
        <p:spPr>
          <a:xfrm>
            <a:off x="4324350" y="3135430"/>
            <a:ext cx="3276600" cy="1323439"/>
          </a:xfrm>
          <a:prstGeom prst="rect">
            <a:avLst/>
          </a:prstGeom>
          <a:noFill/>
        </p:spPr>
        <p:txBody>
          <a:bodyPr wrap="square" rtlCol="0">
            <a:spAutoFit/>
          </a:bodyPr>
          <a:lstStyle/>
          <a:p>
            <a:pPr algn="ctr"/>
            <a:r>
              <a:rPr lang="en-US" sz="2800" b="1" spc="-100" dirty="0">
                <a:latin typeface="Arial" panose="020B0604020202020204" pitchFamily="34" charset="0"/>
                <a:cs typeface="Arial" panose="020B0604020202020204" pitchFamily="34" charset="0"/>
              </a:rPr>
              <a:t>Noise Reduction</a:t>
            </a:r>
          </a:p>
          <a:p>
            <a:pPr algn="ctr"/>
            <a:r>
              <a:rPr lang="en-US" sz="2800" b="1" spc="-100" dirty="0">
                <a:latin typeface="Arial" panose="020B0604020202020204" pitchFamily="34" charset="0"/>
                <a:cs typeface="Arial" panose="020B0604020202020204" pitchFamily="34" charset="0"/>
              </a:rPr>
              <a:t>Feature Extraction</a:t>
            </a:r>
          </a:p>
          <a:p>
            <a:pPr algn="ctr"/>
            <a:r>
              <a:rPr lang="en-US" sz="2400" b="1" spc="-100" dirty="0">
                <a:latin typeface="Arial" panose="020B0604020202020204" pitchFamily="34" charset="0"/>
                <a:cs typeface="Arial" panose="020B0604020202020204" pitchFamily="34" charset="0"/>
              </a:rPr>
              <a:t>(STFT)</a:t>
            </a:r>
          </a:p>
        </p:txBody>
      </p:sp>
      <p:sp>
        <p:nvSpPr>
          <p:cNvPr id="22" name="TextBox 21">
            <a:extLst>
              <a:ext uri="{FF2B5EF4-FFF2-40B4-BE49-F238E27FC236}">
                <a16:creationId xmlns:a16="http://schemas.microsoft.com/office/drawing/2014/main" id="{79E83226-854D-C5F1-5FD7-F1CE54AB0C42}"/>
              </a:ext>
            </a:extLst>
          </p:cNvPr>
          <p:cNvSpPr txBox="1"/>
          <p:nvPr/>
        </p:nvSpPr>
        <p:spPr>
          <a:xfrm>
            <a:off x="609600" y="3056399"/>
            <a:ext cx="287020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Facial Mimicry</a:t>
            </a:r>
          </a:p>
        </p:txBody>
      </p:sp>
      <p:sp>
        <p:nvSpPr>
          <p:cNvPr id="15" name="TextBox 14">
            <a:extLst>
              <a:ext uri="{FF2B5EF4-FFF2-40B4-BE49-F238E27FC236}">
                <a16:creationId xmlns:a16="http://schemas.microsoft.com/office/drawing/2014/main" id="{D2746003-D3DA-D913-7C88-2BFF4EB599A8}"/>
              </a:ext>
            </a:extLst>
          </p:cNvPr>
          <p:cNvSpPr txBox="1"/>
          <p:nvPr/>
        </p:nvSpPr>
        <p:spPr>
          <a:xfrm>
            <a:off x="609600" y="4740585"/>
            <a:ext cx="2870200" cy="400110"/>
          </a:xfrm>
          <a:prstGeom prst="rect">
            <a:avLst/>
          </a:prstGeom>
          <a:noFill/>
        </p:spPr>
        <p:txBody>
          <a:bodyPr wrap="square" rtlCol="0">
            <a:spAutoFit/>
          </a:bodyPr>
          <a:lstStyle/>
          <a:p>
            <a:pPr algn="ctr"/>
            <a:r>
              <a:rPr lang="en-US" sz="2000" b="1" dirty="0">
                <a:solidFill>
                  <a:schemeClr val="accent6">
                    <a:lumMod val="75000"/>
                  </a:schemeClr>
                </a:solidFill>
                <a:latin typeface="Arial" panose="020B0604020202020204" pitchFamily="34" charset="0"/>
                <a:cs typeface="Arial" panose="020B0604020202020204" pitchFamily="34" charset="0"/>
              </a:rPr>
              <a:t>* 12 Participants</a:t>
            </a:r>
          </a:p>
        </p:txBody>
      </p:sp>
      <p:pic>
        <p:nvPicPr>
          <p:cNvPr id="16" name="그림 1">
            <a:extLst>
              <a:ext uri="{FF2B5EF4-FFF2-40B4-BE49-F238E27FC236}">
                <a16:creationId xmlns:a16="http://schemas.microsoft.com/office/drawing/2014/main" id="{D1AFCB14-02E5-9C72-1237-9C1DA90602FA}"/>
              </a:ext>
            </a:extLst>
          </p:cNvPr>
          <p:cNvPicPr>
            <a:picLocks noChangeAspect="1"/>
          </p:cNvPicPr>
          <p:nvPr/>
        </p:nvPicPr>
        <p:blipFill>
          <a:blip r:embed="rId3"/>
          <a:stretch>
            <a:fillRect/>
          </a:stretch>
        </p:blipFill>
        <p:spPr>
          <a:xfrm>
            <a:off x="5224629" y="4491366"/>
            <a:ext cx="1742742" cy="1568931"/>
          </a:xfrm>
          <a:prstGeom prst="rect">
            <a:avLst/>
          </a:prstGeom>
        </p:spPr>
      </p:pic>
      <p:pic>
        <p:nvPicPr>
          <p:cNvPr id="17" name="그림 1">
            <a:extLst>
              <a:ext uri="{FF2B5EF4-FFF2-40B4-BE49-F238E27FC236}">
                <a16:creationId xmlns:a16="http://schemas.microsoft.com/office/drawing/2014/main" id="{5803E8E3-892B-1A93-A615-64BE6AD869F6}"/>
              </a:ext>
            </a:extLst>
          </p:cNvPr>
          <p:cNvPicPr>
            <a:picLocks noChangeAspect="1"/>
          </p:cNvPicPr>
          <p:nvPr/>
        </p:nvPicPr>
        <p:blipFill>
          <a:blip r:embed="rId4"/>
          <a:srcRect l="3578" t="5843" r="46287"/>
          <a:stretch>
            <a:fillRect/>
          </a:stretch>
        </p:blipFill>
        <p:spPr>
          <a:xfrm>
            <a:off x="844549" y="3647778"/>
            <a:ext cx="2350185" cy="1628054"/>
          </a:xfrm>
          <a:prstGeom prst="rect">
            <a:avLst/>
          </a:prstGeom>
        </p:spPr>
      </p:pic>
      <p:sp>
        <p:nvSpPr>
          <p:cNvPr id="19" name="Rectangle: Rounded Corners 18">
            <a:extLst>
              <a:ext uri="{FF2B5EF4-FFF2-40B4-BE49-F238E27FC236}">
                <a16:creationId xmlns:a16="http://schemas.microsoft.com/office/drawing/2014/main" id="{57C125CC-E61C-77CB-13A3-A278C9D84D00}"/>
              </a:ext>
            </a:extLst>
          </p:cNvPr>
          <p:cNvSpPr/>
          <p:nvPr/>
        </p:nvSpPr>
        <p:spPr>
          <a:xfrm>
            <a:off x="406400" y="2066725"/>
            <a:ext cx="3276600" cy="3187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400" dirty="0"/>
              <a:t>Step 1</a:t>
            </a:r>
            <a:endParaRPr lang="ko-KR" altLang="en-US" sz="2400" dirty="0"/>
          </a:p>
        </p:txBody>
      </p:sp>
      <p:sp>
        <p:nvSpPr>
          <p:cNvPr id="20" name="Rectangle: Rounded Corners 19">
            <a:extLst>
              <a:ext uri="{FF2B5EF4-FFF2-40B4-BE49-F238E27FC236}">
                <a16:creationId xmlns:a16="http://schemas.microsoft.com/office/drawing/2014/main" id="{206B3F77-1220-8704-84CE-434A4D464257}"/>
              </a:ext>
            </a:extLst>
          </p:cNvPr>
          <p:cNvSpPr/>
          <p:nvPr/>
        </p:nvSpPr>
        <p:spPr>
          <a:xfrm>
            <a:off x="4324350" y="2066725"/>
            <a:ext cx="3276600" cy="3187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400" dirty="0"/>
              <a:t>Step 2</a:t>
            </a:r>
            <a:endParaRPr lang="ko-KR" altLang="en-US" sz="2400" dirty="0"/>
          </a:p>
        </p:txBody>
      </p:sp>
      <p:sp>
        <p:nvSpPr>
          <p:cNvPr id="26" name="Rectangle: Rounded Corners 25">
            <a:extLst>
              <a:ext uri="{FF2B5EF4-FFF2-40B4-BE49-F238E27FC236}">
                <a16:creationId xmlns:a16="http://schemas.microsoft.com/office/drawing/2014/main" id="{07408FF1-DDC4-2A67-703B-2D9520F759AB}"/>
              </a:ext>
            </a:extLst>
          </p:cNvPr>
          <p:cNvSpPr/>
          <p:nvPr/>
        </p:nvSpPr>
        <p:spPr>
          <a:xfrm>
            <a:off x="8331200" y="2066725"/>
            <a:ext cx="3276600" cy="3187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400" dirty="0"/>
              <a:t>Step 3</a:t>
            </a:r>
            <a:endParaRPr lang="ko-KR" altLang="en-US" sz="2400" dirty="0"/>
          </a:p>
        </p:txBody>
      </p:sp>
      <p:pic>
        <p:nvPicPr>
          <p:cNvPr id="27" name="Picture 26">
            <a:extLst>
              <a:ext uri="{FF2B5EF4-FFF2-40B4-BE49-F238E27FC236}">
                <a16:creationId xmlns:a16="http://schemas.microsoft.com/office/drawing/2014/main" id="{B534C353-D8BE-6D8F-CB4D-8DFFA76F6D5B}"/>
              </a:ext>
            </a:extLst>
          </p:cNvPr>
          <p:cNvPicPr>
            <a:picLocks noChangeAspect="1"/>
          </p:cNvPicPr>
          <p:nvPr/>
        </p:nvPicPr>
        <p:blipFill>
          <a:blip r:embed="rId5"/>
          <a:stretch>
            <a:fillRect/>
          </a:stretch>
        </p:blipFill>
        <p:spPr>
          <a:xfrm>
            <a:off x="8456779" y="3684473"/>
            <a:ext cx="3043932" cy="2375824"/>
          </a:xfrm>
          <a:prstGeom prst="rect">
            <a:avLst/>
          </a:prstGeom>
        </p:spPr>
      </p:pic>
      <p:sp>
        <p:nvSpPr>
          <p:cNvPr id="28" name="TextBox 27">
            <a:extLst>
              <a:ext uri="{FF2B5EF4-FFF2-40B4-BE49-F238E27FC236}">
                <a16:creationId xmlns:a16="http://schemas.microsoft.com/office/drawing/2014/main" id="{29212D7B-144F-092D-14A7-6BAB992A1F7A}"/>
              </a:ext>
            </a:extLst>
          </p:cNvPr>
          <p:cNvSpPr txBox="1"/>
          <p:nvPr/>
        </p:nvSpPr>
        <p:spPr>
          <a:xfrm>
            <a:off x="9236075" y="3149958"/>
            <a:ext cx="1466850" cy="523220"/>
          </a:xfrm>
          <a:prstGeom prst="rect">
            <a:avLst/>
          </a:prstGeom>
          <a:noFill/>
        </p:spPr>
        <p:txBody>
          <a:bodyPr wrap="square" rtlCol="0">
            <a:spAutoFit/>
          </a:bodyPr>
          <a:lstStyle/>
          <a:p>
            <a:pPr algn="ctr"/>
            <a:r>
              <a:rPr lang="en-US" sz="2800" b="1" spc="-100" dirty="0" err="1">
                <a:latin typeface="Arial" panose="020B0604020202020204" pitchFamily="34" charset="0"/>
                <a:cs typeface="Arial" panose="020B0604020202020204" pitchFamily="34" charset="0"/>
              </a:rPr>
              <a:t>BiLSTM</a:t>
            </a:r>
            <a:endParaRPr lang="en-US" sz="2800" b="1" spc="-1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D09AA7E1-948A-0D40-A8B6-EFF496262A0C}"/>
              </a:ext>
            </a:extLst>
          </p:cNvPr>
          <p:cNvSpPr txBox="1"/>
          <p:nvPr/>
        </p:nvSpPr>
        <p:spPr>
          <a:xfrm>
            <a:off x="114300" y="1316802"/>
            <a:ext cx="6526723" cy="646331"/>
          </a:xfrm>
          <a:prstGeom prst="rect">
            <a:avLst/>
          </a:prstGeom>
          <a:noFill/>
        </p:spPr>
        <p:txBody>
          <a:bodyPr wrap="square">
            <a:spAutoFit/>
          </a:bodyPr>
          <a:lstStyle/>
          <a:p>
            <a:pPr>
              <a:buNone/>
            </a:pPr>
            <a:r>
              <a:rPr lang="en-US" altLang="ko-KR" sz="3600" b="1" dirty="0"/>
              <a:t>▪ Flow of Experiment</a:t>
            </a:r>
          </a:p>
        </p:txBody>
      </p:sp>
      <p:sp>
        <p:nvSpPr>
          <p:cNvPr id="30" name="Arrow: Right 29">
            <a:extLst>
              <a:ext uri="{FF2B5EF4-FFF2-40B4-BE49-F238E27FC236}">
                <a16:creationId xmlns:a16="http://schemas.microsoft.com/office/drawing/2014/main" id="{16AD9ED9-2E18-1F32-8449-2A9ADA28E41C}"/>
              </a:ext>
            </a:extLst>
          </p:cNvPr>
          <p:cNvSpPr/>
          <p:nvPr/>
        </p:nvSpPr>
        <p:spPr>
          <a:xfrm>
            <a:off x="3835898" y="2376434"/>
            <a:ext cx="327783" cy="318718"/>
          </a:xfrm>
          <a:prstGeom prst="rightArrow">
            <a:avLst>
              <a:gd name="adj1" fmla="val 50000"/>
              <a:gd name="adj2" fmla="val 5177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8AEA8B3E-EB68-380D-A59A-4C238F49A10C}"/>
              </a:ext>
            </a:extLst>
          </p:cNvPr>
          <p:cNvSpPr/>
          <p:nvPr/>
        </p:nvSpPr>
        <p:spPr>
          <a:xfrm>
            <a:off x="7807428" y="2376434"/>
            <a:ext cx="327783" cy="318718"/>
          </a:xfrm>
          <a:prstGeom prst="rightArrow">
            <a:avLst>
              <a:gd name="adj1" fmla="val 50000"/>
              <a:gd name="adj2" fmla="val 5177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5/10</a:t>
            </a:r>
            <a:endParaRPr lang="ko-KR" altLang="en-US" b="1" dirty="0"/>
          </a:p>
        </p:txBody>
      </p:sp>
    </p:spTree>
    <p:extLst>
      <p:ext uri="{BB962C8B-B14F-4D97-AF65-F5344CB8AC3E}">
        <p14:creationId xmlns:p14="http://schemas.microsoft.com/office/powerpoint/2010/main" val="1342746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7A6EB-44F8-50C3-3A5D-6C0C81C821B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4FAB351-AF7F-2D8F-1394-741201E7118C}"/>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D0BB41-BA63-5DED-8B2C-13B5F009EF80}"/>
              </a:ext>
            </a:extLst>
          </p:cNvPr>
          <p:cNvSpPr txBox="1"/>
          <p:nvPr/>
        </p:nvSpPr>
        <p:spPr>
          <a:xfrm>
            <a:off x="2" y="282169"/>
            <a:ext cx="10002558" cy="707886"/>
          </a:xfrm>
          <a:prstGeom prst="rect">
            <a:avLst/>
          </a:prstGeom>
          <a:noFill/>
        </p:spPr>
        <p:txBody>
          <a:bodyPr wrap="square" rtlCol="0">
            <a:spAutoFit/>
          </a:bodyPr>
          <a:lstStyle/>
          <a:p>
            <a:r>
              <a:rPr lang="en-US" sz="4000" b="1" dirty="0">
                <a:latin typeface="Arial Black" panose="020B0A04020102020204" pitchFamily="34" charset="0"/>
              </a:rPr>
              <a:t>Experiment</a:t>
            </a:r>
            <a:endParaRPr lang="en-US" sz="4000" dirty="0">
              <a:latin typeface="Arial Black" panose="020B0A04020102020204" pitchFamily="34" charset="0"/>
            </a:endParaRPr>
          </a:p>
        </p:txBody>
      </p:sp>
      <p:pic>
        <p:nvPicPr>
          <p:cNvPr id="2050" name="Picture 2">
            <a:extLst>
              <a:ext uri="{FF2B5EF4-FFF2-40B4-BE49-F238E27FC236}">
                <a16:creationId xmlns:a16="http://schemas.microsoft.com/office/drawing/2014/main" id="{A24BD4DC-A1B1-1C38-90BE-985ECB225B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099" y="1993610"/>
            <a:ext cx="11480800" cy="43944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C3FDC56-44F0-A8EB-FC69-5C96564D686E}"/>
              </a:ext>
            </a:extLst>
          </p:cNvPr>
          <p:cNvSpPr txBox="1"/>
          <p:nvPr/>
        </p:nvSpPr>
        <p:spPr>
          <a:xfrm>
            <a:off x="165100" y="1347279"/>
            <a:ext cx="7243089" cy="615553"/>
          </a:xfrm>
          <a:prstGeom prst="rect">
            <a:avLst/>
          </a:prstGeom>
          <a:noFill/>
        </p:spPr>
        <p:txBody>
          <a:bodyPr wrap="square">
            <a:spAutoFit/>
          </a:bodyPr>
          <a:lstStyle/>
          <a:p>
            <a:pPr>
              <a:buNone/>
            </a:pPr>
            <a:r>
              <a:rPr lang="en-US" altLang="ko-KR" sz="3400" b="1" dirty="0"/>
              <a:t>▪ Step 1. Data Collection</a:t>
            </a:r>
          </a:p>
        </p:txBody>
      </p:sp>
      <p:grpSp>
        <p:nvGrpSpPr>
          <p:cNvPr id="12" name="Group 11">
            <a:extLst>
              <a:ext uri="{FF2B5EF4-FFF2-40B4-BE49-F238E27FC236}">
                <a16:creationId xmlns:a16="http://schemas.microsoft.com/office/drawing/2014/main" id="{C00E5E41-A767-E955-B367-E3851D04A5BA}"/>
              </a:ext>
            </a:extLst>
          </p:cNvPr>
          <p:cNvGrpSpPr/>
          <p:nvPr/>
        </p:nvGrpSpPr>
        <p:grpSpPr>
          <a:xfrm>
            <a:off x="3530600" y="1247958"/>
            <a:ext cx="8711445" cy="3476442"/>
            <a:chOff x="3530600" y="1247958"/>
            <a:chExt cx="8711445" cy="3476442"/>
          </a:xfrm>
        </p:grpSpPr>
        <p:sp>
          <p:nvSpPr>
            <p:cNvPr id="7" name="Rectangle 6">
              <a:extLst>
                <a:ext uri="{FF2B5EF4-FFF2-40B4-BE49-F238E27FC236}">
                  <a16:creationId xmlns:a16="http://schemas.microsoft.com/office/drawing/2014/main" id="{E0A78802-6BC9-44EF-62C0-49AFB13060FF}"/>
                </a:ext>
              </a:extLst>
            </p:cNvPr>
            <p:cNvSpPr/>
            <p:nvPr/>
          </p:nvSpPr>
          <p:spPr>
            <a:xfrm>
              <a:off x="3530600" y="1993610"/>
              <a:ext cx="3238500" cy="2730790"/>
            </a:xfrm>
            <a:prstGeom prst="rect">
              <a:avLst/>
            </a:prstGeom>
            <a:noFill/>
            <a:ln w="571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Straight Arrow Connector 8">
              <a:extLst>
                <a:ext uri="{FF2B5EF4-FFF2-40B4-BE49-F238E27FC236}">
                  <a16:creationId xmlns:a16="http://schemas.microsoft.com/office/drawing/2014/main" id="{E92198E2-DA87-755F-F7D4-FB42E8E787D9}"/>
                </a:ext>
              </a:extLst>
            </p:cNvPr>
            <p:cNvCxnSpPr/>
            <p:nvPr/>
          </p:nvCxnSpPr>
          <p:spPr>
            <a:xfrm flipV="1">
              <a:off x="5969000" y="1549400"/>
              <a:ext cx="1295400" cy="444210"/>
            </a:xfrm>
            <a:prstGeom prst="straightConnector1">
              <a:avLst/>
            </a:prstGeom>
            <a:ln w="38100">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F320F11F-6318-DC90-4C3E-C5F12F3F714D}"/>
                </a:ext>
              </a:extLst>
            </p:cNvPr>
            <p:cNvSpPr txBox="1"/>
            <p:nvPr/>
          </p:nvSpPr>
          <p:spPr>
            <a:xfrm>
              <a:off x="7264400" y="1247958"/>
              <a:ext cx="4977645" cy="830997"/>
            </a:xfrm>
            <a:prstGeom prst="rect">
              <a:avLst/>
            </a:prstGeom>
            <a:noFill/>
          </p:spPr>
          <p:txBody>
            <a:bodyPr wrap="none" rtlCol="0">
              <a:spAutoFit/>
            </a:bodyPr>
            <a:lstStyle/>
            <a:p>
              <a:r>
                <a:rPr lang="en-US" altLang="ko-KR" sz="2400" b="1" dirty="0">
                  <a:solidFill>
                    <a:srgbClr val="FF0000"/>
                  </a:solidFill>
                  <a:highlight>
                    <a:srgbClr val="FFFF00"/>
                  </a:highlight>
                </a:rPr>
                <a:t>Recorded for 9 S at 250 Hz</a:t>
              </a:r>
            </a:p>
            <a:p>
              <a:r>
                <a:rPr lang="ko-KR" altLang="en-US" sz="2400" b="1" dirty="0">
                  <a:solidFill>
                    <a:srgbClr val="FF0000"/>
                  </a:solidFill>
                  <a:highlight>
                    <a:srgbClr val="FFFF00"/>
                  </a:highlight>
                </a:rPr>
                <a:t>→ </a:t>
              </a:r>
              <a:r>
                <a:rPr lang="en-US" altLang="ko-KR" sz="2400" b="1" dirty="0">
                  <a:solidFill>
                    <a:srgbClr val="FF0000"/>
                  </a:solidFill>
                  <a:highlight>
                    <a:srgbClr val="FFFF00"/>
                  </a:highlight>
                </a:rPr>
                <a:t>2250 Samples</a:t>
              </a:r>
              <a:endParaRPr lang="ko-KR" altLang="en-US" sz="2400" b="1" dirty="0">
                <a:solidFill>
                  <a:srgbClr val="FF0000"/>
                </a:solidFill>
                <a:highlight>
                  <a:srgbClr val="FFFF00"/>
                </a:highlight>
              </a:endParaRPr>
            </a:p>
          </p:txBody>
        </p:sp>
      </p:grpSp>
      <p:sp>
        <p:nvSpPr>
          <p:cNvPr id="14" name="TextBox 13">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6/10</a:t>
            </a:r>
            <a:endParaRPr lang="ko-KR" altLang="en-US" b="1" dirty="0"/>
          </a:p>
        </p:txBody>
      </p:sp>
    </p:spTree>
    <p:extLst>
      <p:ext uri="{BB962C8B-B14F-4D97-AF65-F5344CB8AC3E}">
        <p14:creationId xmlns:p14="http://schemas.microsoft.com/office/powerpoint/2010/main" val="323131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A7D99-59E6-0A11-32B9-7B52BC1A99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19129B-CDC0-0FD9-820C-2EDB070CD793}"/>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3AB004-5EA0-834A-F53C-97B42FF8F4D9}"/>
              </a:ext>
            </a:extLst>
          </p:cNvPr>
          <p:cNvSpPr txBox="1"/>
          <p:nvPr/>
        </p:nvSpPr>
        <p:spPr>
          <a:xfrm>
            <a:off x="2" y="282169"/>
            <a:ext cx="10002558" cy="707886"/>
          </a:xfrm>
          <a:prstGeom prst="rect">
            <a:avLst/>
          </a:prstGeom>
          <a:noFill/>
        </p:spPr>
        <p:txBody>
          <a:bodyPr wrap="square" rtlCol="0">
            <a:spAutoFit/>
          </a:bodyPr>
          <a:lstStyle/>
          <a:p>
            <a:r>
              <a:rPr lang="en-US" sz="4000" b="1" dirty="0">
                <a:latin typeface="Arial Black" panose="020B0A04020102020204" pitchFamily="34" charset="0"/>
              </a:rPr>
              <a:t>Experiment</a:t>
            </a:r>
            <a:endParaRPr lang="en-US" sz="4000" dirty="0">
              <a:latin typeface="Arial Black" panose="020B0A04020102020204" pitchFamily="34" charset="0"/>
            </a:endParaRPr>
          </a:p>
        </p:txBody>
      </p:sp>
      <p:sp>
        <p:nvSpPr>
          <p:cNvPr id="14" name="TextBox 13">
            <a:extLst>
              <a:ext uri="{FF2B5EF4-FFF2-40B4-BE49-F238E27FC236}">
                <a16:creationId xmlns:a16="http://schemas.microsoft.com/office/drawing/2014/main" id="{33ADED8E-4BCB-AB6B-8AFE-717EA8BB027C}"/>
              </a:ext>
            </a:extLst>
          </p:cNvPr>
          <p:cNvSpPr txBox="1"/>
          <p:nvPr/>
        </p:nvSpPr>
        <p:spPr>
          <a:xfrm>
            <a:off x="8713664" y="1460021"/>
            <a:ext cx="3846636" cy="461665"/>
          </a:xfrm>
          <a:prstGeom prst="rect">
            <a:avLst/>
          </a:prstGeom>
          <a:noFill/>
        </p:spPr>
        <p:txBody>
          <a:bodyPr wrap="square" rtlCol="0">
            <a:spAutoFit/>
          </a:bodyPr>
          <a:lstStyle/>
          <a:p>
            <a:r>
              <a:rPr lang="en-US" altLang="ko-KR" sz="2400" b="1" dirty="0">
                <a:solidFill>
                  <a:srgbClr val="FF0000"/>
                </a:solidFill>
                <a:highlight>
                  <a:srgbClr val="FFFF00"/>
                </a:highlight>
              </a:rPr>
              <a:t>9 second(2250 Samples)</a:t>
            </a:r>
            <a:endParaRPr lang="ko-KR" altLang="en-US" sz="2400" b="1" dirty="0">
              <a:solidFill>
                <a:srgbClr val="FF0000"/>
              </a:solidFill>
              <a:highlight>
                <a:srgbClr val="FFFF00"/>
              </a:highlight>
            </a:endParaRPr>
          </a:p>
        </p:txBody>
      </p:sp>
      <p:sp>
        <p:nvSpPr>
          <p:cNvPr id="10" name="TextBox 9">
            <a:extLst>
              <a:ext uri="{FF2B5EF4-FFF2-40B4-BE49-F238E27FC236}">
                <a16:creationId xmlns:a16="http://schemas.microsoft.com/office/drawing/2014/main" id="{F596841E-6413-A3D1-9749-12731923501D}"/>
              </a:ext>
            </a:extLst>
          </p:cNvPr>
          <p:cNvSpPr txBox="1"/>
          <p:nvPr/>
        </p:nvSpPr>
        <p:spPr>
          <a:xfrm>
            <a:off x="165100" y="1347279"/>
            <a:ext cx="9473169" cy="646331"/>
          </a:xfrm>
          <a:prstGeom prst="rect">
            <a:avLst/>
          </a:prstGeom>
          <a:noFill/>
        </p:spPr>
        <p:txBody>
          <a:bodyPr wrap="square">
            <a:spAutoFit/>
          </a:bodyPr>
          <a:lstStyle/>
          <a:p>
            <a:pPr>
              <a:buNone/>
            </a:pPr>
            <a:r>
              <a:rPr lang="en-US" altLang="ko-KR" sz="3600" b="1" dirty="0"/>
              <a:t>▪ Step 2. Pre-processing </a:t>
            </a:r>
            <a:r>
              <a:rPr lang="en-US" altLang="ko-KR" sz="2800" b="1" dirty="0"/>
              <a:t>(Feature Extraction)</a:t>
            </a:r>
            <a:endParaRPr lang="en-US" altLang="ko-KR" sz="3600" b="1" dirty="0"/>
          </a:p>
        </p:txBody>
      </p:sp>
      <p:sp>
        <p:nvSpPr>
          <p:cNvPr id="16" name="TextBox 15">
            <a:extLst>
              <a:ext uri="{FF2B5EF4-FFF2-40B4-BE49-F238E27FC236}">
                <a16:creationId xmlns:a16="http://schemas.microsoft.com/office/drawing/2014/main" id="{5008A1EB-CCE3-1271-82D4-E81F2E960F50}"/>
              </a:ext>
            </a:extLst>
          </p:cNvPr>
          <p:cNvSpPr txBox="1"/>
          <p:nvPr/>
        </p:nvSpPr>
        <p:spPr>
          <a:xfrm>
            <a:off x="598363" y="2349198"/>
            <a:ext cx="11593637" cy="954107"/>
          </a:xfrm>
          <a:prstGeom prst="rect">
            <a:avLst/>
          </a:prstGeom>
          <a:noFill/>
        </p:spPr>
        <p:txBody>
          <a:bodyPr wrap="square">
            <a:spAutoFit/>
          </a:bodyPr>
          <a:lstStyle/>
          <a:p>
            <a:pPr marL="514350" indent="-514350">
              <a:buAutoNum type="arabicParenR"/>
            </a:pPr>
            <a:r>
              <a:rPr lang="en-US" altLang="ko-KR" sz="2800" b="1" dirty="0"/>
              <a:t>Noise reduction via independent component analysis method in </a:t>
            </a:r>
            <a:r>
              <a:rPr lang="en-US" altLang="ko-KR" sz="2800" b="1" dirty="0" err="1"/>
              <a:t>JunEEGLAB</a:t>
            </a:r>
            <a:r>
              <a:rPr lang="en-US" altLang="ko-KR" sz="2800" b="1" dirty="0"/>
              <a:t> Program</a:t>
            </a:r>
            <a:endParaRPr lang="ko-KR" altLang="en-US" sz="2800" b="1" dirty="0"/>
          </a:p>
        </p:txBody>
      </p:sp>
      <p:sp>
        <p:nvSpPr>
          <p:cNvPr id="18" name="TextBox 17">
            <a:extLst>
              <a:ext uri="{FF2B5EF4-FFF2-40B4-BE49-F238E27FC236}">
                <a16:creationId xmlns:a16="http://schemas.microsoft.com/office/drawing/2014/main" id="{5CCF3024-672D-24CB-E13A-5DED0AA364F6}"/>
              </a:ext>
            </a:extLst>
          </p:cNvPr>
          <p:cNvSpPr txBox="1"/>
          <p:nvPr/>
        </p:nvSpPr>
        <p:spPr>
          <a:xfrm>
            <a:off x="605117" y="4001963"/>
            <a:ext cx="11256685" cy="954107"/>
          </a:xfrm>
          <a:prstGeom prst="rect">
            <a:avLst/>
          </a:prstGeom>
          <a:noFill/>
        </p:spPr>
        <p:txBody>
          <a:bodyPr wrap="square">
            <a:spAutoFit/>
          </a:bodyPr>
          <a:lstStyle/>
          <a:p>
            <a:r>
              <a:rPr lang="en-US" altLang="ko-KR" sz="2800" b="1" dirty="0"/>
              <a:t>2) The raw EEG data were filtered to extract the </a:t>
            </a:r>
            <a:r>
              <a:rPr lang="en-US" altLang="ko-KR" sz="2800" b="1" dirty="0">
                <a:solidFill>
                  <a:srgbClr val="0000FF"/>
                </a:solidFill>
              </a:rPr>
              <a:t>alpha band </a:t>
            </a:r>
            <a:r>
              <a:rPr lang="en-US" altLang="ko-KR" sz="2800" b="1" dirty="0"/>
              <a:t>(8-13 Hz)</a:t>
            </a:r>
            <a:endParaRPr lang="ko-KR" altLang="en-US" sz="2800" b="1" dirty="0"/>
          </a:p>
        </p:txBody>
      </p:sp>
      <p:grpSp>
        <p:nvGrpSpPr>
          <p:cNvPr id="24" name="Group 23">
            <a:extLst>
              <a:ext uri="{FF2B5EF4-FFF2-40B4-BE49-F238E27FC236}">
                <a16:creationId xmlns:a16="http://schemas.microsoft.com/office/drawing/2014/main" id="{C1993720-BD87-3FE9-E7B9-A90935B66676}"/>
              </a:ext>
            </a:extLst>
          </p:cNvPr>
          <p:cNvGrpSpPr/>
          <p:nvPr/>
        </p:nvGrpSpPr>
        <p:grpSpPr>
          <a:xfrm>
            <a:off x="605116" y="5223840"/>
            <a:ext cx="11047134" cy="524412"/>
            <a:chOff x="605116" y="3743143"/>
            <a:chExt cx="9849743" cy="524412"/>
          </a:xfrm>
        </p:grpSpPr>
        <p:sp>
          <p:nvSpPr>
            <p:cNvPr id="20" name="TextBox 19">
              <a:extLst>
                <a:ext uri="{FF2B5EF4-FFF2-40B4-BE49-F238E27FC236}">
                  <a16:creationId xmlns:a16="http://schemas.microsoft.com/office/drawing/2014/main" id="{34831E92-BD4B-8FBC-BCD8-B4A5063A4F8D}"/>
                </a:ext>
              </a:extLst>
            </p:cNvPr>
            <p:cNvSpPr txBox="1"/>
            <p:nvPr/>
          </p:nvSpPr>
          <p:spPr>
            <a:xfrm>
              <a:off x="605116" y="3743143"/>
              <a:ext cx="9643783" cy="523220"/>
            </a:xfrm>
            <a:prstGeom prst="rect">
              <a:avLst/>
            </a:prstGeom>
            <a:noFill/>
          </p:spPr>
          <p:txBody>
            <a:bodyPr wrap="square">
              <a:spAutoFit/>
            </a:bodyPr>
            <a:lstStyle/>
            <a:p>
              <a:r>
                <a:rPr lang="en-US" altLang="ko-KR" sz="2800" b="1" dirty="0"/>
                <a:t>3) </a:t>
              </a:r>
              <a:r>
                <a:rPr lang="en-US" altLang="ko-KR" sz="2800" b="1" dirty="0">
                  <a:hlinkClick r:id="rId3" action="ppaction://hlinksldjump"/>
                </a:rPr>
                <a:t>STFT with 1.5-s window, 90% overlap</a:t>
              </a:r>
              <a:endParaRPr lang="ko-KR" altLang="en-US" sz="2800" b="1" dirty="0"/>
            </a:p>
          </p:txBody>
        </p:sp>
        <p:sp>
          <p:nvSpPr>
            <p:cNvPr id="21" name="TextBox 20">
              <a:extLst>
                <a:ext uri="{FF2B5EF4-FFF2-40B4-BE49-F238E27FC236}">
                  <a16:creationId xmlns:a16="http://schemas.microsoft.com/office/drawing/2014/main" id="{AD6136CE-D9CC-1506-C9EC-FD3D634B7F85}"/>
                </a:ext>
              </a:extLst>
            </p:cNvPr>
            <p:cNvSpPr txBox="1"/>
            <p:nvPr/>
          </p:nvSpPr>
          <p:spPr>
            <a:xfrm>
              <a:off x="8545376" y="3744335"/>
              <a:ext cx="1909483" cy="523220"/>
            </a:xfrm>
            <a:prstGeom prst="rect">
              <a:avLst/>
            </a:prstGeom>
            <a:noFill/>
          </p:spPr>
          <p:txBody>
            <a:bodyPr wrap="square">
              <a:spAutoFit/>
            </a:bodyPr>
            <a:lstStyle/>
            <a:p>
              <a:r>
                <a:rPr lang="en-US" altLang="ko-KR" sz="2800" b="1" dirty="0">
                  <a:solidFill>
                    <a:srgbClr val="0000FF"/>
                  </a:solidFill>
                </a:rPr>
                <a:t>51 frames</a:t>
              </a:r>
              <a:endParaRPr lang="ko-KR" altLang="en-US" sz="2800" b="1" dirty="0">
                <a:solidFill>
                  <a:srgbClr val="0000FF"/>
                </a:solidFill>
              </a:endParaRPr>
            </a:p>
          </p:txBody>
        </p:sp>
        <p:cxnSp>
          <p:nvCxnSpPr>
            <p:cNvPr id="23" name="Straight Arrow Connector 22">
              <a:extLst>
                <a:ext uri="{FF2B5EF4-FFF2-40B4-BE49-F238E27FC236}">
                  <a16:creationId xmlns:a16="http://schemas.microsoft.com/office/drawing/2014/main" id="{4B3706A3-4A28-5D24-9348-4A5F8585C022}"/>
                </a:ext>
              </a:extLst>
            </p:cNvPr>
            <p:cNvCxnSpPr/>
            <p:nvPr/>
          </p:nvCxnSpPr>
          <p:spPr>
            <a:xfrm>
              <a:off x="8004322" y="4005945"/>
              <a:ext cx="407864"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3" name="TextBox 12">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7/10</a:t>
            </a:r>
            <a:endParaRPr lang="ko-KR" altLang="en-US" b="1" dirty="0"/>
          </a:p>
        </p:txBody>
      </p:sp>
    </p:spTree>
    <p:extLst>
      <p:ext uri="{BB962C8B-B14F-4D97-AF65-F5344CB8AC3E}">
        <p14:creationId xmlns:p14="http://schemas.microsoft.com/office/powerpoint/2010/main" val="2394298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B88E0-BF7C-0AA8-E9C8-06B5A68ED0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CF503E1-0DA1-D85D-6773-25B5649ADCF7}"/>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25BCE0-238B-D173-5249-B56639B8F674}"/>
              </a:ext>
            </a:extLst>
          </p:cNvPr>
          <p:cNvSpPr txBox="1"/>
          <p:nvPr/>
        </p:nvSpPr>
        <p:spPr>
          <a:xfrm>
            <a:off x="2" y="282169"/>
            <a:ext cx="10002558" cy="707886"/>
          </a:xfrm>
          <a:prstGeom prst="rect">
            <a:avLst/>
          </a:prstGeom>
          <a:noFill/>
        </p:spPr>
        <p:txBody>
          <a:bodyPr wrap="square" rtlCol="0">
            <a:spAutoFit/>
          </a:bodyPr>
          <a:lstStyle/>
          <a:p>
            <a:r>
              <a:rPr lang="en-US" sz="4000" b="1" dirty="0">
                <a:latin typeface="Arial Black" panose="020B0A04020102020204" pitchFamily="34" charset="0"/>
              </a:rPr>
              <a:t>Experiment</a:t>
            </a:r>
            <a:endParaRPr lang="en-US" sz="4000" dirty="0">
              <a:latin typeface="Arial Black" panose="020B0A04020102020204" pitchFamily="34" charset="0"/>
            </a:endParaRPr>
          </a:p>
        </p:txBody>
      </p:sp>
      <p:sp>
        <p:nvSpPr>
          <p:cNvPr id="8" name="TextBox 7">
            <a:extLst>
              <a:ext uri="{FF2B5EF4-FFF2-40B4-BE49-F238E27FC236}">
                <a16:creationId xmlns:a16="http://schemas.microsoft.com/office/drawing/2014/main" id="{45AE219F-18A6-46B3-9FC2-ACBB048225DD}"/>
              </a:ext>
            </a:extLst>
          </p:cNvPr>
          <p:cNvSpPr txBox="1"/>
          <p:nvPr/>
        </p:nvSpPr>
        <p:spPr>
          <a:xfrm>
            <a:off x="165100" y="1347279"/>
            <a:ext cx="9473169" cy="646331"/>
          </a:xfrm>
          <a:prstGeom prst="rect">
            <a:avLst/>
          </a:prstGeom>
          <a:noFill/>
        </p:spPr>
        <p:txBody>
          <a:bodyPr wrap="square">
            <a:spAutoFit/>
          </a:bodyPr>
          <a:lstStyle/>
          <a:p>
            <a:pPr>
              <a:buNone/>
            </a:pPr>
            <a:r>
              <a:rPr lang="en-US" altLang="ko-KR" sz="3600" b="1" dirty="0"/>
              <a:t>▪ Step 3. Train and Test AI Model</a:t>
            </a:r>
          </a:p>
        </p:txBody>
      </p:sp>
      <p:sp>
        <p:nvSpPr>
          <p:cNvPr id="16" name="Rectangle: Rounded Corners 15">
            <a:extLst>
              <a:ext uri="{FF2B5EF4-FFF2-40B4-BE49-F238E27FC236}">
                <a16:creationId xmlns:a16="http://schemas.microsoft.com/office/drawing/2014/main" id="{D5C7B1ED-1F62-104A-6D0C-D2708310DB28}"/>
              </a:ext>
            </a:extLst>
          </p:cNvPr>
          <p:cNvSpPr/>
          <p:nvPr/>
        </p:nvSpPr>
        <p:spPr>
          <a:xfrm>
            <a:off x="645245" y="2065907"/>
            <a:ext cx="5854700" cy="1297143"/>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17" name="Table 16">
            <a:extLst>
              <a:ext uri="{FF2B5EF4-FFF2-40B4-BE49-F238E27FC236}">
                <a16:creationId xmlns:a16="http://schemas.microsoft.com/office/drawing/2014/main" id="{4E99E072-B25E-D1B3-97D1-5E0F9BE007CF}"/>
              </a:ext>
            </a:extLst>
          </p:cNvPr>
          <p:cNvGraphicFramePr>
            <a:graphicFrameLocks noGrp="1"/>
          </p:cNvGraphicFramePr>
          <p:nvPr>
            <p:extLst>
              <p:ext uri="{D42A27DB-BD31-4B8C-83A1-F6EECF244321}">
                <p14:modId xmlns:p14="http://schemas.microsoft.com/office/powerpoint/2010/main" val="811959685"/>
              </p:ext>
            </p:extLst>
          </p:nvPr>
        </p:nvGraphicFramePr>
        <p:xfrm>
          <a:off x="1280785" y="2208923"/>
          <a:ext cx="3050971" cy="370840"/>
        </p:xfrm>
        <a:graphic>
          <a:graphicData uri="http://schemas.openxmlformats.org/drawingml/2006/table">
            <a:tbl>
              <a:tblPr firstRow="1" bandRow="1">
                <a:tableStyleId>{5C22544A-7EE6-4342-B048-85BDC9FD1C3A}</a:tableStyleId>
              </a:tblPr>
              <a:tblGrid>
                <a:gridCol w="435853">
                  <a:extLst>
                    <a:ext uri="{9D8B030D-6E8A-4147-A177-3AD203B41FA5}">
                      <a16:colId xmlns:a16="http://schemas.microsoft.com/office/drawing/2014/main" val="2856527679"/>
                    </a:ext>
                  </a:extLst>
                </a:gridCol>
                <a:gridCol w="435853">
                  <a:extLst>
                    <a:ext uri="{9D8B030D-6E8A-4147-A177-3AD203B41FA5}">
                      <a16:colId xmlns:a16="http://schemas.microsoft.com/office/drawing/2014/main" val="2965915519"/>
                    </a:ext>
                  </a:extLst>
                </a:gridCol>
                <a:gridCol w="435853">
                  <a:extLst>
                    <a:ext uri="{9D8B030D-6E8A-4147-A177-3AD203B41FA5}">
                      <a16:colId xmlns:a16="http://schemas.microsoft.com/office/drawing/2014/main" val="3746479679"/>
                    </a:ext>
                  </a:extLst>
                </a:gridCol>
                <a:gridCol w="435853">
                  <a:extLst>
                    <a:ext uri="{9D8B030D-6E8A-4147-A177-3AD203B41FA5}">
                      <a16:colId xmlns:a16="http://schemas.microsoft.com/office/drawing/2014/main" val="269997224"/>
                    </a:ext>
                  </a:extLst>
                </a:gridCol>
                <a:gridCol w="435853">
                  <a:extLst>
                    <a:ext uri="{9D8B030D-6E8A-4147-A177-3AD203B41FA5}">
                      <a16:colId xmlns:a16="http://schemas.microsoft.com/office/drawing/2014/main" val="3442817521"/>
                    </a:ext>
                  </a:extLst>
                </a:gridCol>
                <a:gridCol w="435853">
                  <a:extLst>
                    <a:ext uri="{9D8B030D-6E8A-4147-A177-3AD203B41FA5}">
                      <a16:colId xmlns:a16="http://schemas.microsoft.com/office/drawing/2014/main" val="3278178411"/>
                    </a:ext>
                  </a:extLst>
                </a:gridCol>
                <a:gridCol w="435853">
                  <a:extLst>
                    <a:ext uri="{9D8B030D-6E8A-4147-A177-3AD203B41FA5}">
                      <a16:colId xmlns:a16="http://schemas.microsoft.com/office/drawing/2014/main" val="505139187"/>
                    </a:ext>
                  </a:extLst>
                </a:gridCol>
              </a:tblGrid>
              <a:tr h="370840">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3</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4</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5</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6</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7</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81237558"/>
                  </a:ext>
                </a:extLst>
              </a:tr>
            </a:tbl>
          </a:graphicData>
        </a:graphic>
      </p:graphicFrame>
      <p:graphicFrame>
        <p:nvGraphicFramePr>
          <p:cNvPr id="18" name="Table 17">
            <a:extLst>
              <a:ext uri="{FF2B5EF4-FFF2-40B4-BE49-F238E27FC236}">
                <a16:creationId xmlns:a16="http://schemas.microsoft.com/office/drawing/2014/main" id="{4ED9EF81-A589-8346-917D-6088EC0E4294}"/>
              </a:ext>
            </a:extLst>
          </p:cNvPr>
          <p:cNvGraphicFramePr>
            <a:graphicFrameLocks noGrp="1"/>
          </p:cNvGraphicFramePr>
          <p:nvPr>
            <p:extLst>
              <p:ext uri="{D42A27DB-BD31-4B8C-83A1-F6EECF244321}">
                <p14:modId xmlns:p14="http://schemas.microsoft.com/office/powerpoint/2010/main" val="3088324924"/>
              </p:ext>
            </p:extLst>
          </p:nvPr>
        </p:nvGraphicFramePr>
        <p:xfrm>
          <a:off x="4996289" y="2223197"/>
          <a:ext cx="1307559" cy="370840"/>
        </p:xfrm>
        <a:graphic>
          <a:graphicData uri="http://schemas.openxmlformats.org/drawingml/2006/table">
            <a:tbl>
              <a:tblPr firstRow="1" bandRow="1">
                <a:tableStyleId>{5C22544A-7EE6-4342-B048-85BDC9FD1C3A}</a:tableStyleId>
              </a:tblPr>
              <a:tblGrid>
                <a:gridCol w="435853">
                  <a:extLst>
                    <a:ext uri="{9D8B030D-6E8A-4147-A177-3AD203B41FA5}">
                      <a16:colId xmlns:a16="http://schemas.microsoft.com/office/drawing/2014/main" val="476814590"/>
                    </a:ext>
                  </a:extLst>
                </a:gridCol>
                <a:gridCol w="435853">
                  <a:extLst>
                    <a:ext uri="{9D8B030D-6E8A-4147-A177-3AD203B41FA5}">
                      <a16:colId xmlns:a16="http://schemas.microsoft.com/office/drawing/2014/main" val="862595434"/>
                    </a:ext>
                  </a:extLst>
                </a:gridCol>
                <a:gridCol w="435853">
                  <a:extLst>
                    <a:ext uri="{9D8B030D-6E8A-4147-A177-3AD203B41FA5}">
                      <a16:colId xmlns:a16="http://schemas.microsoft.com/office/drawing/2014/main" val="1514212523"/>
                    </a:ext>
                  </a:extLst>
                </a:gridCol>
              </a:tblGrid>
              <a:tr h="370840">
                <a:tc>
                  <a:txBody>
                    <a:bodyPr/>
                    <a:lstStyle/>
                    <a:p>
                      <a:pPr algn="ctr" latinLnBrk="1"/>
                      <a:r>
                        <a:rPr lang="en-US" altLang="ko-KR" dirty="0">
                          <a:solidFill>
                            <a:schemeClr val="tx1"/>
                          </a:solidFill>
                        </a:rPr>
                        <a:t>49</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50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51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2992205"/>
                  </a:ext>
                </a:extLst>
              </a:tr>
            </a:tbl>
          </a:graphicData>
        </a:graphic>
      </p:graphicFrame>
      <p:grpSp>
        <p:nvGrpSpPr>
          <p:cNvPr id="19" name="Group 18">
            <a:extLst>
              <a:ext uri="{FF2B5EF4-FFF2-40B4-BE49-F238E27FC236}">
                <a16:creationId xmlns:a16="http://schemas.microsoft.com/office/drawing/2014/main" id="{96A70DD8-4818-1096-457D-512663E876A9}"/>
              </a:ext>
            </a:extLst>
          </p:cNvPr>
          <p:cNvGrpSpPr/>
          <p:nvPr/>
        </p:nvGrpSpPr>
        <p:grpSpPr>
          <a:xfrm>
            <a:off x="4431870" y="2356243"/>
            <a:ext cx="495299" cy="76200"/>
            <a:chOff x="4330700" y="1866900"/>
            <a:chExt cx="495299" cy="76200"/>
          </a:xfrm>
        </p:grpSpPr>
        <p:sp>
          <p:nvSpPr>
            <p:cNvPr id="20" name="Oval 19">
              <a:extLst>
                <a:ext uri="{FF2B5EF4-FFF2-40B4-BE49-F238E27FC236}">
                  <a16:creationId xmlns:a16="http://schemas.microsoft.com/office/drawing/2014/main" id="{FE0A06D0-EE7C-6C0A-E0D5-6FB6EFDA1877}"/>
                </a:ext>
              </a:extLst>
            </p:cNvPr>
            <p:cNvSpPr/>
            <p:nvPr/>
          </p:nvSpPr>
          <p:spPr>
            <a:xfrm>
              <a:off x="4330700" y="1866900"/>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21" name="Oval 20">
              <a:extLst>
                <a:ext uri="{FF2B5EF4-FFF2-40B4-BE49-F238E27FC236}">
                  <a16:creationId xmlns:a16="http://schemas.microsoft.com/office/drawing/2014/main" id="{6AF76161-27B2-0B22-01E5-CDD9B6229B23}"/>
                </a:ext>
              </a:extLst>
            </p:cNvPr>
            <p:cNvSpPr/>
            <p:nvPr/>
          </p:nvSpPr>
          <p:spPr>
            <a:xfrm>
              <a:off x="4550833" y="1866900"/>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22" name="Oval 21">
              <a:extLst>
                <a:ext uri="{FF2B5EF4-FFF2-40B4-BE49-F238E27FC236}">
                  <a16:creationId xmlns:a16="http://schemas.microsoft.com/office/drawing/2014/main" id="{F093E4B0-D145-73FE-6E48-9871A1E4D61B}"/>
                </a:ext>
              </a:extLst>
            </p:cNvPr>
            <p:cNvSpPr/>
            <p:nvPr/>
          </p:nvSpPr>
          <p:spPr>
            <a:xfrm>
              <a:off x="4749799" y="1866900"/>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grpSp>
      <p:graphicFrame>
        <p:nvGraphicFramePr>
          <p:cNvPr id="23" name="Table 22">
            <a:extLst>
              <a:ext uri="{FF2B5EF4-FFF2-40B4-BE49-F238E27FC236}">
                <a16:creationId xmlns:a16="http://schemas.microsoft.com/office/drawing/2014/main" id="{357A8365-30DA-9D49-33C5-A7C4B97CA8DC}"/>
              </a:ext>
            </a:extLst>
          </p:cNvPr>
          <p:cNvGraphicFramePr>
            <a:graphicFrameLocks noGrp="1"/>
          </p:cNvGraphicFramePr>
          <p:nvPr>
            <p:extLst>
              <p:ext uri="{D42A27DB-BD31-4B8C-83A1-F6EECF244321}">
                <p14:modId xmlns:p14="http://schemas.microsoft.com/office/powerpoint/2010/main" val="3779124911"/>
              </p:ext>
            </p:extLst>
          </p:nvPr>
        </p:nvGraphicFramePr>
        <p:xfrm>
          <a:off x="1280785" y="2818523"/>
          <a:ext cx="3050971" cy="370840"/>
        </p:xfrm>
        <a:graphic>
          <a:graphicData uri="http://schemas.openxmlformats.org/drawingml/2006/table">
            <a:tbl>
              <a:tblPr firstRow="1" bandRow="1">
                <a:tableStyleId>{5C22544A-7EE6-4342-B048-85BDC9FD1C3A}</a:tableStyleId>
              </a:tblPr>
              <a:tblGrid>
                <a:gridCol w="435853">
                  <a:extLst>
                    <a:ext uri="{9D8B030D-6E8A-4147-A177-3AD203B41FA5}">
                      <a16:colId xmlns:a16="http://schemas.microsoft.com/office/drawing/2014/main" val="2856527679"/>
                    </a:ext>
                  </a:extLst>
                </a:gridCol>
                <a:gridCol w="435853">
                  <a:extLst>
                    <a:ext uri="{9D8B030D-6E8A-4147-A177-3AD203B41FA5}">
                      <a16:colId xmlns:a16="http://schemas.microsoft.com/office/drawing/2014/main" val="2965915519"/>
                    </a:ext>
                  </a:extLst>
                </a:gridCol>
                <a:gridCol w="435853">
                  <a:extLst>
                    <a:ext uri="{9D8B030D-6E8A-4147-A177-3AD203B41FA5}">
                      <a16:colId xmlns:a16="http://schemas.microsoft.com/office/drawing/2014/main" val="3746479679"/>
                    </a:ext>
                  </a:extLst>
                </a:gridCol>
                <a:gridCol w="435853">
                  <a:extLst>
                    <a:ext uri="{9D8B030D-6E8A-4147-A177-3AD203B41FA5}">
                      <a16:colId xmlns:a16="http://schemas.microsoft.com/office/drawing/2014/main" val="269997224"/>
                    </a:ext>
                  </a:extLst>
                </a:gridCol>
                <a:gridCol w="435853">
                  <a:extLst>
                    <a:ext uri="{9D8B030D-6E8A-4147-A177-3AD203B41FA5}">
                      <a16:colId xmlns:a16="http://schemas.microsoft.com/office/drawing/2014/main" val="3442817521"/>
                    </a:ext>
                  </a:extLst>
                </a:gridCol>
                <a:gridCol w="435853">
                  <a:extLst>
                    <a:ext uri="{9D8B030D-6E8A-4147-A177-3AD203B41FA5}">
                      <a16:colId xmlns:a16="http://schemas.microsoft.com/office/drawing/2014/main" val="3278178411"/>
                    </a:ext>
                  </a:extLst>
                </a:gridCol>
                <a:gridCol w="435853">
                  <a:extLst>
                    <a:ext uri="{9D8B030D-6E8A-4147-A177-3AD203B41FA5}">
                      <a16:colId xmlns:a16="http://schemas.microsoft.com/office/drawing/2014/main" val="505139187"/>
                    </a:ext>
                  </a:extLst>
                </a:gridCol>
              </a:tblGrid>
              <a:tr h="370840">
                <a:tc>
                  <a:txBody>
                    <a:bodyPr/>
                    <a:lstStyle/>
                    <a:p>
                      <a:pPr algn="ctr" latinLnBrk="1"/>
                      <a:r>
                        <a:rPr lang="en-US" altLang="ko-KR" dirty="0">
                          <a:solidFill>
                            <a:schemeClr val="tx1"/>
                          </a:solidFill>
                        </a:rPr>
                        <a:t>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2</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3</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4</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5</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6</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7</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81237558"/>
                  </a:ext>
                </a:extLst>
              </a:tr>
            </a:tbl>
          </a:graphicData>
        </a:graphic>
      </p:graphicFrame>
      <p:graphicFrame>
        <p:nvGraphicFramePr>
          <p:cNvPr id="24" name="Table 23">
            <a:extLst>
              <a:ext uri="{FF2B5EF4-FFF2-40B4-BE49-F238E27FC236}">
                <a16:creationId xmlns:a16="http://schemas.microsoft.com/office/drawing/2014/main" id="{EB9FBAEB-0B04-43B0-E17B-613993A89453}"/>
              </a:ext>
            </a:extLst>
          </p:cNvPr>
          <p:cNvGraphicFramePr>
            <a:graphicFrameLocks noGrp="1"/>
          </p:cNvGraphicFramePr>
          <p:nvPr>
            <p:extLst>
              <p:ext uri="{D42A27DB-BD31-4B8C-83A1-F6EECF244321}">
                <p14:modId xmlns:p14="http://schemas.microsoft.com/office/powerpoint/2010/main" val="1586051090"/>
              </p:ext>
            </p:extLst>
          </p:nvPr>
        </p:nvGraphicFramePr>
        <p:xfrm>
          <a:off x="4996289" y="2818523"/>
          <a:ext cx="1307559" cy="370840"/>
        </p:xfrm>
        <a:graphic>
          <a:graphicData uri="http://schemas.openxmlformats.org/drawingml/2006/table">
            <a:tbl>
              <a:tblPr firstRow="1" bandRow="1">
                <a:tableStyleId>{5C22544A-7EE6-4342-B048-85BDC9FD1C3A}</a:tableStyleId>
              </a:tblPr>
              <a:tblGrid>
                <a:gridCol w="435853">
                  <a:extLst>
                    <a:ext uri="{9D8B030D-6E8A-4147-A177-3AD203B41FA5}">
                      <a16:colId xmlns:a16="http://schemas.microsoft.com/office/drawing/2014/main" val="476814590"/>
                    </a:ext>
                  </a:extLst>
                </a:gridCol>
                <a:gridCol w="435853">
                  <a:extLst>
                    <a:ext uri="{9D8B030D-6E8A-4147-A177-3AD203B41FA5}">
                      <a16:colId xmlns:a16="http://schemas.microsoft.com/office/drawing/2014/main" val="862595434"/>
                    </a:ext>
                  </a:extLst>
                </a:gridCol>
                <a:gridCol w="435853">
                  <a:extLst>
                    <a:ext uri="{9D8B030D-6E8A-4147-A177-3AD203B41FA5}">
                      <a16:colId xmlns:a16="http://schemas.microsoft.com/office/drawing/2014/main" val="1514212523"/>
                    </a:ext>
                  </a:extLst>
                </a:gridCol>
              </a:tblGrid>
              <a:tr h="370840">
                <a:tc>
                  <a:txBody>
                    <a:bodyPr/>
                    <a:lstStyle/>
                    <a:p>
                      <a:pPr algn="ctr" latinLnBrk="1"/>
                      <a:r>
                        <a:rPr lang="en-US" altLang="ko-KR" dirty="0">
                          <a:solidFill>
                            <a:schemeClr val="tx1"/>
                          </a:solidFill>
                        </a:rPr>
                        <a:t>49</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50</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dirty="0">
                          <a:solidFill>
                            <a:schemeClr val="tx1"/>
                          </a:solidFill>
                        </a:rPr>
                        <a:t>51</a:t>
                      </a:r>
                      <a:endParaRPr lang="ko-KR"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2992205"/>
                  </a:ext>
                </a:extLst>
              </a:tr>
            </a:tbl>
          </a:graphicData>
        </a:graphic>
      </p:graphicFrame>
      <p:grpSp>
        <p:nvGrpSpPr>
          <p:cNvPr id="25" name="Group 24">
            <a:extLst>
              <a:ext uri="{FF2B5EF4-FFF2-40B4-BE49-F238E27FC236}">
                <a16:creationId xmlns:a16="http://schemas.microsoft.com/office/drawing/2014/main" id="{178C4312-9299-A9DD-9640-B2D31F6A625C}"/>
              </a:ext>
            </a:extLst>
          </p:cNvPr>
          <p:cNvGrpSpPr/>
          <p:nvPr/>
        </p:nvGrpSpPr>
        <p:grpSpPr>
          <a:xfrm>
            <a:off x="4431870" y="2965843"/>
            <a:ext cx="495299" cy="76200"/>
            <a:chOff x="4330700" y="1866900"/>
            <a:chExt cx="495299" cy="76200"/>
          </a:xfrm>
        </p:grpSpPr>
        <p:sp>
          <p:nvSpPr>
            <p:cNvPr id="26" name="Oval 25">
              <a:extLst>
                <a:ext uri="{FF2B5EF4-FFF2-40B4-BE49-F238E27FC236}">
                  <a16:creationId xmlns:a16="http://schemas.microsoft.com/office/drawing/2014/main" id="{86B91D05-0FE3-C7A8-61F8-000492AAC2EB}"/>
                </a:ext>
              </a:extLst>
            </p:cNvPr>
            <p:cNvSpPr/>
            <p:nvPr/>
          </p:nvSpPr>
          <p:spPr>
            <a:xfrm>
              <a:off x="4330700" y="1866900"/>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28" name="Oval 27">
              <a:extLst>
                <a:ext uri="{FF2B5EF4-FFF2-40B4-BE49-F238E27FC236}">
                  <a16:creationId xmlns:a16="http://schemas.microsoft.com/office/drawing/2014/main" id="{DDABB7EF-733B-A6EC-21E2-1428B2F2D74A}"/>
                </a:ext>
              </a:extLst>
            </p:cNvPr>
            <p:cNvSpPr/>
            <p:nvPr/>
          </p:nvSpPr>
          <p:spPr>
            <a:xfrm>
              <a:off x="4550833" y="1866900"/>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29" name="Oval 28">
              <a:extLst>
                <a:ext uri="{FF2B5EF4-FFF2-40B4-BE49-F238E27FC236}">
                  <a16:creationId xmlns:a16="http://schemas.microsoft.com/office/drawing/2014/main" id="{41ACF377-DE76-5E3C-51EE-BF313B535A00}"/>
                </a:ext>
              </a:extLst>
            </p:cNvPr>
            <p:cNvSpPr/>
            <p:nvPr/>
          </p:nvSpPr>
          <p:spPr>
            <a:xfrm>
              <a:off x="4749799" y="1866900"/>
              <a:ext cx="76200" cy="762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ko-KR" altLang="en-US"/>
            </a:p>
          </p:txBody>
        </p:sp>
      </p:grpSp>
      <p:sp>
        <p:nvSpPr>
          <p:cNvPr id="31" name="Rectangle: Rounded Corners 30">
            <a:extLst>
              <a:ext uri="{FF2B5EF4-FFF2-40B4-BE49-F238E27FC236}">
                <a16:creationId xmlns:a16="http://schemas.microsoft.com/office/drawing/2014/main" id="{5905DA0F-C70C-08E0-3CCD-0477D76D6AB9}"/>
              </a:ext>
            </a:extLst>
          </p:cNvPr>
          <p:cNvSpPr/>
          <p:nvPr/>
        </p:nvSpPr>
        <p:spPr>
          <a:xfrm>
            <a:off x="7072115" y="1988836"/>
            <a:ext cx="1434884" cy="14512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2400" b="1" dirty="0" err="1">
                <a:hlinkClick r:id="rId3" action="ppaction://hlinksldjump"/>
              </a:rPr>
              <a:t>BiLSTM</a:t>
            </a:r>
            <a:endParaRPr lang="en-US" altLang="ko-KR" sz="2400" b="1" dirty="0"/>
          </a:p>
          <a:p>
            <a:pPr algn="ctr"/>
            <a:r>
              <a:rPr lang="en-US" altLang="ko-KR" sz="1600" b="1" spc="-100" dirty="0"/>
              <a:t>1 hidden layer</a:t>
            </a:r>
          </a:p>
          <a:p>
            <a:pPr algn="ctr"/>
            <a:r>
              <a:rPr lang="en-US" altLang="ko-KR" sz="1600" b="1" dirty="0"/>
              <a:t>100 units</a:t>
            </a:r>
            <a:endParaRPr lang="en-US" altLang="ko-KR" sz="2800" b="1" dirty="0"/>
          </a:p>
        </p:txBody>
      </p:sp>
      <p:sp>
        <p:nvSpPr>
          <p:cNvPr id="32" name="Arrow: Right 31">
            <a:extLst>
              <a:ext uri="{FF2B5EF4-FFF2-40B4-BE49-F238E27FC236}">
                <a16:creationId xmlns:a16="http://schemas.microsoft.com/office/drawing/2014/main" id="{85B356C7-8836-405C-D8D6-BBA5CEB65AD8}"/>
              </a:ext>
            </a:extLst>
          </p:cNvPr>
          <p:cNvSpPr/>
          <p:nvPr/>
        </p:nvSpPr>
        <p:spPr>
          <a:xfrm>
            <a:off x="6683322" y="2567063"/>
            <a:ext cx="304841" cy="29483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2" name="Group 41">
            <a:extLst>
              <a:ext uri="{FF2B5EF4-FFF2-40B4-BE49-F238E27FC236}">
                <a16:creationId xmlns:a16="http://schemas.microsoft.com/office/drawing/2014/main" id="{BC0836A4-F720-386F-7991-0E15A274D6BB}"/>
              </a:ext>
            </a:extLst>
          </p:cNvPr>
          <p:cNvGrpSpPr/>
          <p:nvPr/>
        </p:nvGrpSpPr>
        <p:grpSpPr>
          <a:xfrm>
            <a:off x="9149076" y="1962185"/>
            <a:ext cx="1706968" cy="1504586"/>
            <a:chOff x="8529232" y="2484733"/>
            <a:chExt cx="1706968" cy="1504586"/>
          </a:xfrm>
        </p:grpSpPr>
        <p:sp>
          <p:nvSpPr>
            <p:cNvPr id="27" name="Rectangle: Rounded Corners 26">
              <a:extLst>
                <a:ext uri="{FF2B5EF4-FFF2-40B4-BE49-F238E27FC236}">
                  <a16:creationId xmlns:a16="http://schemas.microsoft.com/office/drawing/2014/main" id="{10FEA828-5B11-84F9-A876-D97B08EF8173}"/>
                </a:ext>
              </a:extLst>
            </p:cNvPr>
            <p:cNvSpPr/>
            <p:nvPr/>
          </p:nvSpPr>
          <p:spPr>
            <a:xfrm>
              <a:off x="8529232" y="2484733"/>
              <a:ext cx="1706968" cy="1504586"/>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Rectangle: Rounded Corners 35">
              <a:extLst>
                <a:ext uri="{FF2B5EF4-FFF2-40B4-BE49-F238E27FC236}">
                  <a16:creationId xmlns:a16="http://schemas.microsoft.com/office/drawing/2014/main" id="{7B411C80-FFA6-D1D6-76E4-68E8464D0A08}"/>
                </a:ext>
              </a:extLst>
            </p:cNvPr>
            <p:cNvSpPr/>
            <p:nvPr/>
          </p:nvSpPr>
          <p:spPr>
            <a:xfrm>
              <a:off x="8834533" y="3293049"/>
              <a:ext cx="1058766" cy="570117"/>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Angry</a:t>
              </a:r>
              <a:endParaRPr lang="ko-KR" altLang="en-US" dirty="0"/>
            </a:p>
          </p:txBody>
        </p:sp>
        <p:sp>
          <p:nvSpPr>
            <p:cNvPr id="37" name="Rectangle: Rounded Corners 36">
              <a:extLst>
                <a:ext uri="{FF2B5EF4-FFF2-40B4-BE49-F238E27FC236}">
                  <a16:creationId xmlns:a16="http://schemas.microsoft.com/office/drawing/2014/main" id="{DF9EA799-C760-C134-98F1-42368B422B4D}"/>
                </a:ext>
              </a:extLst>
            </p:cNvPr>
            <p:cNvSpPr/>
            <p:nvPr/>
          </p:nvSpPr>
          <p:spPr>
            <a:xfrm>
              <a:off x="8834533" y="2587490"/>
              <a:ext cx="1058766" cy="570117"/>
            </a:xfrm>
            <a:prstGeom prst="round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Smile</a:t>
              </a:r>
              <a:endParaRPr lang="ko-KR" altLang="en-US" dirty="0"/>
            </a:p>
          </p:txBody>
        </p:sp>
      </p:grpSp>
      <p:sp>
        <p:nvSpPr>
          <p:cNvPr id="41" name="Arrow: Right 40">
            <a:extLst>
              <a:ext uri="{FF2B5EF4-FFF2-40B4-BE49-F238E27FC236}">
                <a16:creationId xmlns:a16="http://schemas.microsoft.com/office/drawing/2014/main" id="{90863D51-F6EE-5519-A4FE-2A7AB7531421}"/>
              </a:ext>
            </a:extLst>
          </p:cNvPr>
          <p:cNvSpPr/>
          <p:nvPr/>
        </p:nvSpPr>
        <p:spPr>
          <a:xfrm>
            <a:off x="8590952" y="2567063"/>
            <a:ext cx="304841" cy="29483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TextBox 42">
            <a:extLst>
              <a:ext uri="{FF2B5EF4-FFF2-40B4-BE49-F238E27FC236}">
                <a16:creationId xmlns:a16="http://schemas.microsoft.com/office/drawing/2014/main" id="{0C5FB7CD-AD67-0EBC-6F8D-BC9E6B170A31}"/>
              </a:ext>
            </a:extLst>
          </p:cNvPr>
          <p:cNvSpPr txBox="1"/>
          <p:nvPr/>
        </p:nvSpPr>
        <p:spPr>
          <a:xfrm>
            <a:off x="761572" y="2181777"/>
            <a:ext cx="431528" cy="369332"/>
          </a:xfrm>
          <a:prstGeom prst="rect">
            <a:avLst/>
          </a:prstGeom>
          <a:noFill/>
        </p:spPr>
        <p:txBody>
          <a:bodyPr wrap="none" rtlCol="0">
            <a:spAutoFit/>
          </a:bodyPr>
          <a:lstStyle/>
          <a:p>
            <a:r>
              <a:rPr lang="en-US" altLang="ko-KR" b="1" dirty="0"/>
              <a:t>F8</a:t>
            </a:r>
            <a:endParaRPr lang="ko-KR" altLang="en-US" b="1" dirty="0"/>
          </a:p>
        </p:txBody>
      </p:sp>
      <p:sp>
        <p:nvSpPr>
          <p:cNvPr id="44" name="TextBox 43">
            <a:extLst>
              <a:ext uri="{FF2B5EF4-FFF2-40B4-BE49-F238E27FC236}">
                <a16:creationId xmlns:a16="http://schemas.microsoft.com/office/drawing/2014/main" id="{297E1524-438D-AE83-104A-5E567D468EFF}"/>
              </a:ext>
            </a:extLst>
          </p:cNvPr>
          <p:cNvSpPr txBox="1"/>
          <p:nvPr/>
        </p:nvSpPr>
        <p:spPr>
          <a:xfrm>
            <a:off x="735907" y="2833427"/>
            <a:ext cx="554960" cy="369332"/>
          </a:xfrm>
          <a:prstGeom prst="rect">
            <a:avLst/>
          </a:prstGeom>
          <a:noFill/>
        </p:spPr>
        <p:txBody>
          <a:bodyPr wrap="none" rtlCol="0">
            <a:spAutoFit/>
          </a:bodyPr>
          <a:lstStyle/>
          <a:p>
            <a:r>
              <a:rPr lang="en-US" altLang="ko-KR" b="1" dirty="0" err="1"/>
              <a:t>FPz</a:t>
            </a:r>
            <a:endParaRPr lang="ko-KR" altLang="en-US" b="1" dirty="0"/>
          </a:p>
        </p:txBody>
      </p:sp>
      <p:pic>
        <p:nvPicPr>
          <p:cNvPr id="46" name="Picture 45">
            <a:extLst>
              <a:ext uri="{FF2B5EF4-FFF2-40B4-BE49-F238E27FC236}">
                <a16:creationId xmlns:a16="http://schemas.microsoft.com/office/drawing/2014/main" id="{AC1DA8AB-0FA7-9DB5-5839-BED0B6CB9DCD}"/>
              </a:ext>
            </a:extLst>
          </p:cNvPr>
          <p:cNvPicPr>
            <a:picLocks noChangeAspect="1"/>
          </p:cNvPicPr>
          <p:nvPr/>
        </p:nvPicPr>
        <p:blipFill>
          <a:blip r:embed="rId4"/>
          <a:stretch>
            <a:fillRect/>
          </a:stretch>
        </p:blipFill>
        <p:spPr>
          <a:xfrm>
            <a:off x="645245" y="4988057"/>
            <a:ext cx="5954275" cy="1297143"/>
          </a:xfrm>
          <a:prstGeom prst="rect">
            <a:avLst/>
          </a:prstGeom>
        </p:spPr>
      </p:pic>
      <p:sp>
        <p:nvSpPr>
          <p:cNvPr id="47" name="TextBox 46">
            <a:extLst>
              <a:ext uri="{FF2B5EF4-FFF2-40B4-BE49-F238E27FC236}">
                <a16:creationId xmlns:a16="http://schemas.microsoft.com/office/drawing/2014/main" id="{97D16120-593D-5BCB-3E73-B2FF4F1B3403}"/>
              </a:ext>
            </a:extLst>
          </p:cNvPr>
          <p:cNvSpPr txBox="1"/>
          <p:nvPr/>
        </p:nvSpPr>
        <p:spPr>
          <a:xfrm>
            <a:off x="503504" y="4197137"/>
            <a:ext cx="5503596" cy="584775"/>
          </a:xfrm>
          <a:prstGeom prst="rect">
            <a:avLst/>
          </a:prstGeom>
          <a:noFill/>
        </p:spPr>
        <p:txBody>
          <a:bodyPr wrap="square">
            <a:spAutoFit/>
          </a:bodyPr>
          <a:lstStyle/>
          <a:p>
            <a:pPr>
              <a:buNone/>
            </a:pPr>
            <a:r>
              <a:rPr lang="en-US" altLang="ko-KR" sz="3200" b="1" dirty="0"/>
              <a:t>1) </a:t>
            </a:r>
            <a:r>
              <a:rPr lang="en-US" altLang="ko-KR" sz="3200" b="1" dirty="0">
                <a:hlinkClick r:id="rId5" action="ppaction://hlinksldjump"/>
              </a:rPr>
              <a:t>Data augmentation</a:t>
            </a:r>
            <a:endParaRPr lang="en-US" altLang="ko-KR" sz="3200" b="1" dirty="0"/>
          </a:p>
        </p:txBody>
      </p:sp>
      <p:pic>
        <p:nvPicPr>
          <p:cNvPr id="48" name="Picture 47">
            <a:extLst>
              <a:ext uri="{FF2B5EF4-FFF2-40B4-BE49-F238E27FC236}">
                <a16:creationId xmlns:a16="http://schemas.microsoft.com/office/drawing/2014/main" id="{9D4AB276-2959-2DD7-6D3D-8790FDD48077}"/>
              </a:ext>
            </a:extLst>
          </p:cNvPr>
          <p:cNvPicPr>
            <a:picLocks noChangeAspect="1"/>
          </p:cNvPicPr>
          <p:nvPr/>
        </p:nvPicPr>
        <p:blipFill>
          <a:blip r:embed="rId6"/>
          <a:srcRect r="41327" b="22664"/>
          <a:stretch>
            <a:fillRect/>
          </a:stretch>
        </p:blipFill>
        <p:spPr>
          <a:xfrm>
            <a:off x="7072115" y="4828285"/>
            <a:ext cx="4013198" cy="1950686"/>
          </a:xfrm>
          <a:prstGeom prst="rect">
            <a:avLst/>
          </a:prstGeom>
        </p:spPr>
      </p:pic>
      <p:sp>
        <p:nvSpPr>
          <p:cNvPr id="49" name="TextBox 48">
            <a:extLst>
              <a:ext uri="{FF2B5EF4-FFF2-40B4-BE49-F238E27FC236}">
                <a16:creationId xmlns:a16="http://schemas.microsoft.com/office/drawing/2014/main" id="{D07C95B8-6DC6-D864-97B4-50852D63D8EE}"/>
              </a:ext>
            </a:extLst>
          </p:cNvPr>
          <p:cNvSpPr txBox="1"/>
          <p:nvPr/>
        </p:nvSpPr>
        <p:spPr>
          <a:xfrm>
            <a:off x="6988163" y="4220663"/>
            <a:ext cx="5400687" cy="584775"/>
          </a:xfrm>
          <a:prstGeom prst="rect">
            <a:avLst/>
          </a:prstGeom>
          <a:noFill/>
        </p:spPr>
        <p:txBody>
          <a:bodyPr wrap="square">
            <a:spAutoFit/>
          </a:bodyPr>
          <a:lstStyle/>
          <a:p>
            <a:pPr>
              <a:buNone/>
            </a:pPr>
            <a:r>
              <a:rPr lang="en-US" altLang="ko-KR" sz="3200" b="1" dirty="0"/>
              <a:t>2) </a:t>
            </a:r>
            <a:r>
              <a:rPr lang="en-US" altLang="ko-KR" sz="3200" b="1" dirty="0">
                <a:hlinkClick r:id="rId7" action="ppaction://hlinksldjump"/>
              </a:rPr>
              <a:t>K-fold Validation</a:t>
            </a:r>
            <a:endParaRPr lang="en-US" altLang="ko-KR" sz="3200" b="1" dirty="0"/>
          </a:p>
        </p:txBody>
      </p:sp>
      <p:sp>
        <p:nvSpPr>
          <p:cNvPr id="51" name="TextBox 50">
            <a:extLst>
              <a:ext uri="{FF2B5EF4-FFF2-40B4-BE49-F238E27FC236}">
                <a16:creationId xmlns:a16="http://schemas.microsoft.com/office/drawing/2014/main" id="{B46F5CF2-26ED-CA50-DB45-F3AB125E6218}"/>
              </a:ext>
            </a:extLst>
          </p:cNvPr>
          <p:cNvSpPr txBox="1"/>
          <p:nvPr/>
        </p:nvSpPr>
        <p:spPr>
          <a:xfrm>
            <a:off x="165100" y="3601810"/>
            <a:ext cx="12934950" cy="646331"/>
          </a:xfrm>
          <a:prstGeom prst="rect">
            <a:avLst/>
          </a:prstGeom>
          <a:noFill/>
        </p:spPr>
        <p:txBody>
          <a:bodyPr wrap="square">
            <a:spAutoFit/>
          </a:bodyPr>
          <a:lstStyle/>
          <a:p>
            <a:r>
              <a:rPr lang="en-US" altLang="ko-KR" sz="3600" b="1" dirty="0"/>
              <a:t>▪ Actions taken to reinforce a limited dataset</a:t>
            </a:r>
            <a:endParaRPr lang="ko-KR" altLang="en-US" sz="3600" b="1" dirty="0"/>
          </a:p>
        </p:txBody>
      </p:sp>
      <p:sp>
        <p:nvSpPr>
          <p:cNvPr id="33" name="TextBox 32">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8/10</a:t>
            </a:r>
            <a:endParaRPr lang="ko-KR" altLang="en-US" b="1" dirty="0"/>
          </a:p>
        </p:txBody>
      </p:sp>
    </p:spTree>
    <p:extLst>
      <p:ext uri="{BB962C8B-B14F-4D97-AF65-F5344CB8AC3E}">
        <p14:creationId xmlns:p14="http://schemas.microsoft.com/office/powerpoint/2010/main" val="3884627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7CF1-FB97-E2A7-F4D8-FBD1EAA31CF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65A7AC-C69C-6056-1DE7-E069C7E1B4C6}"/>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B1A2CE8-168F-B82A-CEBD-6FF0049E9C3B}"/>
              </a:ext>
            </a:extLst>
          </p:cNvPr>
          <p:cNvSpPr txBox="1"/>
          <p:nvPr/>
        </p:nvSpPr>
        <p:spPr>
          <a:xfrm>
            <a:off x="2" y="282169"/>
            <a:ext cx="10002558" cy="707886"/>
          </a:xfrm>
          <a:prstGeom prst="rect">
            <a:avLst/>
          </a:prstGeom>
          <a:noFill/>
        </p:spPr>
        <p:txBody>
          <a:bodyPr wrap="square" rtlCol="0">
            <a:spAutoFit/>
          </a:bodyPr>
          <a:lstStyle/>
          <a:p>
            <a:r>
              <a:rPr lang="en-US" sz="4000" b="1" dirty="0">
                <a:latin typeface="Arial Black" panose="020B0A04020102020204" pitchFamily="34" charset="0"/>
              </a:rPr>
              <a:t>Result /</a:t>
            </a:r>
            <a:r>
              <a:rPr lang="ko-KR" altLang="en-US" sz="4000" b="1" dirty="0">
                <a:latin typeface="Arial Black" panose="020B0A04020102020204" pitchFamily="34" charset="0"/>
              </a:rPr>
              <a:t> </a:t>
            </a:r>
            <a:r>
              <a:rPr lang="en-US" altLang="ko-KR" sz="4000" b="1" dirty="0">
                <a:latin typeface="Arial Black" panose="020B0A04020102020204" pitchFamily="34" charset="0"/>
              </a:rPr>
              <a:t>Limitation and</a:t>
            </a:r>
            <a:r>
              <a:rPr lang="ko-KR" altLang="en-US" sz="4000" b="1" dirty="0">
                <a:latin typeface="Arial Black" panose="020B0A04020102020204" pitchFamily="34" charset="0"/>
              </a:rPr>
              <a:t> </a:t>
            </a:r>
            <a:r>
              <a:rPr lang="en-US" altLang="ko-KR" sz="4000" b="1" dirty="0">
                <a:latin typeface="Arial Black" panose="020B0A04020102020204" pitchFamily="34" charset="0"/>
              </a:rPr>
              <a:t>future</a:t>
            </a:r>
            <a:r>
              <a:rPr lang="ko-KR" altLang="en-US" sz="4000" b="1" dirty="0">
                <a:latin typeface="Arial Black" panose="020B0A04020102020204" pitchFamily="34" charset="0"/>
              </a:rPr>
              <a:t> </a:t>
            </a:r>
            <a:r>
              <a:rPr lang="en-US" altLang="ko-KR" sz="4000" b="1" dirty="0">
                <a:latin typeface="Arial Black" panose="020B0A04020102020204" pitchFamily="34" charset="0"/>
              </a:rPr>
              <a:t>work</a:t>
            </a:r>
            <a:endParaRPr lang="en-US" sz="4000" dirty="0">
              <a:latin typeface="Arial Black" panose="020B0A04020102020204" pitchFamily="34" charset="0"/>
            </a:endParaRPr>
          </a:p>
        </p:txBody>
      </p:sp>
      <p:sp>
        <p:nvSpPr>
          <p:cNvPr id="8" name="TextBox 7">
            <a:extLst>
              <a:ext uri="{FF2B5EF4-FFF2-40B4-BE49-F238E27FC236}">
                <a16:creationId xmlns:a16="http://schemas.microsoft.com/office/drawing/2014/main" id="{C16824D7-5E71-7056-9CE5-3E44DA09CA90}"/>
              </a:ext>
            </a:extLst>
          </p:cNvPr>
          <p:cNvSpPr txBox="1"/>
          <p:nvPr/>
        </p:nvSpPr>
        <p:spPr>
          <a:xfrm>
            <a:off x="165100" y="1538146"/>
            <a:ext cx="11205265" cy="1077218"/>
          </a:xfrm>
          <a:prstGeom prst="rect">
            <a:avLst/>
          </a:prstGeom>
          <a:noFill/>
        </p:spPr>
        <p:txBody>
          <a:bodyPr wrap="square">
            <a:spAutoFit/>
          </a:bodyPr>
          <a:lstStyle/>
          <a:p>
            <a:pPr>
              <a:buNone/>
            </a:pPr>
            <a:r>
              <a:rPr lang="en-US" altLang="ko-KR" sz="3600" b="1" dirty="0"/>
              <a:t>▪ Result : Affect classified by AI</a:t>
            </a:r>
          </a:p>
          <a:p>
            <a:pPr>
              <a:buNone/>
            </a:pPr>
            <a:r>
              <a:rPr lang="en-US" altLang="ko-KR" sz="2800" b="1" dirty="0">
                <a:solidFill>
                  <a:schemeClr val="accent6">
                    <a:lumMod val="75000"/>
                  </a:schemeClr>
                </a:solidFill>
                <a:latin typeface="HY중고딕" panose="02030600000101010101" pitchFamily="18" charset="-127"/>
                <a:ea typeface="HY중고딕" panose="02030600000101010101" pitchFamily="18" charset="-127"/>
              </a:rPr>
              <a:t>                 * Accuracy of 70.63%  ± 10.71%</a:t>
            </a:r>
            <a:endParaRPr lang="en-US" altLang="ko-KR" sz="3600" b="1" dirty="0">
              <a:solidFill>
                <a:schemeClr val="accent6">
                  <a:lumMod val="75000"/>
                </a:schemeClr>
              </a:solidFill>
              <a:latin typeface="HY중고딕" panose="02030600000101010101" pitchFamily="18" charset="-127"/>
              <a:ea typeface="HY중고딕" panose="02030600000101010101" pitchFamily="18" charset="-127"/>
            </a:endParaRPr>
          </a:p>
        </p:txBody>
      </p:sp>
      <p:sp>
        <p:nvSpPr>
          <p:cNvPr id="3" name="TextBox 2">
            <a:extLst>
              <a:ext uri="{FF2B5EF4-FFF2-40B4-BE49-F238E27FC236}">
                <a16:creationId xmlns:a16="http://schemas.microsoft.com/office/drawing/2014/main" id="{B3991E4A-D45D-B480-BBCD-377338437EFB}"/>
              </a:ext>
            </a:extLst>
          </p:cNvPr>
          <p:cNvSpPr txBox="1"/>
          <p:nvPr/>
        </p:nvSpPr>
        <p:spPr>
          <a:xfrm>
            <a:off x="165100" y="3429000"/>
            <a:ext cx="4425950" cy="646331"/>
          </a:xfrm>
          <a:prstGeom prst="rect">
            <a:avLst/>
          </a:prstGeom>
          <a:noFill/>
        </p:spPr>
        <p:txBody>
          <a:bodyPr wrap="square">
            <a:spAutoFit/>
          </a:bodyPr>
          <a:lstStyle/>
          <a:p>
            <a:pPr>
              <a:buNone/>
            </a:pPr>
            <a:r>
              <a:rPr lang="en-US" altLang="ko-KR" sz="3600" b="1" dirty="0"/>
              <a:t>▪ Limitations</a:t>
            </a:r>
          </a:p>
        </p:txBody>
      </p:sp>
      <p:sp>
        <p:nvSpPr>
          <p:cNvPr id="6" name="TextBox 5">
            <a:extLst>
              <a:ext uri="{FF2B5EF4-FFF2-40B4-BE49-F238E27FC236}">
                <a16:creationId xmlns:a16="http://schemas.microsoft.com/office/drawing/2014/main" id="{CB22CDD6-453F-6C0B-378F-BE9C1D6BE70F}"/>
              </a:ext>
            </a:extLst>
          </p:cNvPr>
          <p:cNvSpPr txBox="1"/>
          <p:nvPr/>
        </p:nvSpPr>
        <p:spPr>
          <a:xfrm>
            <a:off x="531930" y="4258040"/>
            <a:ext cx="4466075" cy="584775"/>
          </a:xfrm>
          <a:prstGeom prst="rect">
            <a:avLst/>
          </a:prstGeom>
          <a:noFill/>
        </p:spPr>
        <p:txBody>
          <a:bodyPr wrap="square">
            <a:spAutoFit/>
          </a:bodyPr>
          <a:lstStyle/>
          <a:p>
            <a:pPr>
              <a:buNone/>
            </a:pPr>
            <a:r>
              <a:rPr lang="en-US" altLang="ko-KR" sz="3200" b="1" dirty="0"/>
              <a:t>1) Lack of Data</a:t>
            </a:r>
          </a:p>
        </p:txBody>
      </p:sp>
      <p:sp>
        <p:nvSpPr>
          <p:cNvPr id="9" name="TextBox 8">
            <a:extLst>
              <a:ext uri="{FF2B5EF4-FFF2-40B4-BE49-F238E27FC236}">
                <a16:creationId xmlns:a16="http://schemas.microsoft.com/office/drawing/2014/main" id="{76EFEBA9-430D-0EBD-4FBC-10816331720B}"/>
              </a:ext>
            </a:extLst>
          </p:cNvPr>
          <p:cNvSpPr txBox="1"/>
          <p:nvPr/>
        </p:nvSpPr>
        <p:spPr>
          <a:xfrm>
            <a:off x="535205" y="4903718"/>
            <a:ext cx="5643345" cy="1569660"/>
          </a:xfrm>
          <a:prstGeom prst="rect">
            <a:avLst/>
          </a:prstGeom>
          <a:noFill/>
        </p:spPr>
        <p:txBody>
          <a:bodyPr wrap="square">
            <a:spAutoFit/>
          </a:bodyPr>
          <a:lstStyle/>
          <a:p>
            <a:pPr>
              <a:buNone/>
            </a:pPr>
            <a:r>
              <a:rPr lang="en-US" altLang="ko-KR" sz="3200" b="1" dirty="0"/>
              <a:t>2) Maybe not the best </a:t>
            </a:r>
            <a:br>
              <a:rPr lang="en-US" altLang="ko-KR" sz="3200" b="1" dirty="0"/>
            </a:br>
            <a:r>
              <a:rPr lang="en-US" altLang="ko-KR" sz="3200" b="1" dirty="0"/>
              <a:t>     electrode location</a:t>
            </a:r>
          </a:p>
        </p:txBody>
      </p:sp>
      <p:sp>
        <p:nvSpPr>
          <p:cNvPr id="2" name="TextBox 1">
            <a:extLst>
              <a:ext uri="{FF2B5EF4-FFF2-40B4-BE49-F238E27FC236}">
                <a16:creationId xmlns:a16="http://schemas.microsoft.com/office/drawing/2014/main" id="{32B3592D-D6C1-A4B0-B5B8-5B9B5935BB45}"/>
              </a:ext>
            </a:extLst>
          </p:cNvPr>
          <p:cNvSpPr txBox="1"/>
          <p:nvPr/>
        </p:nvSpPr>
        <p:spPr>
          <a:xfrm>
            <a:off x="5200928" y="3429000"/>
            <a:ext cx="4851122" cy="646331"/>
          </a:xfrm>
          <a:prstGeom prst="rect">
            <a:avLst/>
          </a:prstGeom>
          <a:noFill/>
        </p:spPr>
        <p:txBody>
          <a:bodyPr wrap="square">
            <a:spAutoFit/>
          </a:bodyPr>
          <a:lstStyle/>
          <a:p>
            <a:pPr>
              <a:buNone/>
            </a:pPr>
            <a:r>
              <a:rPr lang="en-US" altLang="ko-KR" sz="3600" b="1" dirty="0"/>
              <a:t>▪ Future Work</a:t>
            </a:r>
          </a:p>
        </p:txBody>
      </p:sp>
      <p:sp>
        <p:nvSpPr>
          <p:cNvPr id="10" name="Arrow: Right 9">
            <a:extLst>
              <a:ext uri="{FF2B5EF4-FFF2-40B4-BE49-F238E27FC236}">
                <a16:creationId xmlns:a16="http://schemas.microsoft.com/office/drawing/2014/main" id="{17FFA818-8E93-1DF3-9A4F-536E610432F4}"/>
              </a:ext>
            </a:extLst>
          </p:cNvPr>
          <p:cNvSpPr/>
          <p:nvPr/>
        </p:nvSpPr>
        <p:spPr>
          <a:xfrm>
            <a:off x="4752875" y="4487081"/>
            <a:ext cx="304841" cy="294831"/>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F39E904A-A049-611C-94D3-45ACB1CEF75E}"/>
              </a:ext>
            </a:extLst>
          </p:cNvPr>
          <p:cNvSpPr txBox="1"/>
          <p:nvPr/>
        </p:nvSpPr>
        <p:spPr>
          <a:xfrm>
            <a:off x="5561774" y="4962633"/>
            <a:ext cx="6795326" cy="584775"/>
          </a:xfrm>
          <a:prstGeom prst="rect">
            <a:avLst/>
          </a:prstGeom>
          <a:noFill/>
        </p:spPr>
        <p:txBody>
          <a:bodyPr wrap="square">
            <a:spAutoFit/>
          </a:bodyPr>
          <a:lstStyle/>
          <a:p>
            <a:pPr>
              <a:buNone/>
            </a:pPr>
            <a:r>
              <a:rPr lang="en-US" altLang="ko-KR" sz="3200" b="1" dirty="0"/>
              <a:t>2) Seek better location for measure</a:t>
            </a:r>
          </a:p>
        </p:txBody>
      </p:sp>
      <p:sp>
        <p:nvSpPr>
          <p:cNvPr id="12" name="TextBox 11">
            <a:extLst>
              <a:ext uri="{FF2B5EF4-FFF2-40B4-BE49-F238E27FC236}">
                <a16:creationId xmlns:a16="http://schemas.microsoft.com/office/drawing/2014/main" id="{5F093559-EBA0-5834-738D-AEC14D7167DC}"/>
              </a:ext>
            </a:extLst>
          </p:cNvPr>
          <p:cNvSpPr txBox="1"/>
          <p:nvPr/>
        </p:nvSpPr>
        <p:spPr>
          <a:xfrm>
            <a:off x="5561773" y="4197137"/>
            <a:ext cx="7817677" cy="584775"/>
          </a:xfrm>
          <a:prstGeom prst="rect">
            <a:avLst/>
          </a:prstGeom>
          <a:noFill/>
        </p:spPr>
        <p:txBody>
          <a:bodyPr wrap="square">
            <a:spAutoFit/>
          </a:bodyPr>
          <a:lstStyle/>
          <a:p>
            <a:pPr>
              <a:buNone/>
            </a:pPr>
            <a:r>
              <a:rPr lang="en-US" altLang="ko-KR" sz="3200" b="1" dirty="0"/>
              <a:t>1) Train AI with large dataset</a:t>
            </a:r>
          </a:p>
        </p:txBody>
      </p:sp>
      <p:sp>
        <p:nvSpPr>
          <p:cNvPr id="13" name="TextBox 12">
            <a:extLst>
              <a:ext uri="{FF2B5EF4-FFF2-40B4-BE49-F238E27FC236}">
                <a16:creationId xmlns:a16="http://schemas.microsoft.com/office/drawing/2014/main" id="{A7643DB9-CC71-50FD-A721-265603D056BC}"/>
              </a:ext>
            </a:extLst>
          </p:cNvPr>
          <p:cNvSpPr txBox="1"/>
          <p:nvPr/>
        </p:nvSpPr>
        <p:spPr>
          <a:xfrm>
            <a:off x="11406752" y="6488668"/>
            <a:ext cx="785247" cy="369332"/>
          </a:xfrm>
          <a:prstGeom prst="rect">
            <a:avLst/>
          </a:prstGeom>
          <a:noFill/>
        </p:spPr>
        <p:txBody>
          <a:bodyPr wrap="square" rtlCol="0">
            <a:spAutoFit/>
          </a:bodyPr>
          <a:lstStyle/>
          <a:p>
            <a:pPr algn="ctr"/>
            <a:r>
              <a:rPr lang="en-US" altLang="ko-KR" b="1" dirty="0"/>
              <a:t>9/10</a:t>
            </a:r>
            <a:endParaRPr lang="ko-KR" altLang="en-US" b="1" dirty="0"/>
          </a:p>
        </p:txBody>
      </p:sp>
    </p:spTree>
    <p:extLst>
      <p:ext uri="{BB962C8B-B14F-4D97-AF65-F5344CB8AC3E}">
        <p14:creationId xmlns:p14="http://schemas.microsoft.com/office/powerpoint/2010/main" val="4094822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E900F-09B1-4C47-CEB5-ABA35B0AC3A5}"/>
            </a:ext>
          </a:extLst>
        </p:cNvPr>
        <p:cNvGrpSpPr/>
        <p:nvPr/>
      </p:nvGrpSpPr>
      <p:grpSpPr>
        <a:xfrm>
          <a:off x="0" y="0"/>
          <a:ext cx="0" cy="0"/>
          <a:chOff x="0" y="0"/>
          <a:chExt cx="0" cy="0"/>
        </a:xfrm>
      </p:grpSpPr>
      <p:pic>
        <p:nvPicPr>
          <p:cNvPr id="1028" name="Picture 4" descr="Stop Trying to Ask 'Smart Questions ...">
            <a:extLst>
              <a:ext uri="{FF2B5EF4-FFF2-40B4-BE49-F238E27FC236}">
                <a16:creationId xmlns:a16="http://schemas.microsoft.com/office/drawing/2014/main" id="{FFA6E091-4FF1-D9B9-7EC6-71B834169F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91045"/>
            <a:ext cx="12192000" cy="54593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F6CA475-DA73-661C-BD65-967475F1A336}"/>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F2A0788-E0B1-4C5A-7314-403CA26D375F}"/>
              </a:ext>
            </a:extLst>
          </p:cNvPr>
          <p:cNvSpPr txBox="1"/>
          <p:nvPr/>
        </p:nvSpPr>
        <p:spPr>
          <a:xfrm>
            <a:off x="2" y="282169"/>
            <a:ext cx="10002558" cy="707886"/>
          </a:xfrm>
          <a:prstGeom prst="rect">
            <a:avLst/>
          </a:prstGeom>
          <a:noFill/>
        </p:spPr>
        <p:txBody>
          <a:bodyPr wrap="square" rtlCol="0">
            <a:spAutoFit/>
          </a:bodyPr>
          <a:lstStyle/>
          <a:p>
            <a:r>
              <a:rPr lang="en-US" sz="4000" b="1" dirty="0">
                <a:latin typeface="Arial Black" panose="020B0A04020102020204" pitchFamily="34" charset="0"/>
              </a:rPr>
              <a:t>Questions ?</a:t>
            </a:r>
            <a:endParaRPr lang="en-US" sz="4000" dirty="0">
              <a:latin typeface="Arial Black" panose="020B0A04020102020204" pitchFamily="34" charset="0"/>
            </a:endParaRPr>
          </a:p>
        </p:txBody>
      </p:sp>
      <p:pic>
        <p:nvPicPr>
          <p:cNvPr id="1026" name="Picture 2" descr="Vector, Symbol, Rubber, Question PNG ...">
            <a:extLst>
              <a:ext uri="{FF2B5EF4-FFF2-40B4-BE49-F238E27FC236}">
                <a16:creationId xmlns:a16="http://schemas.microsoft.com/office/drawing/2014/main" id="{27FBDC46-C015-B906-F48A-2FEDBF5485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2731" y="6104210"/>
            <a:ext cx="1506538" cy="74618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7643DB9-CC71-50FD-A721-265603D056BC}"/>
              </a:ext>
            </a:extLst>
          </p:cNvPr>
          <p:cNvSpPr txBox="1"/>
          <p:nvPr/>
        </p:nvSpPr>
        <p:spPr>
          <a:xfrm>
            <a:off x="11298265" y="6488668"/>
            <a:ext cx="885986" cy="369332"/>
          </a:xfrm>
          <a:prstGeom prst="rect">
            <a:avLst/>
          </a:prstGeom>
          <a:noFill/>
        </p:spPr>
        <p:txBody>
          <a:bodyPr wrap="square" rtlCol="0">
            <a:spAutoFit/>
          </a:bodyPr>
          <a:lstStyle/>
          <a:p>
            <a:pPr algn="ctr"/>
            <a:r>
              <a:rPr lang="en-US" altLang="ko-KR" b="1" dirty="0"/>
              <a:t>10/10</a:t>
            </a:r>
            <a:endParaRPr lang="ko-KR" altLang="en-US" b="1" dirty="0"/>
          </a:p>
        </p:txBody>
      </p:sp>
    </p:spTree>
    <p:extLst>
      <p:ext uri="{BB962C8B-B14F-4D97-AF65-F5344CB8AC3E}">
        <p14:creationId xmlns:p14="http://schemas.microsoft.com/office/powerpoint/2010/main" val="329637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9E0C1-803B-3421-FC35-6C303953C308}"/>
            </a:ext>
          </a:extLst>
        </p:cNvPr>
        <p:cNvGrpSpPr/>
        <p:nvPr/>
      </p:nvGrpSpPr>
      <p:grpSpPr>
        <a:xfrm>
          <a:off x="0" y="0"/>
          <a:ext cx="0" cy="0"/>
          <a:chOff x="0" y="0"/>
          <a:chExt cx="0" cy="0"/>
        </a:xfrm>
      </p:grpSpPr>
      <p:grpSp>
        <p:nvGrpSpPr>
          <p:cNvPr id="70" name="Group 69">
            <a:extLst>
              <a:ext uri="{FF2B5EF4-FFF2-40B4-BE49-F238E27FC236}">
                <a16:creationId xmlns:a16="http://schemas.microsoft.com/office/drawing/2014/main" id="{02EFF5CD-6D01-4126-5DBC-1A01DC88B4EC}"/>
              </a:ext>
            </a:extLst>
          </p:cNvPr>
          <p:cNvGrpSpPr/>
          <p:nvPr/>
        </p:nvGrpSpPr>
        <p:grpSpPr>
          <a:xfrm>
            <a:off x="598488" y="1436802"/>
            <a:ext cx="10071100" cy="3352800"/>
            <a:chOff x="1881188" y="1148935"/>
            <a:chExt cx="10071100" cy="3352800"/>
          </a:xfrm>
        </p:grpSpPr>
        <p:grpSp>
          <p:nvGrpSpPr>
            <p:cNvPr id="71" name="Group 70">
              <a:extLst>
                <a:ext uri="{FF2B5EF4-FFF2-40B4-BE49-F238E27FC236}">
                  <a16:creationId xmlns:a16="http://schemas.microsoft.com/office/drawing/2014/main" id="{9C7A7CCD-D66A-80FA-418F-34701D09D3B4}"/>
                </a:ext>
              </a:extLst>
            </p:cNvPr>
            <p:cNvGrpSpPr/>
            <p:nvPr/>
          </p:nvGrpSpPr>
          <p:grpSpPr>
            <a:xfrm>
              <a:off x="1881188" y="1148935"/>
              <a:ext cx="10071100" cy="3352800"/>
              <a:chOff x="1848441" y="1168400"/>
              <a:chExt cx="10071100" cy="3352800"/>
            </a:xfrm>
          </p:grpSpPr>
          <p:grpSp>
            <p:nvGrpSpPr>
              <p:cNvPr id="83" name="Group 82">
                <a:extLst>
                  <a:ext uri="{FF2B5EF4-FFF2-40B4-BE49-F238E27FC236}">
                    <a16:creationId xmlns:a16="http://schemas.microsoft.com/office/drawing/2014/main" id="{9DD67980-F05D-FB36-6A19-2E27EA60986B}"/>
                  </a:ext>
                </a:extLst>
              </p:cNvPr>
              <p:cNvGrpSpPr/>
              <p:nvPr/>
            </p:nvGrpSpPr>
            <p:grpSpPr>
              <a:xfrm>
                <a:off x="1848441" y="1168400"/>
                <a:ext cx="10071100" cy="3352800"/>
                <a:chOff x="1848441" y="1168400"/>
                <a:chExt cx="10071100" cy="3352800"/>
              </a:xfrm>
            </p:grpSpPr>
            <p:grpSp>
              <p:nvGrpSpPr>
                <p:cNvPr id="85" name="Group 84">
                  <a:extLst>
                    <a:ext uri="{FF2B5EF4-FFF2-40B4-BE49-F238E27FC236}">
                      <a16:creationId xmlns:a16="http://schemas.microsoft.com/office/drawing/2014/main" id="{C4B46D78-57B8-4DFF-DF1C-3B2894FCA84E}"/>
                    </a:ext>
                  </a:extLst>
                </p:cNvPr>
                <p:cNvGrpSpPr/>
                <p:nvPr/>
              </p:nvGrpSpPr>
              <p:grpSpPr>
                <a:xfrm>
                  <a:off x="1848441" y="1168400"/>
                  <a:ext cx="10071100" cy="3352800"/>
                  <a:chOff x="1790700" y="330200"/>
                  <a:chExt cx="10071100" cy="3352800"/>
                </a:xfrm>
              </p:grpSpPr>
              <p:grpSp>
                <p:nvGrpSpPr>
                  <p:cNvPr id="96" name="Group 95">
                    <a:extLst>
                      <a:ext uri="{FF2B5EF4-FFF2-40B4-BE49-F238E27FC236}">
                        <a16:creationId xmlns:a16="http://schemas.microsoft.com/office/drawing/2014/main" id="{EC5CC943-8343-3AC1-A39D-F5FAFB1D3C25}"/>
                      </a:ext>
                    </a:extLst>
                  </p:cNvPr>
                  <p:cNvGrpSpPr/>
                  <p:nvPr/>
                </p:nvGrpSpPr>
                <p:grpSpPr>
                  <a:xfrm>
                    <a:off x="1962150" y="448734"/>
                    <a:ext cx="9717088" cy="2980266"/>
                    <a:chOff x="844550" y="1159934"/>
                    <a:chExt cx="9717088" cy="2980266"/>
                  </a:xfrm>
                </p:grpSpPr>
                <p:pic>
                  <p:nvPicPr>
                    <p:cNvPr id="98" name="그림 개체 틀 3">
                      <a:extLst>
                        <a:ext uri="{FF2B5EF4-FFF2-40B4-BE49-F238E27FC236}">
                          <a16:creationId xmlns:a16="http://schemas.microsoft.com/office/drawing/2014/main" id="{E005BC14-306D-CF16-7483-1B30DBAB5B6E}"/>
                        </a:ext>
                      </a:extLst>
                    </p:cNvPr>
                    <p:cNvPicPr>
                      <a:picLocks noChangeAspect="1"/>
                    </p:cNvPicPr>
                    <p:nvPr/>
                  </p:nvPicPr>
                  <p:blipFill>
                    <a:blip r:embed="rId2"/>
                    <a:srcRect l="1690" r="1690" b="92561"/>
                    <a:stretch>
                      <a:fillRect/>
                    </a:stretch>
                  </p:blipFill>
                  <p:spPr>
                    <a:xfrm>
                      <a:off x="844550" y="1159934"/>
                      <a:ext cx="9717088" cy="402166"/>
                    </a:xfrm>
                    <a:prstGeom prst="rect">
                      <a:avLst/>
                    </a:prstGeom>
                  </p:spPr>
                </p:pic>
                <p:pic>
                  <p:nvPicPr>
                    <p:cNvPr id="99" name="그림 개체 틀 3">
                      <a:extLst>
                        <a:ext uri="{FF2B5EF4-FFF2-40B4-BE49-F238E27FC236}">
                          <a16:creationId xmlns:a16="http://schemas.microsoft.com/office/drawing/2014/main" id="{A6C3C4EE-C9D8-4F7D-94CF-3F1EAB195782}"/>
                        </a:ext>
                      </a:extLst>
                    </p:cNvPr>
                    <p:cNvPicPr>
                      <a:picLocks noChangeAspect="1"/>
                    </p:cNvPicPr>
                    <p:nvPr/>
                  </p:nvPicPr>
                  <p:blipFill>
                    <a:blip r:embed="rId2"/>
                    <a:srcRect l="1690" t="68519" r="1690"/>
                    <a:stretch>
                      <a:fillRect/>
                    </a:stretch>
                  </p:blipFill>
                  <p:spPr>
                    <a:xfrm>
                      <a:off x="844550" y="1562100"/>
                      <a:ext cx="9717088" cy="2578100"/>
                    </a:xfrm>
                    <a:prstGeom prst="rect">
                      <a:avLst/>
                    </a:prstGeom>
                  </p:spPr>
                </p:pic>
              </p:grpSp>
              <p:sp>
                <p:nvSpPr>
                  <p:cNvPr id="97" name="Rectangle 96">
                    <a:extLst>
                      <a:ext uri="{FF2B5EF4-FFF2-40B4-BE49-F238E27FC236}">
                        <a16:creationId xmlns:a16="http://schemas.microsoft.com/office/drawing/2014/main" id="{D18BB387-286B-DCC1-551A-DFC0EF566C55}"/>
                      </a:ext>
                    </a:extLst>
                  </p:cNvPr>
                  <p:cNvSpPr/>
                  <p:nvPr/>
                </p:nvSpPr>
                <p:spPr>
                  <a:xfrm>
                    <a:off x="1790700" y="330200"/>
                    <a:ext cx="10071100" cy="3352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86" name="TextBox 85">
                  <a:extLst>
                    <a:ext uri="{FF2B5EF4-FFF2-40B4-BE49-F238E27FC236}">
                      <a16:creationId xmlns:a16="http://schemas.microsoft.com/office/drawing/2014/main" id="{5014293A-7CF5-8049-0EC8-116D85DCB525}"/>
                    </a:ext>
                  </a:extLst>
                </p:cNvPr>
                <p:cNvSpPr txBox="1"/>
                <p:nvPr/>
              </p:nvSpPr>
              <p:spPr>
                <a:xfrm>
                  <a:off x="2174011" y="4024868"/>
                  <a:ext cx="308098" cy="369332"/>
                </a:xfrm>
                <a:prstGeom prst="rect">
                  <a:avLst/>
                </a:prstGeom>
                <a:noFill/>
              </p:spPr>
              <p:txBody>
                <a:bodyPr wrap="none" rtlCol="0">
                  <a:spAutoFit/>
                </a:bodyPr>
                <a:lstStyle/>
                <a:p>
                  <a:r>
                    <a:rPr lang="en-US" altLang="ko-KR" dirty="0"/>
                    <a:t>0</a:t>
                  </a:r>
                  <a:endParaRPr lang="ko-KR" altLang="en-US" dirty="0"/>
                </a:p>
              </p:txBody>
            </p:sp>
            <p:sp>
              <p:nvSpPr>
                <p:cNvPr id="87" name="TextBox 86">
                  <a:extLst>
                    <a:ext uri="{FF2B5EF4-FFF2-40B4-BE49-F238E27FC236}">
                      <a16:creationId xmlns:a16="http://schemas.microsoft.com/office/drawing/2014/main" id="{CEEEDEB4-FF62-1173-3FDB-32B9083854E5}"/>
                    </a:ext>
                  </a:extLst>
                </p:cNvPr>
                <p:cNvSpPr txBox="1"/>
                <p:nvPr/>
              </p:nvSpPr>
              <p:spPr>
                <a:xfrm>
                  <a:off x="3049182" y="4024868"/>
                  <a:ext cx="308098" cy="369332"/>
                </a:xfrm>
                <a:prstGeom prst="rect">
                  <a:avLst/>
                </a:prstGeom>
                <a:noFill/>
              </p:spPr>
              <p:txBody>
                <a:bodyPr wrap="square" rtlCol="0">
                  <a:spAutoFit/>
                </a:bodyPr>
                <a:lstStyle/>
                <a:p>
                  <a:r>
                    <a:rPr lang="en-US" altLang="ko-KR" dirty="0"/>
                    <a:t>1</a:t>
                  </a:r>
                  <a:endParaRPr lang="ko-KR" altLang="en-US" dirty="0"/>
                </a:p>
              </p:txBody>
            </p:sp>
            <p:sp>
              <p:nvSpPr>
                <p:cNvPr id="88" name="TextBox 87">
                  <a:extLst>
                    <a:ext uri="{FF2B5EF4-FFF2-40B4-BE49-F238E27FC236}">
                      <a16:creationId xmlns:a16="http://schemas.microsoft.com/office/drawing/2014/main" id="{35A13E3C-40C5-D8A7-8AEF-57685E052B5D}"/>
                    </a:ext>
                  </a:extLst>
                </p:cNvPr>
                <p:cNvSpPr txBox="1"/>
                <p:nvPr/>
              </p:nvSpPr>
              <p:spPr>
                <a:xfrm>
                  <a:off x="3968212" y="4024868"/>
                  <a:ext cx="308098" cy="369332"/>
                </a:xfrm>
                <a:prstGeom prst="rect">
                  <a:avLst/>
                </a:prstGeom>
                <a:noFill/>
              </p:spPr>
              <p:txBody>
                <a:bodyPr wrap="square" rtlCol="0">
                  <a:spAutoFit/>
                </a:bodyPr>
                <a:lstStyle/>
                <a:p>
                  <a:r>
                    <a:rPr lang="en-US" altLang="ko-KR" dirty="0"/>
                    <a:t>2</a:t>
                  </a:r>
                  <a:endParaRPr lang="ko-KR" altLang="en-US" dirty="0"/>
                </a:p>
              </p:txBody>
            </p:sp>
            <p:sp>
              <p:nvSpPr>
                <p:cNvPr id="89" name="TextBox 88">
                  <a:extLst>
                    <a:ext uri="{FF2B5EF4-FFF2-40B4-BE49-F238E27FC236}">
                      <a16:creationId xmlns:a16="http://schemas.microsoft.com/office/drawing/2014/main" id="{D58B1285-F0BC-01E1-C1FA-C52F426F3EAB}"/>
                    </a:ext>
                  </a:extLst>
                </p:cNvPr>
                <p:cNvSpPr txBox="1"/>
                <p:nvPr/>
              </p:nvSpPr>
              <p:spPr>
                <a:xfrm>
                  <a:off x="4843383" y="4024868"/>
                  <a:ext cx="308098" cy="369332"/>
                </a:xfrm>
                <a:prstGeom prst="rect">
                  <a:avLst/>
                </a:prstGeom>
                <a:noFill/>
              </p:spPr>
              <p:txBody>
                <a:bodyPr wrap="square" rtlCol="0">
                  <a:spAutoFit/>
                </a:bodyPr>
                <a:lstStyle/>
                <a:p>
                  <a:r>
                    <a:rPr lang="en-US" altLang="ko-KR" dirty="0"/>
                    <a:t>3</a:t>
                  </a:r>
                  <a:endParaRPr lang="ko-KR" altLang="en-US" dirty="0"/>
                </a:p>
              </p:txBody>
            </p:sp>
            <p:sp>
              <p:nvSpPr>
                <p:cNvPr id="90" name="TextBox 89">
                  <a:extLst>
                    <a:ext uri="{FF2B5EF4-FFF2-40B4-BE49-F238E27FC236}">
                      <a16:creationId xmlns:a16="http://schemas.microsoft.com/office/drawing/2014/main" id="{2880565F-762A-2151-6796-D96CE292A9EF}"/>
                    </a:ext>
                  </a:extLst>
                </p:cNvPr>
                <p:cNvSpPr txBox="1"/>
                <p:nvPr/>
              </p:nvSpPr>
              <p:spPr>
                <a:xfrm>
                  <a:off x="5718554" y="4024868"/>
                  <a:ext cx="308098" cy="369332"/>
                </a:xfrm>
                <a:prstGeom prst="rect">
                  <a:avLst/>
                </a:prstGeom>
                <a:noFill/>
              </p:spPr>
              <p:txBody>
                <a:bodyPr wrap="square" rtlCol="0">
                  <a:spAutoFit/>
                </a:bodyPr>
                <a:lstStyle/>
                <a:p>
                  <a:r>
                    <a:rPr lang="en-US" altLang="ko-KR" dirty="0"/>
                    <a:t>4</a:t>
                  </a:r>
                  <a:endParaRPr lang="ko-KR" altLang="en-US" dirty="0"/>
                </a:p>
              </p:txBody>
            </p:sp>
            <p:sp>
              <p:nvSpPr>
                <p:cNvPr id="91" name="TextBox 90">
                  <a:extLst>
                    <a:ext uri="{FF2B5EF4-FFF2-40B4-BE49-F238E27FC236}">
                      <a16:creationId xmlns:a16="http://schemas.microsoft.com/office/drawing/2014/main" id="{4861968D-2628-C426-6427-AC2392F19FB1}"/>
                    </a:ext>
                  </a:extLst>
                </p:cNvPr>
                <p:cNvSpPr txBox="1"/>
                <p:nvPr/>
              </p:nvSpPr>
              <p:spPr>
                <a:xfrm>
                  <a:off x="6593725" y="4024868"/>
                  <a:ext cx="308098" cy="369332"/>
                </a:xfrm>
                <a:prstGeom prst="rect">
                  <a:avLst/>
                </a:prstGeom>
                <a:noFill/>
              </p:spPr>
              <p:txBody>
                <a:bodyPr wrap="square" rtlCol="0">
                  <a:spAutoFit/>
                </a:bodyPr>
                <a:lstStyle/>
                <a:p>
                  <a:r>
                    <a:rPr lang="en-US" altLang="ko-KR" dirty="0"/>
                    <a:t>5</a:t>
                  </a:r>
                  <a:endParaRPr lang="ko-KR" altLang="en-US" dirty="0"/>
                </a:p>
              </p:txBody>
            </p:sp>
            <p:sp>
              <p:nvSpPr>
                <p:cNvPr id="92" name="TextBox 91">
                  <a:extLst>
                    <a:ext uri="{FF2B5EF4-FFF2-40B4-BE49-F238E27FC236}">
                      <a16:creationId xmlns:a16="http://schemas.microsoft.com/office/drawing/2014/main" id="{06EEC104-54D8-BD42-E08B-35823342BB67}"/>
                    </a:ext>
                  </a:extLst>
                </p:cNvPr>
                <p:cNvSpPr txBox="1"/>
                <p:nvPr/>
              </p:nvSpPr>
              <p:spPr>
                <a:xfrm>
                  <a:off x="7468896" y="4024868"/>
                  <a:ext cx="308098" cy="369332"/>
                </a:xfrm>
                <a:prstGeom prst="rect">
                  <a:avLst/>
                </a:prstGeom>
                <a:noFill/>
              </p:spPr>
              <p:txBody>
                <a:bodyPr wrap="square" rtlCol="0">
                  <a:spAutoFit/>
                </a:bodyPr>
                <a:lstStyle/>
                <a:p>
                  <a:r>
                    <a:rPr lang="en-US" altLang="ko-KR" dirty="0"/>
                    <a:t>6</a:t>
                  </a:r>
                  <a:endParaRPr lang="ko-KR" altLang="en-US" dirty="0"/>
                </a:p>
              </p:txBody>
            </p:sp>
            <p:sp>
              <p:nvSpPr>
                <p:cNvPr id="93" name="TextBox 92">
                  <a:extLst>
                    <a:ext uri="{FF2B5EF4-FFF2-40B4-BE49-F238E27FC236}">
                      <a16:creationId xmlns:a16="http://schemas.microsoft.com/office/drawing/2014/main" id="{3A41168D-193A-5BD4-EC5B-042A20844C75}"/>
                    </a:ext>
                  </a:extLst>
                </p:cNvPr>
                <p:cNvSpPr txBox="1"/>
                <p:nvPr/>
              </p:nvSpPr>
              <p:spPr>
                <a:xfrm>
                  <a:off x="8344067" y="4024868"/>
                  <a:ext cx="308098" cy="369332"/>
                </a:xfrm>
                <a:prstGeom prst="rect">
                  <a:avLst/>
                </a:prstGeom>
                <a:noFill/>
              </p:spPr>
              <p:txBody>
                <a:bodyPr wrap="square" rtlCol="0">
                  <a:spAutoFit/>
                </a:bodyPr>
                <a:lstStyle/>
                <a:p>
                  <a:r>
                    <a:rPr lang="en-US" altLang="ko-KR" dirty="0"/>
                    <a:t>7</a:t>
                  </a:r>
                  <a:endParaRPr lang="ko-KR" altLang="en-US" dirty="0"/>
                </a:p>
              </p:txBody>
            </p:sp>
            <p:sp>
              <p:nvSpPr>
                <p:cNvPr id="94" name="TextBox 93">
                  <a:extLst>
                    <a:ext uri="{FF2B5EF4-FFF2-40B4-BE49-F238E27FC236}">
                      <a16:creationId xmlns:a16="http://schemas.microsoft.com/office/drawing/2014/main" id="{F03061C3-4CD9-FE30-550A-6294D911E9FA}"/>
                    </a:ext>
                  </a:extLst>
                </p:cNvPr>
                <p:cNvSpPr txBox="1"/>
                <p:nvPr/>
              </p:nvSpPr>
              <p:spPr>
                <a:xfrm>
                  <a:off x="9219236" y="4024868"/>
                  <a:ext cx="308098" cy="369332"/>
                </a:xfrm>
                <a:prstGeom prst="rect">
                  <a:avLst/>
                </a:prstGeom>
                <a:noFill/>
              </p:spPr>
              <p:txBody>
                <a:bodyPr wrap="square" rtlCol="0">
                  <a:spAutoFit/>
                </a:bodyPr>
                <a:lstStyle/>
                <a:p>
                  <a:r>
                    <a:rPr lang="en-US" altLang="ko-KR" dirty="0"/>
                    <a:t>8</a:t>
                  </a:r>
                  <a:endParaRPr lang="ko-KR" altLang="en-US" dirty="0"/>
                </a:p>
              </p:txBody>
            </p:sp>
            <p:sp>
              <p:nvSpPr>
                <p:cNvPr id="95" name="TextBox 94">
                  <a:extLst>
                    <a:ext uri="{FF2B5EF4-FFF2-40B4-BE49-F238E27FC236}">
                      <a16:creationId xmlns:a16="http://schemas.microsoft.com/office/drawing/2014/main" id="{0375248C-67CA-6C37-DA86-47C4C57FE1E4}"/>
                    </a:ext>
                  </a:extLst>
                </p:cNvPr>
                <p:cNvSpPr txBox="1"/>
                <p:nvPr/>
              </p:nvSpPr>
              <p:spPr>
                <a:xfrm>
                  <a:off x="10094405" y="4024868"/>
                  <a:ext cx="308098" cy="369332"/>
                </a:xfrm>
                <a:prstGeom prst="rect">
                  <a:avLst/>
                </a:prstGeom>
                <a:noFill/>
              </p:spPr>
              <p:txBody>
                <a:bodyPr wrap="square" rtlCol="0">
                  <a:spAutoFit/>
                </a:bodyPr>
                <a:lstStyle/>
                <a:p>
                  <a:r>
                    <a:rPr lang="en-US" altLang="ko-KR" dirty="0"/>
                    <a:t>9</a:t>
                  </a:r>
                  <a:endParaRPr lang="ko-KR" altLang="en-US" dirty="0"/>
                </a:p>
              </p:txBody>
            </p:sp>
          </p:grpSp>
          <p:sp>
            <p:nvSpPr>
              <p:cNvPr id="84" name="Rectangle 83">
                <a:extLst>
                  <a:ext uri="{FF2B5EF4-FFF2-40B4-BE49-F238E27FC236}">
                    <a16:creationId xmlns:a16="http://schemas.microsoft.com/office/drawing/2014/main" id="{0D6A2CF9-48A9-D29B-3949-22B3441F1E62}"/>
                  </a:ext>
                </a:extLst>
              </p:cNvPr>
              <p:cNvSpPr/>
              <p:nvPr/>
            </p:nvSpPr>
            <p:spPr>
              <a:xfrm>
                <a:off x="2371919" y="1481667"/>
                <a:ext cx="7889681" cy="2578100"/>
              </a:xfrm>
              <a:prstGeom prst="rect">
                <a:avLst/>
              </a:prstGeom>
              <a:solidFill>
                <a:schemeClr val="accent2">
                  <a:lumMod val="20000"/>
                  <a:lumOff val="80000"/>
                  <a:alpha val="1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TextBox 75">
              <a:extLst>
                <a:ext uri="{FF2B5EF4-FFF2-40B4-BE49-F238E27FC236}">
                  <a16:creationId xmlns:a16="http://schemas.microsoft.com/office/drawing/2014/main" id="{CE684A27-7602-99A6-8477-B3758542ED0E}"/>
                </a:ext>
              </a:extLst>
            </p:cNvPr>
            <p:cNvSpPr txBox="1"/>
            <p:nvPr/>
          </p:nvSpPr>
          <p:spPr>
            <a:xfrm>
              <a:off x="1892300" y="3014132"/>
              <a:ext cx="554960" cy="369332"/>
            </a:xfrm>
            <a:prstGeom prst="rect">
              <a:avLst/>
            </a:prstGeom>
            <a:noFill/>
          </p:spPr>
          <p:txBody>
            <a:bodyPr wrap="none" rtlCol="0">
              <a:spAutoFit/>
            </a:bodyPr>
            <a:lstStyle/>
            <a:p>
              <a:r>
                <a:rPr lang="en-US" altLang="ko-KR" b="1" dirty="0" err="1"/>
                <a:t>FPz</a:t>
              </a:r>
              <a:endParaRPr lang="ko-KR" altLang="en-US" b="1" dirty="0"/>
            </a:p>
          </p:txBody>
        </p:sp>
        <p:sp>
          <p:nvSpPr>
            <p:cNvPr id="79" name="TextBox 78">
              <a:extLst>
                <a:ext uri="{FF2B5EF4-FFF2-40B4-BE49-F238E27FC236}">
                  <a16:creationId xmlns:a16="http://schemas.microsoft.com/office/drawing/2014/main" id="{BD4D7BCF-F49A-6916-A6B5-30102DF81BE4}"/>
                </a:ext>
              </a:extLst>
            </p:cNvPr>
            <p:cNvSpPr txBox="1"/>
            <p:nvPr/>
          </p:nvSpPr>
          <p:spPr>
            <a:xfrm>
              <a:off x="1881188" y="2091266"/>
              <a:ext cx="431528" cy="369332"/>
            </a:xfrm>
            <a:prstGeom prst="rect">
              <a:avLst/>
            </a:prstGeom>
            <a:noFill/>
          </p:spPr>
          <p:txBody>
            <a:bodyPr wrap="none" rtlCol="0">
              <a:spAutoFit/>
            </a:bodyPr>
            <a:lstStyle/>
            <a:p>
              <a:r>
                <a:rPr lang="en-US" altLang="ko-KR" b="1" dirty="0"/>
                <a:t>F8</a:t>
              </a:r>
              <a:endParaRPr lang="ko-KR" altLang="en-US" b="1" dirty="0"/>
            </a:p>
          </p:txBody>
        </p:sp>
      </p:grpSp>
      <p:grpSp>
        <p:nvGrpSpPr>
          <p:cNvPr id="72" name="Group 71">
            <a:extLst>
              <a:ext uri="{FF2B5EF4-FFF2-40B4-BE49-F238E27FC236}">
                <a16:creationId xmlns:a16="http://schemas.microsoft.com/office/drawing/2014/main" id="{CBA0F0FC-93B4-013F-909E-F54CC840D490}"/>
              </a:ext>
            </a:extLst>
          </p:cNvPr>
          <p:cNvGrpSpPr/>
          <p:nvPr/>
        </p:nvGrpSpPr>
        <p:grpSpPr>
          <a:xfrm>
            <a:off x="244662" y="804621"/>
            <a:ext cx="11826684" cy="524412"/>
            <a:chOff x="605117" y="3743143"/>
            <a:chExt cx="9179445" cy="524412"/>
          </a:xfrm>
        </p:grpSpPr>
        <p:sp>
          <p:nvSpPr>
            <p:cNvPr id="73" name="TextBox 72">
              <a:extLst>
                <a:ext uri="{FF2B5EF4-FFF2-40B4-BE49-F238E27FC236}">
                  <a16:creationId xmlns:a16="http://schemas.microsoft.com/office/drawing/2014/main" id="{CC87BF60-EB02-131B-AFBF-312F9062FB74}"/>
                </a:ext>
              </a:extLst>
            </p:cNvPr>
            <p:cNvSpPr txBox="1"/>
            <p:nvPr/>
          </p:nvSpPr>
          <p:spPr>
            <a:xfrm>
              <a:off x="605117" y="3743143"/>
              <a:ext cx="8513484" cy="523220"/>
            </a:xfrm>
            <a:prstGeom prst="rect">
              <a:avLst/>
            </a:prstGeom>
            <a:noFill/>
          </p:spPr>
          <p:txBody>
            <a:bodyPr wrap="square">
              <a:spAutoFit/>
            </a:bodyPr>
            <a:lstStyle/>
            <a:p>
              <a:r>
                <a:rPr lang="en-US" altLang="ko-KR" sz="2800" b="1" dirty="0"/>
                <a:t>3) STFT with 1.5-s window, 90% overlap</a:t>
              </a:r>
              <a:endParaRPr lang="ko-KR" altLang="en-US" sz="2800" b="1" dirty="0"/>
            </a:p>
          </p:txBody>
        </p:sp>
        <p:sp>
          <p:nvSpPr>
            <p:cNvPr id="74" name="TextBox 73">
              <a:extLst>
                <a:ext uri="{FF2B5EF4-FFF2-40B4-BE49-F238E27FC236}">
                  <a16:creationId xmlns:a16="http://schemas.microsoft.com/office/drawing/2014/main" id="{B01BB897-7760-5AFE-063D-5D8868806174}"/>
                </a:ext>
              </a:extLst>
            </p:cNvPr>
            <p:cNvSpPr txBox="1"/>
            <p:nvPr/>
          </p:nvSpPr>
          <p:spPr>
            <a:xfrm>
              <a:off x="7875079" y="3744335"/>
              <a:ext cx="1909483" cy="523220"/>
            </a:xfrm>
            <a:prstGeom prst="rect">
              <a:avLst/>
            </a:prstGeom>
            <a:noFill/>
          </p:spPr>
          <p:txBody>
            <a:bodyPr wrap="square">
              <a:spAutoFit/>
            </a:bodyPr>
            <a:lstStyle/>
            <a:p>
              <a:r>
                <a:rPr lang="en-US" altLang="ko-KR" sz="2800" b="1" dirty="0">
                  <a:solidFill>
                    <a:srgbClr val="0000FF"/>
                  </a:solidFill>
                </a:rPr>
                <a:t>51 frames</a:t>
              </a:r>
              <a:endParaRPr lang="ko-KR" altLang="en-US" sz="2800" b="1" dirty="0">
                <a:solidFill>
                  <a:srgbClr val="0000FF"/>
                </a:solidFill>
              </a:endParaRPr>
            </a:p>
          </p:txBody>
        </p:sp>
        <p:cxnSp>
          <p:nvCxnSpPr>
            <p:cNvPr id="75" name="Straight Arrow Connector 74">
              <a:extLst>
                <a:ext uri="{FF2B5EF4-FFF2-40B4-BE49-F238E27FC236}">
                  <a16:creationId xmlns:a16="http://schemas.microsoft.com/office/drawing/2014/main" id="{40F2D806-74F8-1B72-7CB7-3BCD54FC34C1}"/>
                </a:ext>
              </a:extLst>
            </p:cNvPr>
            <p:cNvCxnSpPr/>
            <p:nvPr/>
          </p:nvCxnSpPr>
          <p:spPr>
            <a:xfrm>
              <a:off x="7277411" y="4005945"/>
              <a:ext cx="407864"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77" name="TextBox 76">
            <a:extLst>
              <a:ext uri="{FF2B5EF4-FFF2-40B4-BE49-F238E27FC236}">
                <a16:creationId xmlns:a16="http://schemas.microsoft.com/office/drawing/2014/main" id="{5E26EB9A-0F65-775B-EF84-067DE39C6AEE}"/>
              </a:ext>
            </a:extLst>
          </p:cNvPr>
          <p:cNvSpPr txBox="1"/>
          <p:nvPr/>
        </p:nvSpPr>
        <p:spPr>
          <a:xfrm>
            <a:off x="244663" y="90454"/>
            <a:ext cx="6206937" cy="646331"/>
          </a:xfrm>
          <a:prstGeom prst="rect">
            <a:avLst/>
          </a:prstGeom>
          <a:noFill/>
        </p:spPr>
        <p:txBody>
          <a:bodyPr wrap="square">
            <a:spAutoFit/>
          </a:bodyPr>
          <a:lstStyle/>
          <a:p>
            <a:r>
              <a:rPr lang="en-US" altLang="ko-KR" sz="3600" b="1" dirty="0"/>
              <a:t>Quick Explanation</a:t>
            </a:r>
            <a:endParaRPr lang="ko-KR" altLang="en-US" sz="3600" b="1" dirty="0"/>
          </a:p>
        </p:txBody>
      </p:sp>
      <p:sp>
        <p:nvSpPr>
          <p:cNvPr id="22" name="Rectangle 21">
            <a:extLst>
              <a:ext uri="{FF2B5EF4-FFF2-40B4-BE49-F238E27FC236}">
                <a16:creationId xmlns:a16="http://schemas.microsoft.com/office/drawing/2014/main" id="{70C0B32F-13C4-02C5-EBD6-D75A3AE2C0BD}"/>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Rectangle 1">
            <a:extLst>
              <a:ext uri="{FF2B5EF4-FFF2-40B4-BE49-F238E27FC236}">
                <a16:creationId xmlns:a16="http://schemas.microsoft.com/office/drawing/2014/main" id="{58B5D4DD-BF26-220A-95D9-D7C8C4F99083}"/>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Rectangle 2">
            <a:extLst>
              <a:ext uri="{FF2B5EF4-FFF2-40B4-BE49-F238E27FC236}">
                <a16:creationId xmlns:a16="http://schemas.microsoft.com/office/drawing/2014/main" id="{2A4B424D-2B7E-0DAB-6533-C9B564831A3F}"/>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19">
            <a:extLst>
              <a:ext uri="{FF2B5EF4-FFF2-40B4-BE49-F238E27FC236}">
                <a16:creationId xmlns:a16="http://schemas.microsoft.com/office/drawing/2014/main" id="{D75385C8-76A1-8B16-1637-626F88941FA3}"/>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FB90DE7C-FD0B-0F39-5464-5A293A2F6557}"/>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59D9F634-2686-7BAF-FEED-FB03ABB88D2E}"/>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12BEBCDB-5622-257C-E8BD-9CE4D1777C70}"/>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Rectangle 26">
            <a:extLst>
              <a:ext uri="{FF2B5EF4-FFF2-40B4-BE49-F238E27FC236}">
                <a16:creationId xmlns:a16="http://schemas.microsoft.com/office/drawing/2014/main" id="{861709CA-3E5F-9FDC-A09C-A1D95EA24F40}"/>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Rectangle 27">
            <a:extLst>
              <a:ext uri="{FF2B5EF4-FFF2-40B4-BE49-F238E27FC236}">
                <a16:creationId xmlns:a16="http://schemas.microsoft.com/office/drawing/2014/main" id="{68A7831F-4725-3F4E-19A9-1B224C716183}"/>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Rectangle 28">
            <a:extLst>
              <a:ext uri="{FF2B5EF4-FFF2-40B4-BE49-F238E27FC236}">
                <a16:creationId xmlns:a16="http://schemas.microsoft.com/office/drawing/2014/main" id="{2F972A1F-AF57-0D2E-804F-ABB6797633A8}"/>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Rectangle 29">
            <a:extLst>
              <a:ext uri="{FF2B5EF4-FFF2-40B4-BE49-F238E27FC236}">
                <a16:creationId xmlns:a16="http://schemas.microsoft.com/office/drawing/2014/main" id="{B25E25EC-EDD9-4575-8DC8-AB26680A45FC}"/>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Rectangle 30">
            <a:extLst>
              <a:ext uri="{FF2B5EF4-FFF2-40B4-BE49-F238E27FC236}">
                <a16:creationId xmlns:a16="http://schemas.microsoft.com/office/drawing/2014/main" id="{1DB293F8-D6FE-E6DF-7745-83947411DB74}"/>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Rectangle 31">
            <a:extLst>
              <a:ext uri="{FF2B5EF4-FFF2-40B4-BE49-F238E27FC236}">
                <a16:creationId xmlns:a16="http://schemas.microsoft.com/office/drawing/2014/main" id="{41FAF340-C17E-97EE-3298-2F72FC2852CF}"/>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Rectangle 32">
            <a:extLst>
              <a:ext uri="{FF2B5EF4-FFF2-40B4-BE49-F238E27FC236}">
                <a16:creationId xmlns:a16="http://schemas.microsoft.com/office/drawing/2014/main" id="{3612C53A-69AA-B1C7-53E4-9BC077C005F2}"/>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Rectangle 33">
            <a:extLst>
              <a:ext uri="{FF2B5EF4-FFF2-40B4-BE49-F238E27FC236}">
                <a16:creationId xmlns:a16="http://schemas.microsoft.com/office/drawing/2014/main" id="{EB98CA74-81D3-FDA8-778E-70C7B76E764E}"/>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Rectangle 34">
            <a:extLst>
              <a:ext uri="{FF2B5EF4-FFF2-40B4-BE49-F238E27FC236}">
                <a16:creationId xmlns:a16="http://schemas.microsoft.com/office/drawing/2014/main" id="{2AAA2F49-BFE0-3DB7-D36F-B7049EDA3926}"/>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Rectangle 35">
            <a:extLst>
              <a:ext uri="{FF2B5EF4-FFF2-40B4-BE49-F238E27FC236}">
                <a16:creationId xmlns:a16="http://schemas.microsoft.com/office/drawing/2014/main" id="{3B80BF7E-B3E1-D4EC-9D62-145451B46115}"/>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Rectangle 36">
            <a:extLst>
              <a:ext uri="{FF2B5EF4-FFF2-40B4-BE49-F238E27FC236}">
                <a16:creationId xmlns:a16="http://schemas.microsoft.com/office/drawing/2014/main" id="{91094131-44BD-74E8-16B9-4CEFB3E5728E}"/>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Rectangle 37">
            <a:extLst>
              <a:ext uri="{FF2B5EF4-FFF2-40B4-BE49-F238E27FC236}">
                <a16:creationId xmlns:a16="http://schemas.microsoft.com/office/drawing/2014/main" id="{6C4726D9-51F6-5647-FA7E-29D64892A7EA}"/>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Rectangle 38">
            <a:extLst>
              <a:ext uri="{FF2B5EF4-FFF2-40B4-BE49-F238E27FC236}">
                <a16:creationId xmlns:a16="http://schemas.microsoft.com/office/drawing/2014/main" id="{5A38211C-54D1-0030-2D75-0A98ABFF3962}"/>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Rectangle 39">
            <a:extLst>
              <a:ext uri="{FF2B5EF4-FFF2-40B4-BE49-F238E27FC236}">
                <a16:creationId xmlns:a16="http://schemas.microsoft.com/office/drawing/2014/main" id="{C99DA63C-2672-B0A8-9809-DFC8CDBD1E72}"/>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Rectangle 40">
            <a:extLst>
              <a:ext uri="{FF2B5EF4-FFF2-40B4-BE49-F238E27FC236}">
                <a16:creationId xmlns:a16="http://schemas.microsoft.com/office/drawing/2014/main" id="{8C3E3C62-B67B-9F84-FB86-B6C7F01C9D5C}"/>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Rectangle 41">
            <a:extLst>
              <a:ext uri="{FF2B5EF4-FFF2-40B4-BE49-F238E27FC236}">
                <a16:creationId xmlns:a16="http://schemas.microsoft.com/office/drawing/2014/main" id="{7652AF99-782E-1A92-81E0-A6D4BA9FB279}"/>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Rectangle 42">
            <a:extLst>
              <a:ext uri="{FF2B5EF4-FFF2-40B4-BE49-F238E27FC236}">
                <a16:creationId xmlns:a16="http://schemas.microsoft.com/office/drawing/2014/main" id="{F0B87301-7CFC-74D9-1136-9B0F9DD79D34}"/>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Rectangle 43">
            <a:extLst>
              <a:ext uri="{FF2B5EF4-FFF2-40B4-BE49-F238E27FC236}">
                <a16:creationId xmlns:a16="http://schemas.microsoft.com/office/drawing/2014/main" id="{DAE2A9DA-8DEE-2C61-51A1-152FF2C82800}"/>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Rectangle 44">
            <a:extLst>
              <a:ext uri="{FF2B5EF4-FFF2-40B4-BE49-F238E27FC236}">
                <a16:creationId xmlns:a16="http://schemas.microsoft.com/office/drawing/2014/main" id="{4C2D897D-3561-110A-624E-10E32F294876}"/>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Rectangle 45">
            <a:extLst>
              <a:ext uri="{FF2B5EF4-FFF2-40B4-BE49-F238E27FC236}">
                <a16:creationId xmlns:a16="http://schemas.microsoft.com/office/drawing/2014/main" id="{5BDA2040-E4BD-4B8B-3B55-F7944CACD0FB}"/>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Rectangle 46">
            <a:extLst>
              <a:ext uri="{FF2B5EF4-FFF2-40B4-BE49-F238E27FC236}">
                <a16:creationId xmlns:a16="http://schemas.microsoft.com/office/drawing/2014/main" id="{710433B0-458F-FEDC-5E3A-583D7A7EABB1}"/>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Rectangle 47">
            <a:extLst>
              <a:ext uri="{FF2B5EF4-FFF2-40B4-BE49-F238E27FC236}">
                <a16:creationId xmlns:a16="http://schemas.microsoft.com/office/drawing/2014/main" id="{3348D667-9677-7AED-CB7E-3AEEA29F79AF}"/>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Rectangle 48">
            <a:extLst>
              <a:ext uri="{FF2B5EF4-FFF2-40B4-BE49-F238E27FC236}">
                <a16:creationId xmlns:a16="http://schemas.microsoft.com/office/drawing/2014/main" id="{2FEA6A44-2F74-A390-2229-30D42A648D01}"/>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Rectangle 49">
            <a:extLst>
              <a:ext uri="{FF2B5EF4-FFF2-40B4-BE49-F238E27FC236}">
                <a16:creationId xmlns:a16="http://schemas.microsoft.com/office/drawing/2014/main" id="{C48A10B2-363B-565F-AC34-B5E61E486348}"/>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Rectangle 50">
            <a:extLst>
              <a:ext uri="{FF2B5EF4-FFF2-40B4-BE49-F238E27FC236}">
                <a16:creationId xmlns:a16="http://schemas.microsoft.com/office/drawing/2014/main" id="{71BEA4B5-30CD-D1B7-AF3F-31403FA1F593}"/>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Rectangle 51">
            <a:extLst>
              <a:ext uri="{FF2B5EF4-FFF2-40B4-BE49-F238E27FC236}">
                <a16:creationId xmlns:a16="http://schemas.microsoft.com/office/drawing/2014/main" id="{6114D936-D792-AA5C-04B5-6DDC2B56B07E}"/>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Rectangle 52">
            <a:extLst>
              <a:ext uri="{FF2B5EF4-FFF2-40B4-BE49-F238E27FC236}">
                <a16:creationId xmlns:a16="http://schemas.microsoft.com/office/drawing/2014/main" id="{8187B71A-95CF-B482-1ACE-9BCF009EA78A}"/>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Rectangle 53">
            <a:extLst>
              <a:ext uri="{FF2B5EF4-FFF2-40B4-BE49-F238E27FC236}">
                <a16:creationId xmlns:a16="http://schemas.microsoft.com/office/drawing/2014/main" id="{CD5BFE45-375C-A417-2D60-7BC6B9990964}"/>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Rectangle 54">
            <a:extLst>
              <a:ext uri="{FF2B5EF4-FFF2-40B4-BE49-F238E27FC236}">
                <a16:creationId xmlns:a16="http://schemas.microsoft.com/office/drawing/2014/main" id="{D2CFDE11-B7CD-BAD0-7DFA-FF66493CE485}"/>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Rectangle 55">
            <a:extLst>
              <a:ext uri="{FF2B5EF4-FFF2-40B4-BE49-F238E27FC236}">
                <a16:creationId xmlns:a16="http://schemas.microsoft.com/office/drawing/2014/main" id="{32942B0F-432E-FF7B-696B-09F5CFF54EF9}"/>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Rectangle 56">
            <a:extLst>
              <a:ext uri="{FF2B5EF4-FFF2-40B4-BE49-F238E27FC236}">
                <a16:creationId xmlns:a16="http://schemas.microsoft.com/office/drawing/2014/main" id="{CF70E8C9-6159-7BCC-2ACB-0FD5E83C58E0}"/>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Rectangle 57">
            <a:extLst>
              <a:ext uri="{FF2B5EF4-FFF2-40B4-BE49-F238E27FC236}">
                <a16:creationId xmlns:a16="http://schemas.microsoft.com/office/drawing/2014/main" id="{7DA308C8-CFF4-A719-AF2D-BD31B6D15B49}"/>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Rectangle 58">
            <a:extLst>
              <a:ext uri="{FF2B5EF4-FFF2-40B4-BE49-F238E27FC236}">
                <a16:creationId xmlns:a16="http://schemas.microsoft.com/office/drawing/2014/main" id="{432277AC-95BE-A8E8-7E6D-232C3278AA53}"/>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Rectangle 59">
            <a:extLst>
              <a:ext uri="{FF2B5EF4-FFF2-40B4-BE49-F238E27FC236}">
                <a16:creationId xmlns:a16="http://schemas.microsoft.com/office/drawing/2014/main" id="{D62BD8E5-10C3-06A3-25BB-7AC061873E75}"/>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Rectangle 60">
            <a:extLst>
              <a:ext uri="{FF2B5EF4-FFF2-40B4-BE49-F238E27FC236}">
                <a16:creationId xmlns:a16="http://schemas.microsoft.com/office/drawing/2014/main" id="{1EC0D858-F9C4-AEF1-CD62-39C1268156D2}"/>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Rectangle 61">
            <a:extLst>
              <a:ext uri="{FF2B5EF4-FFF2-40B4-BE49-F238E27FC236}">
                <a16:creationId xmlns:a16="http://schemas.microsoft.com/office/drawing/2014/main" id="{ACF501F9-0DBE-9135-6747-2F06F56FBE82}"/>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Rectangle 62">
            <a:extLst>
              <a:ext uri="{FF2B5EF4-FFF2-40B4-BE49-F238E27FC236}">
                <a16:creationId xmlns:a16="http://schemas.microsoft.com/office/drawing/2014/main" id="{792ABBC7-F3F6-7661-80A9-47CB58CD08C3}"/>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Rectangle 63">
            <a:extLst>
              <a:ext uri="{FF2B5EF4-FFF2-40B4-BE49-F238E27FC236}">
                <a16:creationId xmlns:a16="http://schemas.microsoft.com/office/drawing/2014/main" id="{8FC0C8E9-D4FF-5C8A-C59E-D511DF401A6A}"/>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Rectangle 64">
            <a:extLst>
              <a:ext uri="{FF2B5EF4-FFF2-40B4-BE49-F238E27FC236}">
                <a16:creationId xmlns:a16="http://schemas.microsoft.com/office/drawing/2014/main" id="{CB243BFB-BEAB-5BFB-0BFD-73AADDC370D5}"/>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Rectangle 65">
            <a:extLst>
              <a:ext uri="{FF2B5EF4-FFF2-40B4-BE49-F238E27FC236}">
                <a16:creationId xmlns:a16="http://schemas.microsoft.com/office/drawing/2014/main" id="{C47E5131-8E32-ECFF-E970-484A50040A52}"/>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Rectangle 66">
            <a:extLst>
              <a:ext uri="{FF2B5EF4-FFF2-40B4-BE49-F238E27FC236}">
                <a16:creationId xmlns:a16="http://schemas.microsoft.com/office/drawing/2014/main" id="{4BFE2DD0-DDE7-AF3E-DE73-6204BCCB5F90}"/>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Rectangle 67">
            <a:extLst>
              <a:ext uri="{FF2B5EF4-FFF2-40B4-BE49-F238E27FC236}">
                <a16:creationId xmlns:a16="http://schemas.microsoft.com/office/drawing/2014/main" id="{199D1C68-8673-BA93-5FE7-D45EEF0B030F}"/>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Rectangle 68">
            <a:extLst>
              <a:ext uri="{FF2B5EF4-FFF2-40B4-BE49-F238E27FC236}">
                <a16:creationId xmlns:a16="http://schemas.microsoft.com/office/drawing/2014/main" id="{F2963B07-C4C8-4C09-8A5D-6B868A99BB6C}"/>
              </a:ext>
            </a:extLst>
          </p:cNvPr>
          <p:cNvSpPr/>
          <p:nvPr/>
        </p:nvSpPr>
        <p:spPr>
          <a:xfrm>
            <a:off x="1111253" y="1770874"/>
            <a:ext cx="1344948" cy="2578100"/>
          </a:xfrm>
          <a:prstGeom prst="rect">
            <a:avLst/>
          </a:prstGeom>
          <a:solidFill>
            <a:srgbClr val="B1EFEF">
              <a:alpha val="1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325304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07D35-7E56-2124-753C-C1A251ACD556}"/>
            </a:ext>
          </a:extLst>
        </p:cNvPr>
        <p:cNvGrpSpPr/>
        <p:nvPr/>
      </p:nvGrpSpPr>
      <p:grpSpPr>
        <a:xfrm>
          <a:off x="0" y="0"/>
          <a:ext cx="0" cy="0"/>
          <a:chOff x="0" y="0"/>
          <a:chExt cx="0" cy="0"/>
        </a:xfrm>
      </p:grpSpPr>
      <p:sp>
        <p:nvSpPr>
          <p:cNvPr id="77" name="TextBox 76">
            <a:extLst>
              <a:ext uri="{FF2B5EF4-FFF2-40B4-BE49-F238E27FC236}">
                <a16:creationId xmlns:a16="http://schemas.microsoft.com/office/drawing/2014/main" id="{A2F4730A-774A-2644-A1CE-956D79E56051}"/>
              </a:ext>
            </a:extLst>
          </p:cNvPr>
          <p:cNvSpPr txBox="1"/>
          <p:nvPr/>
        </p:nvSpPr>
        <p:spPr>
          <a:xfrm>
            <a:off x="244663" y="90454"/>
            <a:ext cx="5974280" cy="646331"/>
          </a:xfrm>
          <a:prstGeom prst="rect">
            <a:avLst/>
          </a:prstGeom>
          <a:noFill/>
        </p:spPr>
        <p:txBody>
          <a:bodyPr wrap="square">
            <a:spAutoFit/>
          </a:bodyPr>
          <a:lstStyle/>
          <a:p>
            <a:r>
              <a:rPr lang="en-US" altLang="ko-KR" sz="3600" b="1" dirty="0"/>
              <a:t>Quick Explanation</a:t>
            </a:r>
            <a:endParaRPr lang="ko-KR" altLang="en-US" sz="3600" b="1" dirty="0"/>
          </a:p>
        </p:txBody>
      </p:sp>
      <p:grpSp>
        <p:nvGrpSpPr>
          <p:cNvPr id="82" name="Group 81">
            <a:extLst>
              <a:ext uri="{FF2B5EF4-FFF2-40B4-BE49-F238E27FC236}">
                <a16:creationId xmlns:a16="http://schemas.microsoft.com/office/drawing/2014/main" id="{F577CAF4-5563-38AA-99C9-DEA9AB0C2F4E}"/>
              </a:ext>
            </a:extLst>
          </p:cNvPr>
          <p:cNvGrpSpPr/>
          <p:nvPr/>
        </p:nvGrpSpPr>
        <p:grpSpPr>
          <a:xfrm>
            <a:off x="598488" y="1436802"/>
            <a:ext cx="10071100" cy="3352800"/>
            <a:chOff x="1881188" y="1148935"/>
            <a:chExt cx="10071100" cy="3352800"/>
          </a:xfrm>
        </p:grpSpPr>
        <p:grpSp>
          <p:nvGrpSpPr>
            <p:cNvPr id="81" name="Group 80">
              <a:extLst>
                <a:ext uri="{FF2B5EF4-FFF2-40B4-BE49-F238E27FC236}">
                  <a16:creationId xmlns:a16="http://schemas.microsoft.com/office/drawing/2014/main" id="{CF90D6CD-F69B-120B-1740-292E92FD934F}"/>
                </a:ext>
              </a:extLst>
            </p:cNvPr>
            <p:cNvGrpSpPr/>
            <p:nvPr/>
          </p:nvGrpSpPr>
          <p:grpSpPr>
            <a:xfrm>
              <a:off x="1881188" y="1148935"/>
              <a:ext cx="10071100" cy="3352800"/>
              <a:chOff x="1848441" y="1168400"/>
              <a:chExt cx="10071100" cy="3352800"/>
            </a:xfrm>
          </p:grpSpPr>
          <p:grpSp>
            <p:nvGrpSpPr>
              <p:cNvPr id="80" name="Group 79">
                <a:extLst>
                  <a:ext uri="{FF2B5EF4-FFF2-40B4-BE49-F238E27FC236}">
                    <a16:creationId xmlns:a16="http://schemas.microsoft.com/office/drawing/2014/main" id="{0CEEE46F-C785-8391-6A08-E82009B8B19A}"/>
                  </a:ext>
                </a:extLst>
              </p:cNvPr>
              <p:cNvGrpSpPr/>
              <p:nvPr/>
            </p:nvGrpSpPr>
            <p:grpSpPr>
              <a:xfrm>
                <a:off x="1848441" y="1168400"/>
                <a:ext cx="10071100" cy="3352800"/>
                <a:chOff x="1848441" y="1168400"/>
                <a:chExt cx="10071100" cy="3352800"/>
              </a:xfrm>
            </p:grpSpPr>
            <p:grpSp>
              <p:nvGrpSpPr>
                <p:cNvPr id="7" name="Group 6">
                  <a:extLst>
                    <a:ext uri="{FF2B5EF4-FFF2-40B4-BE49-F238E27FC236}">
                      <a16:creationId xmlns:a16="http://schemas.microsoft.com/office/drawing/2014/main" id="{821A0976-2B9A-C46B-C2DB-5FD6083C4BF0}"/>
                    </a:ext>
                  </a:extLst>
                </p:cNvPr>
                <p:cNvGrpSpPr/>
                <p:nvPr/>
              </p:nvGrpSpPr>
              <p:grpSpPr>
                <a:xfrm>
                  <a:off x="1848441" y="1168400"/>
                  <a:ext cx="10071100" cy="3352800"/>
                  <a:chOff x="1790700" y="330200"/>
                  <a:chExt cx="10071100" cy="3352800"/>
                </a:xfrm>
              </p:grpSpPr>
              <p:grpSp>
                <p:nvGrpSpPr>
                  <p:cNvPr id="5" name="Group 4">
                    <a:extLst>
                      <a:ext uri="{FF2B5EF4-FFF2-40B4-BE49-F238E27FC236}">
                        <a16:creationId xmlns:a16="http://schemas.microsoft.com/office/drawing/2014/main" id="{DA5335F8-3105-02CD-D607-5A5876E57507}"/>
                      </a:ext>
                    </a:extLst>
                  </p:cNvPr>
                  <p:cNvGrpSpPr/>
                  <p:nvPr/>
                </p:nvGrpSpPr>
                <p:grpSpPr>
                  <a:xfrm>
                    <a:off x="1962150" y="448734"/>
                    <a:ext cx="9717088" cy="2980266"/>
                    <a:chOff x="844550" y="1159934"/>
                    <a:chExt cx="9717088" cy="2980266"/>
                  </a:xfrm>
                </p:grpSpPr>
                <p:pic>
                  <p:nvPicPr>
                    <p:cNvPr id="26" name="그림 개체 틀 3">
                      <a:extLst>
                        <a:ext uri="{FF2B5EF4-FFF2-40B4-BE49-F238E27FC236}">
                          <a16:creationId xmlns:a16="http://schemas.microsoft.com/office/drawing/2014/main" id="{0F9ECC58-6E2E-7871-BA1F-2439F759CAF5}"/>
                        </a:ext>
                      </a:extLst>
                    </p:cNvPr>
                    <p:cNvPicPr>
                      <a:picLocks noChangeAspect="1"/>
                    </p:cNvPicPr>
                    <p:nvPr/>
                  </p:nvPicPr>
                  <p:blipFill>
                    <a:blip r:embed="rId2"/>
                    <a:srcRect l="1690" r="1690" b="92561"/>
                    <a:stretch>
                      <a:fillRect/>
                    </a:stretch>
                  </p:blipFill>
                  <p:spPr>
                    <a:xfrm>
                      <a:off x="844550" y="1159934"/>
                      <a:ext cx="9717088" cy="402166"/>
                    </a:xfrm>
                    <a:prstGeom prst="rect">
                      <a:avLst/>
                    </a:prstGeom>
                  </p:spPr>
                </p:pic>
                <p:pic>
                  <p:nvPicPr>
                    <p:cNvPr id="4" name="그림 개체 틀 3">
                      <a:extLst>
                        <a:ext uri="{FF2B5EF4-FFF2-40B4-BE49-F238E27FC236}">
                          <a16:creationId xmlns:a16="http://schemas.microsoft.com/office/drawing/2014/main" id="{BF3AE00D-D4BD-F043-B9D4-2F7278DCEB88}"/>
                        </a:ext>
                      </a:extLst>
                    </p:cNvPr>
                    <p:cNvPicPr>
                      <a:picLocks noChangeAspect="1"/>
                    </p:cNvPicPr>
                    <p:nvPr/>
                  </p:nvPicPr>
                  <p:blipFill>
                    <a:blip r:embed="rId2"/>
                    <a:srcRect l="1690" t="68519" r="1690"/>
                    <a:stretch>
                      <a:fillRect/>
                    </a:stretch>
                  </p:blipFill>
                  <p:spPr>
                    <a:xfrm>
                      <a:off x="844550" y="1562100"/>
                      <a:ext cx="9717088" cy="2578100"/>
                    </a:xfrm>
                    <a:prstGeom prst="rect">
                      <a:avLst/>
                    </a:prstGeom>
                  </p:spPr>
                </p:pic>
              </p:grpSp>
              <p:sp>
                <p:nvSpPr>
                  <p:cNvPr id="6" name="Rectangle 5">
                    <a:extLst>
                      <a:ext uri="{FF2B5EF4-FFF2-40B4-BE49-F238E27FC236}">
                        <a16:creationId xmlns:a16="http://schemas.microsoft.com/office/drawing/2014/main" id="{92D30375-549B-2F43-E668-690AE61C510D}"/>
                      </a:ext>
                    </a:extLst>
                  </p:cNvPr>
                  <p:cNvSpPr/>
                  <p:nvPr/>
                </p:nvSpPr>
                <p:spPr>
                  <a:xfrm>
                    <a:off x="1790700" y="330200"/>
                    <a:ext cx="10071100" cy="3352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TextBox 9">
                  <a:extLst>
                    <a:ext uri="{FF2B5EF4-FFF2-40B4-BE49-F238E27FC236}">
                      <a16:creationId xmlns:a16="http://schemas.microsoft.com/office/drawing/2014/main" id="{1D614DFD-7C4E-323E-3782-3C585924EBB4}"/>
                    </a:ext>
                  </a:extLst>
                </p:cNvPr>
                <p:cNvSpPr txBox="1"/>
                <p:nvPr/>
              </p:nvSpPr>
              <p:spPr>
                <a:xfrm>
                  <a:off x="2174011" y="4024868"/>
                  <a:ext cx="308098" cy="369332"/>
                </a:xfrm>
                <a:prstGeom prst="rect">
                  <a:avLst/>
                </a:prstGeom>
                <a:noFill/>
              </p:spPr>
              <p:txBody>
                <a:bodyPr wrap="none" rtlCol="0">
                  <a:spAutoFit/>
                </a:bodyPr>
                <a:lstStyle/>
                <a:p>
                  <a:r>
                    <a:rPr lang="en-US" altLang="ko-KR" dirty="0"/>
                    <a:t>0</a:t>
                  </a:r>
                  <a:endParaRPr lang="ko-KR" altLang="en-US" dirty="0"/>
                </a:p>
              </p:txBody>
            </p:sp>
            <p:sp>
              <p:nvSpPr>
                <p:cNvPr id="11" name="TextBox 10">
                  <a:extLst>
                    <a:ext uri="{FF2B5EF4-FFF2-40B4-BE49-F238E27FC236}">
                      <a16:creationId xmlns:a16="http://schemas.microsoft.com/office/drawing/2014/main" id="{FA110E82-799F-BBFA-0C54-E1353878B61E}"/>
                    </a:ext>
                  </a:extLst>
                </p:cNvPr>
                <p:cNvSpPr txBox="1"/>
                <p:nvPr/>
              </p:nvSpPr>
              <p:spPr>
                <a:xfrm>
                  <a:off x="3049182" y="4024868"/>
                  <a:ext cx="308098" cy="369332"/>
                </a:xfrm>
                <a:prstGeom prst="rect">
                  <a:avLst/>
                </a:prstGeom>
                <a:noFill/>
              </p:spPr>
              <p:txBody>
                <a:bodyPr wrap="square" rtlCol="0">
                  <a:spAutoFit/>
                </a:bodyPr>
                <a:lstStyle/>
                <a:p>
                  <a:r>
                    <a:rPr lang="en-US" altLang="ko-KR" dirty="0"/>
                    <a:t>1</a:t>
                  </a:r>
                  <a:endParaRPr lang="ko-KR" altLang="en-US" dirty="0"/>
                </a:p>
              </p:txBody>
            </p:sp>
            <p:sp>
              <p:nvSpPr>
                <p:cNvPr id="12" name="TextBox 11">
                  <a:extLst>
                    <a:ext uri="{FF2B5EF4-FFF2-40B4-BE49-F238E27FC236}">
                      <a16:creationId xmlns:a16="http://schemas.microsoft.com/office/drawing/2014/main" id="{184F65B0-1C33-025A-FEC8-6CBD4C655A68}"/>
                    </a:ext>
                  </a:extLst>
                </p:cNvPr>
                <p:cNvSpPr txBox="1"/>
                <p:nvPr/>
              </p:nvSpPr>
              <p:spPr>
                <a:xfrm>
                  <a:off x="3968212" y="4024868"/>
                  <a:ext cx="308098" cy="369332"/>
                </a:xfrm>
                <a:prstGeom prst="rect">
                  <a:avLst/>
                </a:prstGeom>
                <a:noFill/>
              </p:spPr>
              <p:txBody>
                <a:bodyPr wrap="square" rtlCol="0">
                  <a:spAutoFit/>
                </a:bodyPr>
                <a:lstStyle/>
                <a:p>
                  <a:r>
                    <a:rPr lang="en-US" altLang="ko-KR" dirty="0"/>
                    <a:t>2</a:t>
                  </a:r>
                  <a:endParaRPr lang="ko-KR" altLang="en-US" dirty="0"/>
                </a:p>
              </p:txBody>
            </p:sp>
            <p:sp>
              <p:nvSpPr>
                <p:cNvPr id="13" name="TextBox 12">
                  <a:extLst>
                    <a:ext uri="{FF2B5EF4-FFF2-40B4-BE49-F238E27FC236}">
                      <a16:creationId xmlns:a16="http://schemas.microsoft.com/office/drawing/2014/main" id="{900EFC42-DE78-D80F-8574-E3093ACE3D56}"/>
                    </a:ext>
                  </a:extLst>
                </p:cNvPr>
                <p:cNvSpPr txBox="1"/>
                <p:nvPr/>
              </p:nvSpPr>
              <p:spPr>
                <a:xfrm>
                  <a:off x="4843383" y="4024868"/>
                  <a:ext cx="308098" cy="369332"/>
                </a:xfrm>
                <a:prstGeom prst="rect">
                  <a:avLst/>
                </a:prstGeom>
                <a:noFill/>
              </p:spPr>
              <p:txBody>
                <a:bodyPr wrap="square" rtlCol="0">
                  <a:spAutoFit/>
                </a:bodyPr>
                <a:lstStyle/>
                <a:p>
                  <a:r>
                    <a:rPr lang="en-US" altLang="ko-KR" dirty="0"/>
                    <a:t>3</a:t>
                  </a:r>
                  <a:endParaRPr lang="ko-KR" altLang="en-US" dirty="0"/>
                </a:p>
              </p:txBody>
            </p:sp>
            <p:sp>
              <p:nvSpPr>
                <p:cNvPr id="14" name="TextBox 13">
                  <a:extLst>
                    <a:ext uri="{FF2B5EF4-FFF2-40B4-BE49-F238E27FC236}">
                      <a16:creationId xmlns:a16="http://schemas.microsoft.com/office/drawing/2014/main" id="{B2771459-0DE7-B0E1-7F93-741586B4306F}"/>
                    </a:ext>
                  </a:extLst>
                </p:cNvPr>
                <p:cNvSpPr txBox="1"/>
                <p:nvPr/>
              </p:nvSpPr>
              <p:spPr>
                <a:xfrm>
                  <a:off x="5718554" y="4024868"/>
                  <a:ext cx="308098" cy="369332"/>
                </a:xfrm>
                <a:prstGeom prst="rect">
                  <a:avLst/>
                </a:prstGeom>
                <a:noFill/>
              </p:spPr>
              <p:txBody>
                <a:bodyPr wrap="square" rtlCol="0">
                  <a:spAutoFit/>
                </a:bodyPr>
                <a:lstStyle/>
                <a:p>
                  <a:r>
                    <a:rPr lang="en-US" altLang="ko-KR" dirty="0"/>
                    <a:t>4</a:t>
                  </a:r>
                  <a:endParaRPr lang="ko-KR" altLang="en-US" dirty="0"/>
                </a:p>
              </p:txBody>
            </p:sp>
            <p:sp>
              <p:nvSpPr>
                <p:cNvPr id="15" name="TextBox 14">
                  <a:extLst>
                    <a:ext uri="{FF2B5EF4-FFF2-40B4-BE49-F238E27FC236}">
                      <a16:creationId xmlns:a16="http://schemas.microsoft.com/office/drawing/2014/main" id="{E53D2B71-22F0-57D7-0807-CD200E95AD13}"/>
                    </a:ext>
                  </a:extLst>
                </p:cNvPr>
                <p:cNvSpPr txBox="1"/>
                <p:nvPr/>
              </p:nvSpPr>
              <p:spPr>
                <a:xfrm>
                  <a:off x="6593725" y="4024868"/>
                  <a:ext cx="308098" cy="369332"/>
                </a:xfrm>
                <a:prstGeom prst="rect">
                  <a:avLst/>
                </a:prstGeom>
                <a:noFill/>
              </p:spPr>
              <p:txBody>
                <a:bodyPr wrap="square" rtlCol="0">
                  <a:spAutoFit/>
                </a:bodyPr>
                <a:lstStyle/>
                <a:p>
                  <a:r>
                    <a:rPr lang="en-US" altLang="ko-KR" dirty="0"/>
                    <a:t>5</a:t>
                  </a:r>
                  <a:endParaRPr lang="ko-KR" altLang="en-US" dirty="0"/>
                </a:p>
              </p:txBody>
            </p:sp>
            <p:sp>
              <p:nvSpPr>
                <p:cNvPr id="16" name="TextBox 15">
                  <a:extLst>
                    <a:ext uri="{FF2B5EF4-FFF2-40B4-BE49-F238E27FC236}">
                      <a16:creationId xmlns:a16="http://schemas.microsoft.com/office/drawing/2014/main" id="{5692CCEF-D23C-2537-232C-7CB9A817BBCE}"/>
                    </a:ext>
                  </a:extLst>
                </p:cNvPr>
                <p:cNvSpPr txBox="1"/>
                <p:nvPr/>
              </p:nvSpPr>
              <p:spPr>
                <a:xfrm>
                  <a:off x="7468896" y="4024868"/>
                  <a:ext cx="308098" cy="369332"/>
                </a:xfrm>
                <a:prstGeom prst="rect">
                  <a:avLst/>
                </a:prstGeom>
                <a:noFill/>
              </p:spPr>
              <p:txBody>
                <a:bodyPr wrap="square" rtlCol="0">
                  <a:spAutoFit/>
                </a:bodyPr>
                <a:lstStyle/>
                <a:p>
                  <a:r>
                    <a:rPr lang="en-US" altLang="ko-KR" dirty="0"/>
                    <a:t>6</a:t>
                  </a:r>
                  <a:endParaRPr lang="ko-KR" altLang="en-US" dirty="0"/>
                </a:p>
              </p:txBody>
            </p:sp>
            <p:sp>
              <p:nvSpPr>
                <p:cNvPr id="17" name="TextBox 16">
                  <a:extLst>
                    <a:ext uri="{FF2B5EF4-FFF2-40B4-BE49-F238E27FC236}">
                      <a16:creationId xmlns:a16="http://schemas.microsoft.com/office/drawing/2014/main" id="{75AA0658-DE67-D311-4553-401D9E4C3C47}"/>
                    </a:ext>
                  </a:extLst>
                </p:cNvPr>
                <p:cNvSpPr txBox="1"/>
                <p:nvPr/>
              </p:nvSpPr>
              <p:spPr>
                <a:xfrm>
                  <a:off x="8344067" y="4024868"/>
                  <a:ext cx="308098" cy="369332"/>
                </a:xfrm>
                <a:prstGeom prst="rect">
                  <a:avLst/>
                </a:prstGeom>
                <a:noFill/>
              </p:spPr>
              <p:txBody>
                <a:bodyPr wrap="square" rtlCol="0">
                  <a:spAutoFit/>
                </a:bodyPr>
                <a:lstStyle/>
                <a:p>
                  <a:r>
                    <a:rPr lang="en-US" altLang="ko-KR" dirty="0"/>
                    <a:t>7</a:t>
                  </a:r>
                  <a:endParaRPr lang="ko-KR" altLang="en-US" dirty="0"/>
                </a:p>
              </p:txBody>
            </p:sp>
            <p:sp>
              <p:nvSpPr>
                <p:cNvPr id="18" name="TextBox 17">
                  <a:extLst>
                    <a:ext uri="{FF2B5EF4-FFF2-40B4-BE49-F238E27FC236}">
                      <a16:creationId xmlns:a16="http://schemas.microsoft.com/office/drawing/2014/main" id="{4136403E-1AB3-907D-7647-858285096AEF}"/>
                    </a:ext>
                  </a:extLst>
                </p:cNvPr>
                <p:cNvSpPr txBox="1"/>
                <p:nvPr/>
              </p:nvSpPr>
              <p:spPr>
                <a:xfrm>
                  <a:off x="9219236" y="4024868"/>
                  <a:ext cx="308098" cy="369332"/>
                </a:xfrm>
                <a:prstGeom prst="rect">
                  <a:avLst/>
                </a:prstGeom>
                <a:noFill/>
              </p:spPr>
              <p:txBody>
                <a:bodyPr wrap="square" rtlCol="0">
                  <a:spAutoFit/>
                </a:bodyPr>
                <a:lstStyle/>
                <a:p>
                  <a:r>
                    <a:rPr lang="en-US" altLang="ko-KR" dirty="0"/>
                    <a:t>8</a:t>
                  </a:r>
                  <a:endParaRPr lang="ko-KR" altLang="en-US" dirty="0"/>
                </a:p>
              </p:txBody>
            </p:sp>
            <p:sp>
              <p:nvSpPr>
                <p:cNvPr id="19" name="TextBox 18">
                  <a:extLst>
                    <a:ext uri="{FF2B5EF4-FFF2-40B4-BE49-F238E27FC236}">
                      <a16:creationId xmlns:a16="http://schemas.microsoft.com/office/drawing/2014/main" id="{2B25B452-7058-15A0-773E-AF0128B95DD4}"/>
                    </a:ext>
                  </a:extLst>
                </p:cNvPr>
                <p:cNvSpPr txBox="1"/>
                <p:nvPr/>
              </p:nvSpPr>
              <p:spPr>
                <a:xfrm>
                  <a:off x="10094405" y="4024868"/>
                  <a:ext cx="308098" cy="369332"/>
                </a:xfrm>
                <a:prstGeom prst="rect">
                  <a:avLst/>
                </a:prstGeom>
                <a:noFill/>
              </p:spPr>
              <p:txBody>
                <a:bodyPr wrap="square" rtlCol="0">
                  <a:spAutoFit/>
                </a:bodyPr>
                <a:lstStyle/>
                <a:p>
                  <a:r>
                    <a:rPr lang="en-US" altLang="ko-KR" dirty="0"/>
                    <a:t>9</a:t>
                  </a:r>
                  <a:endParaRPr lang="ko-KR" altLang="en-US" dirty="0"/>
                </a:p>
              </p:txBody>
            </p:sp>
          </p:grpSp>
          <p:sp>
            <p:nvSpPr>
              <p:cNvPr id="21" name="Rectangle 20">
                <a:extLst>
                  <a:ext uri="{FF2B5EF4-FFF2-40B4-BE49-F238E27FC236}">
                    <a16:creationId xmlns:a16="http://schemas.microsoft.com/office/drawing/2014/main" id="{129BEE9B-49B4-6E71-02C5-16A1F1189889}"/>
                  </a:ext>
                </a:extLst>
              </p:cNvPr>
              <p:cNvSpPr/>
              <p:nvPr/>
            </p:nvSpPr>
            <p:spPr>
              <a:xfrm>
                <a:off x="2371919" y="1481667"/>
                <a:ext cx="7889681" cy="2578100"/>
              </a:xfrm>
              <a:prstGeom prst="rect">
                <a:avLst/>
              </a:prstGeom>
              <a:solidFill>
                <a:schemeClr val="accent2">
                  <a:lumMod val="20000"/>
                  <a:lumOff val="80000"/>
                  <a:alpha val="1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8" name="TextBox 7">
              <a:extLst>
                <a:ext uri="{FF2B5EF4-FFF2-40B4-BE49-F238E27FC236}">
                  <a16:creationId xmlns:a16="http://schemas.microsoft.com/office/drawing/2014/main" id="{41DC69EC-5EBB-47E3-3562-33E3392602F0}"/>
                </a:ext>
              </a:extLst>
            </p:cNvPr>
            <p:cNvSpPr txBox="1"/>
            <p:nvPr/>
          </p:nvSpPr>
          <p:spPr>
            <a:xfrm>
              <a:off x="1892300" y="3014132"/>
              <a:ext cx="554960" cy="369332"/>
            </a:xfrm>
            <a:prstGeom prst="rect">
              <a:avLst/>
            </a:prstGeom>
            <a:noFill/>
          </p:spPr>
          <p:txBody>
            <a:bodyPr wrap="none" rtlCol="0">
              <a:spAutoFit/>
            </a:bodyPr>
            <a:lstStyle/>
            <a:p>
              <a:r>
                <a:rPr lang="en-US" altLang="ko-KR" b="1" dirty="0" err="1"/>
                <a:t>FPz</a:t>
              </a:r>
              <a:endParaRPr lang="ko-KR" altLang="en-US" b="1" dirty="0"/>
            </a:p>
          </p:txBody>
        </p:sp>
        <p:sp>
          <p:nvSpPr>
            <p:cNvPr id="9" name="TextBox 8">
              <a:extLst>
                <a:ext uri="{FF2B5EF4-FFF2-40B4-BE49-F238E27FC236}">
                  <a16:creationId xmlns:a16="http://schemas.microsoft.com/office/drawing/2014/main" id="{76BF2A58-FF01-57C9-8CFD-FE324E3076BF}"/>
                </a:ext>
              </a:extLst>
            </p:cNvPr>
            <p:cNvSpPr txBox="1"/>
            <p:nvPr/>
          </p:nvSpPr>
          <p:spPr>
            <a:xfrm>
              <a:off x="1881188" y="2091266"/>
              <a:ext cx="431528" cy="369332"/>
            </a:xfrm>
            <a:prstGeom prst="rect">
              <a:avLst/>
            </a:prstGeom>
            <a:noFill/>
          </p:spPr>
          <p:txBody>
            <a:bodyPr wrap="none" rtlCol="0">
              <a:spAutoFit/>
            </a:bodyPr>
            <a:lstStyle/>
            <a:p>
              <a:r>
                <a:rPr lang="en-US" altLang="ko-KR" b="1" dirty="0"/>
                <a:t>F8</a:t>
              </a:r>
              <a:endParaRPr lang="ko-KR" altLang="en-US" b="1" dirty="0"/>
            </a:p>
          </p:txBody>
        </p:sp>
      </p:grpSp>
      <p:sp>
        <p:nvSpPr>
          <p:cNvPr id="22" name="Rectangle 21">
            <a:extLst>
              <a:ext uri="{FF2B5EF4-FFF2-40B4-BE49-F238E27FC236}">
                <a16:creationId xmlns:a16="http://schemas.microsoft.com/office/drawing/2014/main" id="{3D3ED9A6-8DC1-49ED-F915-92C45A5DE6B2}"/>
              </a:ext>
            </a:extLst>
          </p:cNvPr>
          <p:cNvSpPr/>
          <p:nvPr/>
        </p:nvSpPr>
        <p:spPr>
          <a:xfrm>
            <a:off x="111125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Rectangle 1">
            <a:extLst>
              <a:ext uri="{FF2B5EF4-FFF2-40B4-BE49-F238E27FC236}">
                <a16:creationId xmlns:a16="http://schemas.microsoft.com/office/drawing/2014/main" id="{C8BDFD5E-2117-5A3E-B66E-065D042CBCDD}"/>
              </a:ext>
            </a:extLst>
          </p:cNvPr>
          <p:cNvSpPr/>
          <p:nvPr/>
        </p:nvSpPr>
        <p:spPr>
          <a:xfrm>
            <a:off x="124506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Rectangle 2">
            <a:extLst>
              <a:ext uri="{FF2B5EF4-FFF2-40B4-BE49-F238E27FC236}">
                <a16:creationId xmlns:a16="http://schemas.microsoft.com/office/drawing/2014/main" id="{B5E9D08D-0BDE-1CF8-35CE-974491BCAB0D}"/>
              </a:ext>
            </a:extLst>
          </p:cNvPr>
          <p:cNvSpPr/>
          <p:nvPr/>
        </p:nvSpPr>
        <p:spPr>
          <a:xfrm>
            <a:off x="137887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Rectangle 19">
            <a:extLst>
              <a:ext uri="{FF2B5EF4-FFF2-40B4-BE49-F238E27FC236}">
                <a16:creationId xmlns:a16="http://schemas.microsoft.com/office/drawing/2014/main" id="{626F9D04-2D7A-1153-AB96-1E2383874D1E}"/>
              </a:ext>
            </a:extLst>
          </p:cNvPr>
          <p:cNvSpPr/>
          <p:nvPr/>
        </p:nvSpPr>
        <p:spPr>
          <a:xfrm>
            <a:off x="151268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22">
            <a:extLst>
              <a:ext uri="{FF2B5EF4-FFF2-40B4-BE49-F238E27FC236}">
                <a16:creationId xmlns:a16="http://schemas.microsoft.com/office/drawing/2014/main" id="{D28DD0B0-6FE2-E9E9-DAB0-D1822FFA401B}"/>
              </a:ext>
            </a:extLst>
          </p:cNvPr>
          <p:cNvSpPr/>
          <p:nvPr/>
        </p:nvSpPr>
        <p:spPr>
          <a:xfrm>
            <a:off x="164650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23">
            <a:extLst>
              <a:ext uri="{FF2B5EF4-FFF2-40B4-BE49-F238E27FC236}">
                <a16:creationId xmlns:a16="http://schemas.microsoft.com/office/drawing/2014/main" id="{8470AB06-E217-3B8A-D0DF-1577A5851C91}"/>
              </a:ext>
            </a:extLst>
          </p:cNvPr>
          <p:cNvSpPr/>
          <p:nvPr/>
        </p:nvSpPr>
        <p:spPr>
          <a:xfrm>
            <a:off x="178031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24">
            <a:extLst>
              <a:ext uri="{FF2B5EF4-FFF2-40B4-BE49-F238E27FC236}">
                <a16:creationId xmlns:a16="http://schemas.microsoft.com/office/drawing/2014/main" id="{2A6C19BE-2ADD-92FF-C3C8-BB7A7ED1914E}"/>
              </a:ext>
            </a:extLst>
          </p:cNvPr>
          <p:cNvSpPr/>
          <p:nvPr/>
        </p:nvSpPr>
        <p:spPr>
          <a:xfrm>
            <a:off x="191412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Rectangle 26">
            <a:extLst>
              <a:ext uri="{FF2B5EF4-FFF2-40B4-BE49-F238E27FC236}">
                <a16:creationId xmlns:a16="http://schemas.microsoft.com/office/drawing/2014/main" id="{AEA9282C-745C-0F11-59E9-7FDE3FF49362}"/>
              </a:ext>
            </a:extLst>
          </p:cNvPr>
          <p:cNvSpPr/>
          <p:nvPr/>
        </p:nvSpPr>
        <p:spPr>
          <a:xfrm>
            <a:off x="204793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Rectangle 27">
            <a:extLst>
              <a:ext uri="{FF2B5EF4-FFF2-40B4-BE49-F238E27FC236}">
                <a16:creationId xmlns:a16="http://schemas.microsoft.com/office/drawing/2014/main" id="{8E09DF6F-9D58-1ED2-DFE2-17C63D68CDA6}"/>
              </a:ext>
            </a:extLst>
          </p:cNvPr>
          <p:cNvSpPr/>
          <p:nvPr/>
        </p:nvSpPr>
        <p:spPr>
          <a:xfrm>
            <a:off x="218174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Rectangle 28">
            <a:extLst>
              <a:ext uri="{FF2B5EF4-FFF2-40B4-BE49-F238E27FC236}">
                <a16:creationId xmlns:a16="http://schemas.microsoft.com/office/drawing/2014/main" id="{647C6D92-1844-14A3-E013-0C19BF1891B3}"/>
              </a:ext>
            </a:extLst>
          </p:cNvPr>
          <p:cNvSpPr/>
          <p:nvPr/>
        </p:nvSpPr>
        <p:spPr>
          <a:xfrm>
            <a:off x="231556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Rectangle 29">
            <a:extLst>
              <a:ext uri="{FF2B5EF4-FFF2-40B4-BE49-F238E27FC236}">
                <a16:creationId xmlns:a16="http://schemas.microsoft.com/office/drawing/2014/main" id="{5B571D95-F682-F230-688C-DA8C85480DF5}"/>
              </a:ext>
            </a:extLst>
          </p:cNvPr>
          <p:cNvSpPr/>
          <p:nvPr/>
        </p:nvSpPr>
        <p:spPr>
          <a:xfrm>
            <a:off x="244937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Rectangle 30">
            <a:extLst>
              <a:ext uri="{FF2B5EF4-FFF2-40B4-BE49-F238E27FC236}">
                <a16:creationId xmlns:a16="http://schemas.microsoft.com/office/drawing/2014/main" id="{B1AD0F44-F08C-51F4-348E-E937CA43E88F}"/>
              </a:ext>
            </a:extLst>
          </p:cNvPr>
          <p:cNvSpPr/>
          <p:nvPr/>
        </p:nvSpPr>
        <p:spPr>
          <a:xfrm>
            <a:off x="258318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Rectangle 31">
            <a:extLst>
              <a:ext uri="{FF2B5EF4-FFF2-40B4-BE49-F238E27FC236}">
                <a16:creationId xmlns:a16="http://schemas.microsoft.com/office/drawing/2014/main" id="{E8F7F9DF-1706-2490-8763-F47D521E3229}"/>
              </a:ext>
            </a:extLst>
          </p:cNvPr>
          <p:cNvSpPr/>
          <p:nvPr/>
        </p:nvSpPr>
        <p:spPr>
          <a:xfrm>
            <a:off x="271699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Rectangle 32">
            <a:extLst>
              <a:ext uri="{FF2B5EF4-FFF2-40B4-BE49-F238E27FC236}">
                <a16:creationId xmlns:a16="http://schemas.microsoft.com/office/drawing/2014/main" id="{E1FC3008-4B07-76A0-9AC3-197ED490D3D3}"/>
              </a:ext>
            </a:extLst>
          </p:cNvPr>
          <p:cNvSpPr/>
          <p:nvPr/>
        </p:nvSpPr>
        <p:spPr>
          <a:xfrm>
            <a:off x="285080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Rectangle 33">
            <a:extLst>
              <a:ext uri="{FF2B5EF4-FFF2-40B4-BE49-F238E27FC236}">
                <a16:creationId xmlns:a16="http://schemas.microsoft.com/office/drawing/2014/main" id="{2284878E-C4F1-9952-EAB8-5E1B5CBD5DD7}"/>
              </a:ext>
            </a:extLst>
          </p:cNvPr>
          <p:cNvSpPr/>
          <p:nvPr/>
        </p:nvSpPr>
        <p:spPr>
          <a:xfrm>
            <a:off x="298462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Rectangle 34">
            <a:extLst>
              <a:ext uri="{FF2B5EF4-FFF2-40B4-BE49-F238E27FC236}">
                <a16:creationId xmlns:a16="http://schemas.microsoft.com/office/drawing/2014/main" id="{3610026B-31A7-A36C-B6C1-0FD37C5FC52D}"/>
              </a:ext>
            </a:extLst>
          </p:cNvPr>
          <p:cNvSpPr/>
          <p:nvPr/>
        </p:nvSpPr>
        <p:spPr>
          <a:xfrm>
            <a:off x="311843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Rectangle 35">
            <a:extLst>
              <a:ext uri="{FF2B5EF4-FFF2-40B4-BE49-F238E27FC236}">
                <a16:creationId xmlns:a16="http://schemas.microsoft.com/office/drawing/2014/main" id="{BE1F42C2-835C-64AF-1A9F-10D054F119EF}"/>
              </a:ext>
            </a:extLst>
          </p:cNvPr>
          <p:cNvSpPr/>
          <p:nvPr/>
        </p:nvSpPr>
        <p:spPr>
          <a:xfrm>
            <a:off x="325224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Rectangle 36">
            <a:extLst>
              <a:ext uri="{FF2B5EF4-FFF2-40B4-BE49-F238E27FC236}">
                <a16:creationId xmlns:a16="http://schemas.microsoft.com/office/drawing/2014/main" id="{2112C975-1F40-68E3-227A-B5FC833CA350}"/>
              </a:ext>
            </a:extLst>
          </p:cNvPr>
          <p:cNvSpPr/>
          <p:nvPr/>
        </p:nvSpPr>
        <p:spPr>
          <a:xfrm>
            <a:off x="338605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Rectangle 37">
            <a:extLst>
              <a:ext uri="{FF2B5EF4-FFF2-40B4-BE49-F238E27FC236}">
                <a16:creationId xmlns:a16="http://schemas.microsoft.com/office/drawing/2014/main" id="{B60918B4-376D-0AF4-3A0A-2400FA1EF005}"/>
              </a:ext>
            </a:extLst>
          </p:cNvPr>
          <p:cNvSpPr/>
          <p:nvPr/>
        </p:nvSpPr>
        <p:spPr>
          <a:xfrm>
            <a:off x="351986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Rectangle 38">
            <a:extLst>
              <a:ext uri="{FF2B5EF4-FFF2-40B4-BE49-F238E27FC236}">
                <a16:creationId xmlns:a16="http://schemas.microsoft.com/office/drawing/2014/main" id="{052CE516-ECCB-BB7B-0776-AB21AEC46447}"/>
              </a:ext>
            </a:extLst>
          </p:cNvPr>
          <p:cNvSpPr/>
          <p:nvPr/>
        </p:nvSpPr>
        <p:spPr>
          <a:xfrm>
            <a:off x="365368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Rectangle 39">
            <a:extLst>
              <a:ext uri="{FF2B5EF4-FFF2-40B4-BE49-F238E27FC236}">
                <a16:creationId xmlns:a16="http://schemas.microsoft.com/office/drawing/2014/main" id="{894E56A8-F26D-F9F2-CA25-638FBC520BE0}"/>
              </a:ext>
            </a:extLst>
          </p:cNvPr>
          <p:cNvSpPr/>
          <p:nvPr/>
        </p:nvSpPr>
        <p:spPr>
          <a:xfrm>
            <a:off x="378749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Rectangle 40">
            <a:extLst>
              <a:ext uri="{FF2B5EF4-FFF2-40B4-BE49-F238E27FC236}">
                <a16:creationId xmlns:a16="http://schemas.microsoft.com/office/drawing/2014/main" id="{7A19A2F0-124C-EB1C-0D6B-11AA0C13E04C}"/>
              </a:ext>
            </a:extLst>
          </p:cNvPr>
          <p:cNvSpPr/>
          <p:nvPr/>
        </p:nvSpPr>
        <p:spPr>
          <a:xfrm>
            <a:off x="392130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Rectangle 41">
            <a:extLst>
              <a:ext uri="{FF2B5EF4-FFF2-40B4-BE49-F238E27FC236}">
                <a16:creationId xmlns:a16="http://schemas.microsoft.com/office/drawing/2014/main" id="{4D59B0E0-B236-C24E-DE63-42E996E837E8}"/>
              </a:ext>
            </a:extLst>
          </p:cNvPr>
          <p:cNvSpPr/>
          <p:nvPr/>
        </p:nvSpPr>
        <p:spPr>
          <a:xfrm>
            <a:off x="405511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Rectangle 42">
            <a:extLst>
              <a:ext uri="{FF2B5EF4-FFF2-40B4-BE49-F238E27FC236}">
                <a16:creationId xmlns:a16="http://schemas.microsoft.com/office/drawing/2014/main" id="{A624C1FD-8FC6-CC09-E594-4062D3070A4F}"/>
              </a:ext>
            </a:extLst>
          </p:cNvPr>
          <p:cNvSpPr/>
          <p:nvPr/>
        </p:nvSpPr>
        <p:spPr>
          <a:xfrm>
            <a:off x="432274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Rectangle 43">
            <a:extLst>
              <a:ext uri="{FF2B5EF4-FFF2-40B4-BE49-F238E27FC236}">
                <a16:creationId xmlns:a16="http://schemas.microsoft.com/office/drawing/2014/main" id="{9C3A56CF-FA25-7A80-6C8B-43AE642A1CC1}"/>
              </a:ext>
            </a:extLst>
          </p:cNvPr>
          <p:cNvSpPr/>
          <p:nvPr/>
        </p:nvSpPr>
        <p:spPr>
          <a:xfrm>
            <a:off x="459036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Rectangle 44">
            <a:extLst>
              <a:ext uri="{FF2B5EF4-FFF2-40B4-BE49-F238E27FC236}">
                <a16:creationId xmlns:a16="http://schemas.microsoft.com/office/drawing/2014/main" id="{DA3D0B7E-A66E-6959-0546-922383AD854B}"/>
              </a:ext>
            </a:extLst>
          </p:cNvPr>
          <p:cNvSpPr/>
          <p:nvPr/>
        </p:nvSpPr>
        <p:spPr>
          <a:xfrm>
            <a:off x="485798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Rectangle 45">
            <a:extLst>
              <a:ext uri="{FF2B5EF4-FFF2-40B4-BE49-F238E27FC236}">
                <a16:creationId xmlns:a16="http://schemas.microsoft.com/office/drawing/2014/main" id="{75E728AA-84E8-73DA-0B69-F8151F83C766}"/>
              </a:ext>
            </a:extLst>
          </p:cNvPr>
          <p:cNvSpPr/>
          <p:nvPr/>
        </p:nvSpPr>
        <p:spPr>
          <a:xfrm>
            <a:off x="512561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Rectangle 46">
            <a:extLst>
              <a:ext uri="{FF2B5EF4-FFF2-40B4-BE49-F238E27FC236}">
                <a16:creationId xmlns:a16="http://schemas.microsoft.com/office/drawing/2014/main" id="{B03858CE-CCD2-8E57-7245-75459393FD00}"/>
              </a:ext>
            </a:extLst>
          </p:cNvPr>
          <p:cNvSpPr/>
          <p:nvPr/>
        </p:nvSpPr>
        <p:spPr>
          <a:xfrm>
            <a:off x="539323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Rectangle 47">
            <a:extLst>
              <a:ext uri="{FF2B5EF4-FFF2-40B4-BE49-F238E27FC236}">
                <a16:creationId xmlns:a16="http://schemas.microsoft.com/office/drawing/2014/main" id="{2904EA6D-B86B-02B6-9E7E-3BB961E68C80}"/>
              </a:ext>
            </a:extLst>
          </p:cNvPr>
          <p:cNvSpPr/>
          <p:nvPr/>
        </p:nvSpPr>
        <p:spPr>
          <a:xfrm>
            <a:off x="566086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Rectangle 48">
            <a:extLst>
              <a:ext uri="{FF2B5EF4-FFF2-40B4-BE49-F238E27FC236}">
                <a16:creationId xmlns:a16="http://schemas.microsoft.com/office/drawing/2014/main" id="{167C882C-F73F-50E5-CF3D-FCFF5C279EE3}"/>
              </a:ext>
            </a:extLst>
          </p:cNvPr>
          <p:cNvSpPr/>
          <p:nvPr/>
        </p:nvSpPr>
        <p:spPr>
          <a:xfrm>
            <a:off x="592848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Rectangle 49">
            <a:extLst>
              <a:ext uri="{FF2B5EF4-FFF2-40B4-BE49-F238E27FC236}">
                <a16:creationId xmlns:a16="http://schemas.microsoft.com/office/drawing/2014/main" id="{CB47EBC6-E3C9-6D76-4BA2-747CA318DAA2}"/>
              </a:ext>
            </a:extLst>
          </p:cNvPr>
          <p:cNvSpPr/>
          <p:nvPr/>
        </p:nvSpPr>
        <p:spPr>
          <a:xfrm>
            <a:off x="619610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1" name="Rectangle 50">
            <a:extLst>
              <a:ext uri="{FF2B5EF4-FFF2-40B4-BE49-F238E27FC236}">
                <a16:creationId xmlns:a16="http://schemas.microsoft.com/office/drawing/2014/main" id="{B8464B0D-7581-DA45-629E-9834D279540B}"/>
              </a:ext>
            </a:extLst>
          </p:cNvPr>
          <p:cNvSpPr/>
          <p:nvPr/>
        </p:nvSpPr>
        <p:spPr>
          <a:xfrm>
            <a:off x="646373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2" name="Rectangle 51">
            <a:extLst>
              <a:ext uri="{FF2B5EF4-FFF2-40B4-BE49-F238E27FC236}">
                <a16:creationId xmlns:a16="http://schemas.microsoft.com/office/drawing/2014/main" id="{AE3E1B3C-987F-9652-FDC9-9D83674EB9A1}"/>
              </a:ext>
            </a:extLst>
          </p:cNvPr>
          <p:cNvSpPr/>
          <p:nvPr/>
        </p:nvSpPr>
        <p:spPr>
          <a:xfrm>
            <a:off x="673135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Rectangle 52">
            <a:extLst>
              <a:ext uri="{FF2B5EF4-FFF2-40B4-BE49-F238E27FC236}">
                <a16:creationId xmlns:a16="http://schemas.microsoft.com/office/drawing/2014/main" id="{4151D6F3-6F28-92BF-E0ED-9CF398DC183E}"/>
              </a:ext>
            </a:extLst>
          </p:cNvPr>
          <p:cNvSpPr/>
          <p:nvPr/>
        </p:nvSpPr>
        <p:spPr>
          <a:xfrm>
            <a:off x="699898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Rectangle 53">
            <a:extLst>
              <a:ext uri="{FF2B5EF4-FFF2-40B4-BE49-F238E27FC236}">
                <a16:creationId xmlns:a16="http://schemas.microsoft.com/office/drawing/2014/main" id="{30E23A34-98DB-FE9F-CA44-65AB93C76986}"/>
              </a:ext>
            </a:extLst>
          </p:cNvPr>
          <p:cNvSpPr/>
          <p:nvPr/>
        </p:nvSpPr>
        <p:spPr>
          <a:xfrm>
            <a:off x="726660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Rectangle 54">
            <a:extLst>
              <a:ext uri="{FF2B5EF4-FFF2-40B4-BE49-F238E27FC236}">
                <a16:creationId xmlns:a16="http://schemas.microsoft.com/office/drawing/2014/main" id="{DD63DE2B-4B74-9D47-1F07-55C626B22242}"/>
              </a:ext>
            </a:extLst>
          </p:cNvPr>
          <p:cNvSpPr/>
          <p:nvPr/>
        </p:nvSpPr>
        <p:spPr>
          <a:xfrm>
            <a:off x="418892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Rectangle 55">
            <a:extLst>
              <a:ext uri="{FF2B5EF4-FFF2-40B4-BE49-F238E27FC236}">
                <a16:creationId xmlns:a16="http://schemas.microsoft.com/office/drawing/2014/main" id="{E5DF955B-F220-2D22-BF4D-21B74897E46A}"/>
              </a:ext>
            </a:extLst>
          </p:cNvPr>
          <p:cNvSpPr/>
          <p:nvPr/>
        </p:nvSpPr>
        <p:spPr>
          <a:xfrm>
            <a:off x="445655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Rectangle 56">
            <a:extLst>
              <a:ext uri="{FF2B5EF4-FFF2-40B4-BE49-F238E27FC236}">
                <a16:creationId xmlns:a16="http://schemas.microsoft.com/office/drawing/2014/main" id="{268D22DC-FA7F-31B2-33F1-C02E539B4C09}"/>
              </a:ext>
            </a:extLst>
          </p:cNvPr>
          <p:cNvSpPr/>
          <p:nvPr/>
        </p:nvSpPr>
        <p:spPr>
          <a:xfrm>
            <a:off x="472417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Rectangle 57">
            <a:extLst>
              <a:ext uri="{FF2B5EF4-FFF2-40B4-BE49-F238E27FC236}">
                <a16:creationId xmlns:a16="http://schemas.microsoft.com/office/drawing/2014/main" id="{E621AD3E-9E38-45AD-D6F8-773DEDEA087C}"/>
              </a:ext>
            </a:extLst>
          </p:cNvPr>
          <p:cNvSpPr/>
          <p:nvPr/>
        </p:nvSpPr>
        <p:spPr>
          <a:xfrm>
            <a:off x="499180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Rectangle 58">
            <a:extLst>
              <a:ext uri="{FF2B5EF4-FFF2-40B4-BE49-F238E27FC236}">
                <a16:creationId xmlns:a16="http://schemas.microsoft.com/office/drawing/2014/main" id="{D5DD35E9-E6A3-CEF7-5BBD-6733516E6A91}"/>
              </a:ext>
            </a:extLst>
          </p:cNvPr>
          <p:cNvSpPr/>
          <p:nvPr/>
        </p:nvSpPr>
        <p:spPr>
          <a:xfrm>
            <a:off x="525942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Rectangle 59">
            <a:extLst>
              <a:ext uri="{FF2B5EF4-FFF2-40B4-BE49-F238E27FC236}">
                <a16:creationId xmlns:a16="http://schemas.microsoft.com/office/drawing/2014/main" id="{55D109E9-2504-2B65-5391-7B46BBB0B82F}"/>
              </a:ext>
            </a:extLst>
          </p:cNvPr>
          <p:cNvSpPr/>
          <p:nvPr/>
        </p:nvSpPr>
        <p:spPr>
          <a:xfrm>
            <a:off x="552704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Rectangle 60">
            <a:extLst>
              <a:ext uri="{FF2B5EF4-FFF2-40B4-BE49-F238E27FC236}">
                <a16:creationId xmlns:a16="http://schemas.microsoft.com/office/drawing/2014/main" id="{C348A780-DB11-D1DC-3E59-EE9B163BB175}"/>
              </a:ext>
            </a:extLst>
          </p:cNvPr>
          <p:cNvSpPr/>
          <p:nvPr/>
        </p:nvSpPr>
        <p:spPr>
          <a:xfrm>
            <a:off x="579467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Rectangle 61">
            <a:extLst>
              <a:ext uri="{FF2B5EF4-FFF2-40B4-BE49-F238E27FC236}">
                <a16:creationId xmlns:a16="http://schemas.microsoft.com/office/drawing/2014/main" id="{58DAF522-3324-24D5-9348-FEEFD02BE777}"/>
              </a:ext>
            </a:extLst>
          </p:cNvPr>
          <p:cNvSpPr/>
          <p:nvPr/>
        </p:nvSpPr>
        <p:spPr>
          <a:xfrm>
            <a:off x="606229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Rectangle 62">
            <a:extLst>
              <a:ext uri="{FF2B5EF4-FFF2-40B4-BE49-F238E27FC236}">
                <a16:creationId xmlns:a16="http://schemas.microsoft.com/office/drawing/2014/main" id="{B1C82F63-16DA-2437-C2CC-AEC5CFA51E1F}"/>
              </a:ext>
            </a:extLst>
          </p:cNvPr>
          <p:cNvSpPr/>
          <p:nvPr/>
        </p:nvSpPr>
        <p:spPr>
          <a:xfrm>
            <a:off x="6329921"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Rectangle 63">
            <a:extLst>
              <a:ext uri="{FF2B5EF4-FFF2-40B4-BE49-F238E27FC236}">
                <a16:creationId xmlns:a16="http://schemas.microsoft.com/office/drawing/2014/main" id="{7978B001-1730-5A50-23C0-52804F188F63}"/>
              </a:ext>
            </a:extLst>
          </p:cNvPr>
          <p:cNvSpPr/>
          <p:nvPr/>
        </p:nvSpPr>
        <p:spPr>
          <a:xfrm>
            <a:off x="659754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Rectangle 64">
            <a:extLst>
              <a:ext uri="{FF2B5EF4-FFF2-40B4-BE49-F238E27FC236}">
                <a16:creationId xmlns:a16="http://schemas.microsoft.com/office/drawing/2014/main" id="{88CE0294-1F79-370C-765E-80AB041E65E3}"/>
              </a:ext>
            </a:extLst>
          </p:cNvPr>
          <p:cNvSpPr/>
          <p:nvPr/>
        </p:nvSpPr>
        <p:spPr>
          <a:xfrm>
            <a:off x="686516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Rectangle 65">
            <a:extLst>
              <a:ext uri="{FF2B5EF4-FFF2-40B4-BE49-F238E27FC236}">
                <a16:creationId xmlns:a16="http://schemas.microsoft.com/office/drawing/2014/main" id="{9A9E1DA6-3759-AD34-85FA-50C8BAFF18F8}"/>
              </a:ext>
            </a:extLst>
          </p:cNvPr>
          <p:cNvSpPr/>
          <p:nvPr/>
        </p:nvSpPr>
        <p:spPr>
          <a:xfrm>
            <a:off x="7132793"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Rectangle 66">
            <a:extLst>
              <a:ext uri="{FF2B5EF4-FFF2-40B4-BE49-F238E27FC236}">
                <a16:creationId xmlns:a16="http://schemas.microsoft.com/office/drawing/2014/main" id="{8516341D-E9F8-F84D-5E00-75345C1AAE6C}"/>
              </a:ext>
            </a:extLst>
          </p:cNvPr>
          <p:cNvSpPr/>
          <p:nvPr/>
        </p:nvSpPr>
        <p:spPr>
          <a:xfrm>
            <a:off x="7400417"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Rectangle 67">
            <a:extLst>
              <a:ext uri="{FF2B5EF4-FFF2-40B4-BE49-F238E27FC236}">
                <a16:creationId xmlns:a16="http://schemas.microsoft.com/office/drawing/2014/main" id="{71DD3ECC-05D3-D050-B828-536BA0EC540D}"/>
              </a:ext>
            </a:extLst>
          </p:cNvPr>
          <p:cNvSpPr/>
          <p:nvPr/>
        </p:nvSpPr>
        <p:spPr>
          <a:xfrm>
            <a:off x="7534229"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Rectangle 68">
            <a:extLst>
              <a:ext uri="{FF2B5EF4-FFF2-40B4-BE49-F238E27FC236}">
                <a16:creationId xmlns:a16="http://schemas.microsoft.com/office/drawing/2014/main" id="{776A9B14-671D-64C9-839F-8843519D7ABE}"/>
              </a:ext>
            </a:extLst>
          </p:cNvPr>
          <p:cNvSpPr/>
          <p:nvPr/>
        </p:nvSpPr>
        <p:spPr>
          <a:xfrm>
            <a:off x="7668055" y="1770874"/>
            <a:ext cx="1344948" cy="2578100"/>
          </a:xfrm>
          <a:prstGeom prst="rect">
            <a:avLst/>
          </a:prstGeom>
          <a:solidFill>
            <a:srgbClr val="B1EFEF">
              <a:alpha val="10000"/>
            </a:srgb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Arrow: Down 69">
            <a:extLst>
              <a:ext uri="{FF2B5EF4-FFF2-40B4-BE49-F238E27FC236}">
                <a16:creationId xmlns:a16="http://schemas.microsoft.com/office/drawing/2014/main" id="{B298243A-7370-339C-F403-077FB5FFB2B4}"/>
              </a:ext>
            </a:extLst>
          </p:cNvPr>
          <p:cNvSpPr/>
          <p:nvPr/>
        </p:nvSpPr>
        <p:spPr>
          <a:xfrm>
            <a:off x="4644000" y="4930869"/>
            <a:ext cx="354629" cy="406670"/>
          </a:xfrm>
          <a:prstGeom prst="down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6" name="TextBox 85">
            <a:extLst>
              <a:ext uri="{FF2B5EF4-FFF2-40B4-BE49-F238E27FC236}">
                <a16:creationId xmlns:a16="http://schemas.microsoft.com/office/drawing/2014/main" id="{924274B9-3A49-2B3B-BD23-85D041EFD2F9}"/>
              </a:ext>
            </a:extLst>
          </p:cNvPr>
          <p:cNvSpPr txBox="1"/>
          <p:nvPr/>
        </p:nvSpPr>
        <p:spPr>
          <a:xfrm>
            <a:off x="3550311" y="4853095"/>
            <a:ext cx="951094" cy="523220"/>
          </a:xfrm>
          <a:prstGeom prst="rect">
            <a:avLst/>
          </a:prstGeom>
          <a:noFill/>
        </p:spPr>
        <p:txBody>
          <a:bodyPr wrap="none" rtlCol="0">
            <a:spAutoFit/>
          </a:bodyPr>
          <a:lstStyle/>
          <a:p>
            <a:r>
              <a:rPr lang="en-US" altLang="ko-KR" sz="2800" b="1" dirty="0">
                <a:solidFill>
                  <a:srgbClr val="0000FF"/>
                </a:solidFill>
              </a:rPr>
              <a:t>STFT</a:t>
            </a:r>
            <a:endParaRPr lang="ko-KR" altLang="en-US" b="1" dirty="0">
              <a:solidFill>
                <a:srgbClr val="0000FF"/>
              </a:solidFill>
            </a:endParaRPr>
          </a:p>
        </p:txBody>
      </p:sp>
      <p:grpSp>
        <p:nvGrpSpPr>
          <p:cNvPr id="92" name="Group 91">
            <a:extLst>
              <a:ext uri="{FF2B5EF4-FFF2-40B4-BE49-F238E27FC236}">
                <a16:creationId xmlns:a16="http://schemas.microsoft.com/office/drawing/2014/main" id="{8A5CB319-6A4A-B3B3-287C-A1BCD9F4CC4D}"/>
              </a:ext>
            </a:extLst>
          </p:cNvPr>
          <p:cNvGrpSpPr/>
          <p:nvPr/>
        </p:nvGrpSpPr>
        <p:grpSpPr>
          <a:xfrm>
            <a:off x="456450" y="5350916"/>
            <a:ext cx="10213137" cy="1391230"/>
            <a:chOff x="456450" y="5350916"/>
            <a:chExt cx="10213137" cy="1391230"/>
          </a:xfrm>
        </p:grpSpPr>
        <p:sp>
          <p:nvSpPr>
            <p:cNvPr id="87" name="Rectangle 86">
              <a:extLst>
                <a:ext uri="{FF2B5EF4-FFF2-40B4-BE49-F238E27FC236}">
                  <a16:creationId xmlns:a16="http://schemas.microsoft.com/office/drawing/2014/main" id="{C492C062-379C-6192-6101-C92298B8ED09}"/>
                </a:ext>
              </a:extLst>
            </p:cNvPr>
            <p:cNvSpPr/>
            <p:nvPr/>
          </p:nvSpPr>
          <p:spPr>
            <a:xfrm>
              <a:off x="456450" y="5350916"/>
              <a:ext cx="10213137" cy="13912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9" name="Picture 78">
              <a:extLst>
                <a:ext uri="{FF2B5EF4-FFF2-40B4-BE49-F238E27FC236}">
                  <a16:creationId xmlns:a16="http://schemas.microsoft.com/office/drawing/2014/main" id="{58F80841-9E30-817B-C25D-18F0AE512DE8}"/>
                </a:ext>
              </a:extLst>
            </p:cNvPr>
            <p:cNvPicPr>
              <a:picLocks noChangeAspect="1"/>
            </p:cNvPicPr>
            <p:nvPr/>
          </p:nvPicPr>
          <p:blipFill>
            <a:blip r:embed="rId3"/>
            <a:srcRect r="17249" b="85080"/>
            <a:stretch>
              <a:fillRect/>
            </a:stretch>
          </p:blipFill>
          <p:spPr>
            <a:xfrm>
              <a:off x="1057522" y="6058303"/>
              <a:ext cx="7954125" cy="606546"/>
            </a:xfrm>
            <a:prstGeom prst="rect">
              <a:avLst/>
            </a:prstGeom>
            <a:ln>
              <a:solidFill>
                <a:schemeClr val="tx1"/>
              </a:solidFill>
            </a:ln>
          </p:spPr>
        </p:pic>
        <p:pic>
          <p:nvPicPr>
            <p:cNvPr id="83" name="Picture 82">
              <a:extLst>
                <a:ext uri="{FF2B5EF4-FFF2-40B4-BE49-F238E27FC236}">
                  <a16:creationId xmlns:a16="http://schemas.microsoft.com/office/drawing/2014/main" id="{6E099C20-2DAF-AEC7-4165-3CBD6961262A}"/>
                </a:ext>
              </a:extLst>
            </p:cNvPr>
            <p:cNvPicPr>
              <a:picLocks noChangeAspect="1"/>
            </p:cNvPicPr>
            <p:nvPr/>
          </p:nvPicPr>
          <p:blipFill>
            <a:blip r:embed="rId3"/>
            <a:srcRect t="38340" r="17249" b="49411"/>
            <a:stretch>
              <a:fillRect/>
            </a:stretch>
          </p:blipFill>
          <p:spPr>
            <a:xfrm>
              <a:off x="1057522" y="5439809"/>
              <a:ext cx="7954125" cy="598602"/>
            </a:xfrm>
            <a:prstGeom prst="rect">
              <a:avLst/>
            </a:prstGeom>
            <a:ln>
              <a:solidFill>
                <a:schemeClr val="tx1"/>
              </a:solidFill>
            </a:ln>
          </p:spPr>
        </p:pic>
        <p:sp>
          <p:nvSpPr>
            <p:cNvPr id="84" name="TextBox 83">
              <a:extLst>
                <a:ext uri="{FF2B5EF4-FFF2-40B4-BE49-F238E27FC236}">
                  <a16:creationId xmlns:a16="http://schemas.microsoft.com/office/drawing/2014/main" id="{5A28375D-14DE-0B8A-4299-FD4ED2C93D67}"/>
                </a:ext>
              </a:extLst>
            </p:cNvPr>
            <p:cNvSpPr txBox="1"/>
            <p:nvPr/>
          </p:nvSpPr>
          <p:spPr>
            <a:xfrm>
              <a:off x="456451" y="6176910"/>
              <a:ext cx="431528" cy="369332"/>
            </a:xfrm>
            <a:prstGeom prst="rect">
              <a:avLst/>
            </a:prstGeom>
            <a:noFill/>
          </p:spPr>
          <p:txBody>
            <a:bodyPr wrap="none" rtlCol="0">
              <a:spAutoFit/>
            </a:bodyPr>
            <a:lstStyle/>
            <a:p>
              <a:r>
                <a:rPr lang="en-US" altLang="ko-KR" b="1" dirty="0"/>
                <a:t>F8</a:t>
              </a:r>
              <a:endParaRPr lang="ko-KR" altLang="en-US" b="1" dirty="0"/>
            </a:p>
          </p:txBody>
        </p:sp>
        <p:sp>
          <p:nvSpPr>
            <p:cNvPr id="85" name="TextBox 84">
              <a:extLst>
                <a:ext uri="{FF2B5EF4-FFF2-40B4-BE49-F238E27FC236}">
                  <a16:creationId xmlns:a16="http://schemas.microsoft.com/office/drawing/2014/main" id="{5E6A07D7-5B1F-D90F-5F79-2AAA7FF4A9CE}"/>
                </a:ext>
              </a:extLst>
            </p:cNvPr>
            <p:cNvSpPr txBox="1"/>
            <p:nvPr/>
          </p:nvSpPr>
          <p:spPr>
            <a:xfrm>
              <a:off x="456451" y="5595369"/>
              <a:ext cx="554960" cy="369332"/>
            </a:xfrm>
            <a:prstGeom prst="rect">
              <a:avLst/>
            </a:prstGeom>
            <a:noFill/>
          </p:spPr>
          <p:txBody>
            <a:bodyPr wrap="none" rtlCol="0">
              <a:spAutoFit/>
            </a:bodyPr>
            <a:lstStyle/>
            <a:p>
              <a:r>
                <a:rPr lang="en-US" altLang="ko-KR" b="1" dirty="0" err="1"/>
                <a:t>FPz</a:t>
              </a:r>
              <a:endParaRPr lang="ko-KR" altLang="en-US" b="1" dirty="0"/>
            </a:p>
          </p:txBody>
        </p:sp>
        <p:cxnSp>
          <p:nvCxnSpPr>
            <p:cNvPr id="89" name="Straight Connector 88">
              <a:extLst>
                <a:ext uri="{FF2B5EF4-FFF2-40B4-BE49-F238E27FC236}">
                  <a16:creationId xmlns:a16="http://schemas.microsoft.com/office/drawing/2014/main" id="{63F611A7-3A18-03C1-6A39-993877BF3ED8}"/>
                </a:ext>
              </a:extLst>
            </p:cNvPr>
            <p:cNvCxnSpPr>
              <a:cxnSpLocks/>
            </p:cNvCxnSpPr>
            <p:nvPr/>
          </p:nvCxnSpPr>
          <p:spPr>
            <a:xfrm flipH="1">
              <a:off x="456451" y="6038411"/>
              <a:ext cx="8555196" cy="0"/>
            </a:xfrm>
            <a:prstGeom prst="line">
              <a:avLst/>
            </a:prstGeom>
          </p:spPr>
          <p:style>
            <a:lnRef idx="2">
              <a:schemeClr val="dk1"/>
            </a:lnRef>
            <a:fillRef idx="0">
              <a:schemeClr val="dk1"/>
            </a:fillRef>
            <a:effectRef idx="1">
              <a:schemeClr val="dk1"/>
            </a:effectRef>
            <a:fontRef idx="minor">
              <a:schemeClr val="tx1"/>
            </a:fontRef>
          </p:style>
        </p:cxnSp>
      </p:grpSp>
      <p:sp>
        <p:nvSpPr>
          <p:cNvPr id="91" name="TextBox 90">
            <a:extLst>
              <a:ext uri="{FF2B5EF4-FFF2-40B4-BE49-F238E27FC236}">
                <a16:creationId xmlns:a16="http://schemas.microsoft.com/office/drawing/2014/main" id="{AEA591D2-B383-191B-81AC-8B090C2EEA32}"/>
              </a:ext>
            </a:extLst>
          </p:cNvPr>
          <p:cNvSpPr txBox="1"/>
          <p:nvPr/>
        </p:nvSpPr>
        <p:spPr>
          <a:xfrm>
            <a:off x="11027968" y="5781856"/>
            <a:ext cx="1164032" cy="461665"/>
          </a:xfrm>
          <a:prstGeom prst="rect">
            <a:avLst/>
          </a:prstGeom>
          <a:noFill/>
        </p:spPr>
        <p:txBody>
          <a:bodyPr wrap="square" rtlCol="0">
            <a:spAutoFit/>
          </a:bodyPr>
          <a:lstStyle/>
          <a:p>
            <a:r>
              <a:rPr lang="ko-KR" altLang="en-US" sz="2400" b="1" dirty="0">
                <a:hlinkClick r:id="rId4" action="ppaction://hlinksldjump"/>
              </a:rPr>
              <a:t>←</a:t>
            </a:r>
            <a:r>
              <a:rPr lang="en-US" altLang="ko-KR" sz="2400" b="1" dirty="0">
                <a:hlinkClick r:id="rId4" action="ppaction://hlinksldjump"/>
              </a:rPr>
              <a:t>Back</a:t>
            </a:r>
            <a:endParaRPr lang="ko-KR" altLang="en-US" sz="2400" b="1" dirty="0"/>
          </a:p>
        </p:txBody>
      </p:sp>
      <p:grpSp>
        <p:nvGrpSpPr>
          <p:cNvPr id="71" name="Group 70">
            <a:extLst>
              <a:ext uri="{FF2B5EF4-FFF2-40B4-BE49-F238E27FC236}">
                <a16:creationId xmlns:a16="http://schemas.microsoft.com/office/drawing/2014/main" id="{BF4CE0E5-86C3-8C07-614F-D9662B3F368B}"/>
              </a:ext>
            </a:extLst>
          </p:cNvPr>
          <p:cNvGrpSpPr/>
          <p:nvPr/>
        </p:nvGrpSpPr>
        <p:grpSpPr>
          <a:xfrm>
            <a:off x="244662" y="804621"/>
            <a:ext cx="11826684" cy="524412"/>
            <a:chOff x="605117" y="3743143"/>
            <a:chExt cx="9179445" cy="524412"/>
          </a:xfrm>
        </p:grpSpPr>
        <p:sp>
          <p:nvSpPr>
            <p:cNvPr id="78" name="TextBox 77">
              <a:extLst>
                <a:ext uri="{FF2B5EF4-FFF2-40B4-BE49-F238E27FC236}">
                  <a16:creationId xmlns:a16="http://schemas.microsoft.com/office/drawing/2014/main" id="{745152BC-0F61-119F-B119-7F10617A0918}"/>
                </a:ext>
              </a:extLst>
            </p:cNvPr>
            <p:cNvSpPr txBox="1"/>
            <p:nvPr/>
          </p:nvSpPr>
          <p:spPr>
            <a:xfrm>
              <a:off x="605117" y="3743143"/>
              <a:ext cx="8513484" cy="523220"/>
            </a:xfrm>
            <a:prstGeom prst="rect">
              <a:avLst/>
            </a:prstGeom>
            <a:noFill/>
          </p:spPr>
          <p:txBody>
            <a:bodyPr wrap="square">
              <a:spAutoFit/>
            </a:bodyPr>
            <a:lstStyle/>
            <a:p>
              <a:r>
                <a:rPr lang="en-US" altLang="ko-KR" sz="2800" b="1" dirty="0"/>
                <a:t>3) STFT with 1.5-s window, 90% overlap</a:t>
              </a:r>
              <a:endParaRPr lang="ko-KR" altLang="en-US" sz="2800" b="1" dirty="0"/>
            </a:p>
          </p:txBody>
        </p:sp>
        <p:sp>
          <p:nvSpPr>
            <p:cNvPr id="88" name="TextBox 87">
              <a:extLst>
                <a:ext uri="{FF2B5EF4-FFF2-40B4-BE49-F238E27FC236}">
                  <a16:creationId xmlns:a16="http://schemas.microsoft.com/office/drawing/2014/main" id="{EE5CCB37-E920-4C98-180A-295351997DE9}"/>
                </a:ext>
              </a:extLst>
            </p:cNvPr>
            <p:cNvSpPr txBox="1"/>
            <p:nvPr/>
          </p:nvSpPr>
          <p:spPr>
            <a:xfrm>
              <a:off x="7875079" y="3744335"/>
              <a:ext cx="1909483" cy="523220"/>
            </a:xfrm>
            <a:prstGeom prst="rect">
              <a:avLst/>
            </a:prstGeom>
            <a:noFill/>
          </p:spPr>
          <p:txBody>
            <a:bodyPr wrap="square">
              <a:spAutoFit/>
            </a:bodyPr>
            <a:lstStyle/>
            <a:p>
              <a:r>
                <a:rPr lang="en-US" altLang="ko-KR" sz="2800" b="1" dirty="0">
                  <a:solidFill>
                    <a:srgbClr val="0000FF"/>
                  </a:solidFill>
                </a:rPr>
                <a:t>51 frames</a:t>
              </a:r>
              <a:endParaRPr lang="ko-KR" altLang="en-US" sz="2800" b="1" dirty="0">
                <a:solidFill>
                  <a:srgbClr val="0000FF"/>
                </a:solidFill>
              </a:endParaRPr>
            </a:p>
          </p:txBody>
        </p:sp>
        <p:cxnSp>
          <p:nvCxnSpPr>
            <p:cNvPr id="93" name="Straight Arrow Connector 92">
              <a:extLst>
                <a:ext uri="{FF2B5EF4-FFF2-40B4-BE49-F238E27FC236}">
                  <a16:creationId xmlns:a16="http://schemas.microsoft.com/office/drawing/2014/main" id="{ACB3B7BB-1AC7-EC83-5B25-DCB6730F7CDA}"/>
                </a:ext>
              </a:extLst>
            </p:cNvPr>
            <p:cNvCxnSpPr/>
            <p:nvPr/>
          </p:nvCxnSpPr>
          <p:spPr>
            <a:xfrm>
              <a:off x="7277411" y="4005945"/>
              <a:ext cx="407864"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98167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8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2"/>
          <a:stretch>
            <a:fillRect/>
          </a:stretch>
        </p:blipFill>
        <p:spPr>
          <a:xfrm>
            <a:off x="3443287" y="1628775"/>
            <a:ext cx="5305425" cy="3600450"/>
          </a:xfrm>
          <a:prstGeom prst="rect">
            <a:avLst/>
          </a:prstGeom>
        </p:spPr>
      </p:pic>
      <p:sp>
        <p:nvSpPr>
          <p:cNvPr id="3" name="직사각형 2"/>
          <p:cNvSpPr/>
          <p:nvPr/>
        </p:nvSpPr>
        <p:spPr>
          <a:xfrm>
            <a:off x="2856547" y="5827514"/>
            <a:ext cx="6875600" cy="369332"/>
          </a:xfrm>
          <a:prstGeom prst="rect">
            <a:avLst/>
          </a:prstGeom>
        </p:spPr>
        <p:txBody>
          <a:bodyPr wrap="none">
            <a:spAutoFit/>
          </a:bodyPr>
          <a:lstStyle/>
          <a:p>
            <a:r>
              <a:rPr lang="en-US" altLang="ko-KR" dirty="0">
                <a:solidFill>
                  <a:srgbClr val="111111"/>
                </a:solidFill>
                <a:latin typeface="Roboto"/>
              </a:rPr>
              <a:t>Core emotions established in the Russell’s </a:t>
            </a:r>
            <a:r>
              <a:rPr lang="en-US" altLang="ko-KR" dirty="0" err="1">
                <a:solidFill>
                  <a:srgbClr val="111111"/>
                </a:solidFill>
                <a:latin typeface="Roboto"/>
              </a:rPr>
              <a:t>Circumplex</a:t>
            </a:r>
            <a:r>
              <a:rPr lang="en-US" altLang="ko-KR" dirty="0">
                <a:solidFill>
                  <a:srgbClr val="111111"/>
                </a:solidFill>
                <a:latin typeface="Roboto"/>
              </a:rPr>
              <a:t> Model.</a:t>
            </a:r>
            <a:endParaRPr lang="en-US" altLang="ko-KR" b="0" i="0" dirty="0">
              <a:solidFill>
                <a:srgbClr val="111111"/>
              </a:solidFill>
              <a:effectLst/>
              <a:latin typeface="Roboto"/>
            </a:endParaRPr>
          </a:p>
        </p:txBody>
      </p:sp>
    </p:spTree>
    <p:extLst>
      <p:ext uri="{BB962C8B-B14F-4D97-AF65-F5344CB8AC3E}">
        <p14:creationId xmlns:p14="http://schemas.microsoft.com/office/powerpoint/2010/main" val="3310906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p:cNvPicPr>
            <a:picLocks noChangeAspect="1"/>
          </p:cNvPicPr>
          <p:nvPr/>
        </p:nvPicPr>
        <p:blipFill>
          <a:blip r:embed="rId2"/>
          <a:stretch>
            <a:fillRect/>
          </a:stretch>
        </p:blipFill>
        <p:spPr>
          <a:xfrm>
            <a:off x="3345180" y="624840"/>
            <a:ext cx="4690110" cy="4396978"/>
          </a:xfrm>
          <a:prstGeom prst="rect">
            <a:avLst/>
          </a:prstGeom>
        </p:spPr>
      </p:pic>
      <p:sp>
        <p:nvSpPr>
          <p:cNvPr id="6" name="직사각형 5"/>
          <p:cNvSpPr/>
          <p:nvPr/>
        </p:nvSpPr>
        <p:spPr>
          <a:xfrm>
            <a:off x="632460" y="5011758"/>
            <a:ext cx="10904220" cy="1200329"/>
          </a:xfrm>
          <a:prstGeom prst="rect">
            <a:avLst/>
          </a:prstGeom>
        </p:spPr>
        <p:txBody>
          <a:bodyPr wrap="square">
            <a:spAutoFit/>
          </a:bodyPr>
          <a:lstStyle/>
          <a:p>
            <a:pPr algn="just"/>
            <a:r>
              <a:rPr lang="en-US" altLang="ko-KR" dirty="0">
                <a:solidFill>
                  <a:srgbClr val="111111"/>
                </a:solidFill>
                <a:latin typeface="Roboto"/>
              </a:rPr>
              <a:t>The prefrontal cortex (PFC) can be divided into anterior (APFC, </a:t>
            </a:r>
            <a:r>
              <a:rPr lang="en-US" altLang="ko-KR" dirty="0" err="1">
                <a:solidFill>
                  <a:srgbClr val="111111"/>
                </a:solidFill>
                <a:latin typeface="Roboto"/>
              </a:rPr>
              <a:t>Brodmann</a:t>
            </a:r>
            <a:r>
              <a:rPr lang="en-US" altLang="ko-KR" dirty="0">
                <a:solidFill>
                  <a:srgbClr val="111111"/>
                </a:solidFill>
                <a:latin typeface="Roboto"/>
              </a:rPr>
              <a:t> area (BA) 10), dorsolateral (DLPFC, BA 46 and 9), ventrolateral (VLPFC, BA 44, 45 and 47) and medial (MPFC, BA 25 and 32) regions. BAs 11, 12 and 14 are commonly referred to as orbitofrontal cortex. (Adapted from Simons and </a:t>
            </a:r>
            <a:r>
              <a:rPr lang="en-US" altLang="ko-KR" dirty="0" err="1">
                <a:solidFill>
                  <a:srgbClr val="111111"/>
                </a:solidFill>
                <a:latin typeface="Roboto"/>
              </a:rPr>
              <a:t>Spiers</a:t>
            </a:r>
            <a:r>
              <a:rPr lang="en-US" altLang="ko-KR" dirty="0">
                <a:solidFill>
                  <a:srgbClr val="111111"/>
                </a:solidFill>
                <a:latin typeface="Roboto"/>
              </a:rPr>
              <a:t>, 2003, Nature Neuroscience).</a:t>
            </a:r>
            <a:endParaRPr lang="en-US" altLang="ko-KR" b="0" i="0" dirty="0">
              <a:solidFill>
                <a:srgbClr val="111111"/>
              </a:solidFill>
              <a:effectLst/>
              <a:latin typeface="Roboto"/>
            </a:endParaRPr>
          </a:p>
        </p:txBody>
      </p:sp>
      <p:sp>
        <p:nvSpPr>
          <p:cNvPr id="2" name="TextBox 1">
            <a:extLst>
              <a:ext uri="{FF2B5EF4-FFF2-40B4-BE49-F238E27FC236}">
                <a16:creationId xmlns:a16="http://schemas.microsoft.com/office/drawing/2014/main" id="{EDBBF58A-8F3E-779E-7E39-9EA10C091999}"/>
              </a:ext>
            </a:extLst>
          </p:cNvPr>
          <p:cNvSpPr txBox="1"/>
          <p:nvPr/>
        </p:nvSpPr>
        <p:spPr>
          <a:xfrm>
            <a:off x="11027968" y="6183877"/>
            <a:ext cx="1164032" cy="461665"/>
          </a:xfrm>
          <a:prstGeom prst="rect">
            <a:avLst/>
          </a:prstGeom>
          <a:noFill/>
        </p:spPr>
        <p:txBody>
          <a:bodyPr wrap="square" rtlCol="0">
            <a:spAutoFit/>
          </a:bodyPr>
          <a:lstStyle/>
          <a:p>
            <a:r>
              <a:rPr lang="ko-KR" altLang="en-US" sz="2400" b="1" dirty="0">
                <a:hlinkClick r:id="rId3" action="ppaction://hlinksldjump"/>
              </a:rPr>
              <a:t>←</a:t>
            </a:r>
            <a:r>
              <a:rPr lang="en-US" altLang="ko-KR" sz="2400" b="1" dirty="0">
                <a:hlinkClick r:id="rId3" action="ppaction://hlinksldjump"/>
              </a:rPr>
              <a:t>Back</a:t>
            </a:r>
            <a:endParaRPr lang="ko-KR" altLang="en-US" sz="2400" b="1" dirty="0"/>
          </a:p>
        </p:txBody>
      </p:sp>
    </p:spTree>
    <p:extLst>
      <p:ext uri="{BB962C8B-B14F-4D97-AF65-F5344CB8AC3E}">
        <p14:creationId xmlns:p14="http://schemas.microsoft.com/office/powerpoint/2010/main" val="1682298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2"/>
          <a:stretch>
            <a:fillRect/>
          </a:stretch>
        </p:blipFill>
        <p:spPr>
          <a:xfrm>
            <a:off x="2552700" y="0"/>
            <a:ext cx="7174153" cy="6804295"/>
          </a:xfrm>
          <a:prstGeom prst="rect">
            <a:avLst/>
          </a:prstGeom>
        </p:spPr>
      </p:pic>
    </p:spTree>
    <p:extLst>
      <p:ext uri="{BB962C8B-B14F-4D97-AF65-F5344CB8AC3E}">
        <p14:creationId xmlns:p14="http://schemas.microsoft.com/office/powerpoint/2010/main" val="1386935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5675-F196-0823-9AE8-42F9040BC9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F853DE-AF1C-FD0A-5FDF-F06236366003}"/>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5D0B2D8-1EBB-338A-2BDB-EF3D29BFE3BB}"/>
              </a:ext>
            </a:extLst>
          </p:cNvPr>
          <p:cNvSpPr txBox="1"/>
          <p:nvPr/>
        </p:nvSpPr>
        <p:spPr>
          <a:xfrm>
            <a:off x="0" y="171800"/>
            <a:ext cx="10002558" cy="707886"/>
          </a:xfrm>
          <a:prstGeom prst="rect">
            <a:avLst/>
          </a:prstGeom>
          <a:noFill/>
        </p:spPr>
        <p:txBody>
          <a:bodyPr wrap="square" rtlCol="0">
            <a:spAutoFit/>
          </a:bodyPr>
          <a:lstStyle/>
          <a:p>
            <a:r>
              <a:rPr lang="en-US" sz="4000" b="1" dirty="0">
                <a:latin typeface="Arial Black" panose="020B0A04020102020204" pitchFamily="34" charset="0"/>
              </a:rPr>
              <a:t>Single Layer Bidirectional LSTM</a:t>
            </a:r>
            <a:endParaRPr lang="en-US" sz="4000" dirty="0">
              <a:latin typeface="Arial Black" panose="020B0A04020102020204" pitchFamily="34" charset="0"/>
            </a:endParaRPr>
          </a:p>
        </p:txBody>
      </p:sp>
      <p:sp>
        <p:nvSpPr>
          <p:cNvPr id="8" name="TextBox 7">
            <a:extLst>
              <a:ext uri="{FF2B5EF4-FFF2-40B4-BE49-F238E27FC236}">
                <a16:creationId xmlns:a16="http://schemas.microsoft.com/office/drawing/2014/main" id="{D07D7A7D-E24D-75B1-865F-83C16008D70B}"/>
              </a:ext>
            </a:extLst>
          </p:cNvPr>
          <p:cNvSpPr txBox="1"/>
          <p:nvPr/>
        </p:nvSpPr>
        <p:spPr>
          <a:xfrm>
            <a:off x="82550" y="1269921"/>
            <a:ext cx="10753090" cy="646331"/>
          </a:xfrm>
          <a:prstGeom prst="rect">
            <a:avLst/>
          </a:prstGeom>
          <a:noFill/>
        </p:spPr>
        <p:txBody>
          <a:bodyPr wrap="square">
            <a:spAutoFit/>
          </a:bodyPr>
          <a:lstStyle/>
          <a:p>
            <a:pPr>
              <a:buNone/>
            </a:pPr>
            <a:r>
              <a:rPr lang="en-US" altLang="ko-KR" sz="3600" b="1" dirty="0"/>
              <a:t>▪ Hyperparameters for LSTM used in this research</a:t>
            </a:r>
          </a:p>
        </p:txBody>
      </p:sp>
      <p:sp>
        <p:nvSpPr>
          <p:cNvPr id="2" name="TextBox 1">
            <a:extLst>
              <a:ext uri="{FF2B5EF4-FFF2-40B4-BE49-F238E27FC236}">
                <a16:creationId xmlns:a16="http://schemas.microsoft.com/office/drawing/2014/main" id="{3967BC5D-888D-00AA-17AB-4C76AAD17F7F}"/>
              </a:ext>
            </a:extLst>
          </p:cNvPr>
          <p:cNvSpPr txBox="1"/>
          <p:nvPr/>
        </p:nvSpPr>
        <p:spPr>
          <a:xfrm>
            <a:off x="11027968" y="6183877"/>
            <a:ext cx="1164032" cy="461665"/>
          </a:xfrm>
          <a:prstGeom prst="rect">
            <a:avLst/>
          </a:prstGeom>
          <a:noFill/>
        </p:spPr>
        <p:txBody>
          <a:bodyPr wrap="square" rtlCol="0">
            <a:spAutoFit/>
          </a:bodyPr>
          <a:lstStyle/>
          <a:p>
            <a:r>
              <a:rPr lang="ko-KR" altLang="en-US" sz="2400" b="1" dirty="0">
                <a:hlinkClick r:id="rId3" action="ppaction://hlinksldjump"/>
              </a:rPr>
              <a:t>←</a:t>
            </a:r>
            <a:r>
              <a:rPr lang="en-US" altLang="ko-KR" sz="2400" b="1" dirty="0">
                <a:hlinkClick r:id="rId3" action="ppaction://hlinksldjump"/>
              </a:rPr>
              <a:t>Back</a:t>
            </a:r>
            <a:endParaRPr lang="ko-KR" altLang="en-US" sz="2400" b="1" dirty="0"/>
          </a:p>
        </p:txBody>
      </p:sp>
      <p:sp>
        <p:nvSpPr>
          <p:cNvPr id="3" name="TextBox 2">
            <a:extLst>
              <a:ext uri="{FF2B5EF4-FFF2-40B4-BE49-F238E27FC236}">
                <a16:creationId xmlns:a16="http://schemas.microsoft.com/office/drawing/2014/main" id="{8B3CE75B-E9DA-17A9-55DE-41307D8ECF97}"/>
              </a:ext>
            </a:extLst>
          </p:cNvPr>
          <p:cNvSpPr txBox="1"/>
          <p:nvPr/>
        </p:nvSpPr>
        <p:spPr>
          <a:xfrm>
            <a:off x="516890" y="1900863"/>
            <a:ext cx="5579110" cy="2246769"/>
          </a:xfrm>
          <a:prstGeom prst="rect">
            <a:avLst/>
          </a:prstGeom>
          <a:noFill/>
        </p:spPr>
        <p:txBody>
          <a:bodyPr wrap="square">
            <a:spAutoFit/>
          </a:bodyPr>
          <a:lstStyle/>
          <a:p>
            <a:pPr>
              <a:buNone/>
            </a:pPr>
            <a:r>
              <a:rPr lang="en-US" altLang="ko-KR" sz="2800" b="1" dirty="0"/>
              <a:t>- Input Layer : (51,2) tensor </a:t>
            </a:r>
          </a:p>
          <a:p>
            <a:pPr>
              <a:buNone/>
            </a:pPr>
            <a:r>
              <a:rPr lang="en-US" altLang="ko-KR" sz="2800" b="1" dirty="0"/>
              <a:t>- </a:t>
            </a:r>
            <a:r>
              <a:rPr lang="en-US" altLang="ko-KR" sz="2800" b="1" dirty="0" err="1"/>
              <a:t>Num_Hidden</a:t>
            </a:r>
            <a:r>
              <a:rPr lang="en-US" altLang="ko-KR" sz="2800" b="1" dirty="0"/>
              <a:t> layer : 1 </a:t>
            </a:r>
          </a:p>
          <a:p>
            <a:r>
              <a:rPr lang="en-US" altLang="ko-KR" sz="2800" b="1" dirty="0"/>
              <a:t>- </a:t>
            </a:r>
            <a:r>
              <a:rPr lang="en-US" altLang="ko-KR" sz="2800" b="1" dirty="0" err="1"/>
              <a:t>Num_Hidden</a:t>
            </a:r>
            <a:r>
              <a:rPr lang="en-US" altLang="ko-KR" sz="2800" b="1" dirty="0"/>
              <a:t> Units : 100</a:t>
            </a:r>
          </a:p>
          <a:p>
            <a:r>
              <a:rPr lang="en-US" altLang="ko-KR" sz="2800" b="1" dirty="0"/>
              <a:t>- Drop out rate : 30%</a:t>
            </a:r>
          </a:p>
          <a:p>
            <a:r>
              <a:rPr lang="en-US" altLang="ko-KR" sz="2800" b="1" dirty="0"/>
              <a:t>- Optimizer : Adam</a:t>
            </a:r>
          </a:p>
        </p:txBody>
      </p:sp>
      <p:sp>
        <p:nvSpPr>
          <p:cNvPr id="9" name="TextBox 8">
            <a:extLst>
              <a:ext uri="{FF2B5EF4-FFF2-40B4-BE49-F238E27FC236}">
                <a16:creationId xmlns:a16="http://schemas.microsoft.com/office/drawing/2014/main" id="{59587500-B3D3-3585-8386-DD67D5C8303B}"/>
              </a:ext>
            </a:extLst>
          </p:cNvPr>
          <p:cNvSpPr txBox="1"/>
          <p:nvPr/>
        </p:nvSpPr>
        <p:spPr>
          <a:xfrm>
            <a:off x="719455" y="5660657"/>
            <a:ext cx="10753090" cy="523220"/>
          </a:xfrm>
          <a:prstGeom prst="rect">
            <a:avLst/>
          </a:prstGeom>
          <a:noFill/>
        </p:spPr>
        <p:txBody>
          <a:bodyPr wrap="square">
            <a:spAutoFit/>
          </a:bodyPr>
          <a:lstStyle/>
          <a:p>
            <a:pPr>
              <a:buNone/>
            </a:pPr>
            <a:r>
              <a:rPr lang="en-US" altLang="ko-KR" sz="2800" b="1" dirty="0">
                <a:latin typeface="굴림" panose="020B0600000101010101" pitchFamily="50" charset="-127"/>
                <a:ea typeface="굴림" panose="020B0600000101010101" pitchFamily="50" charset="-127"/>
              </a:rPr>
              <a:t>→ </a:t>
            </a:r>
            <a:r>
              <a:rPr lang="en-US" altLang="ko-KR" sz="2800" dirty="0"/>
              <a:t> model to consider both past and future contexts simultaneously</a:t>
            </a:r>
            <a:endParaRPr lang="en-US" altLang="ko-KR" sz="2800" b="1" dirty="0"/>
          </a:p>
        </p:txBody>
      </p:sp>
      <p:pic>
        <p:nvPicPr>
          <p:cNvPr id="1026" name="Picture 2">
            <a:extLst>
              <a:ext uri="{FF2B5EF4-FFF2-40B4-BE49-F238E27FC236}">
                <a16:creationId xmlns:a16="http://schemas.microsoft.com/office/drawing/2014/main" id="{56250482-8D8F-473E-8BF4-A8734528F4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1279" y="1929807"/>
            <a:ext cx="6958731" cy="3730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46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D9F62-43B3-1CD1-725E-9D76D76D52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6B4E39-0EE3-47FC-4CF4-4CCE65714A81}"/>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DA77D00-2EDE-CA69-08EC-876E76DB40B9}"/>
              </a:ext>
            </a:extLst>
          </p:cNvPr>
          <p:cNvSpPr txBox="1"/>
          <p:nvPr/>
        </p:nvSpPr>
        <p:spPr>
          <a:xfrm>
            <a:off x="0" y="171800"/>
            <a:ext cx="11027968" cy="707886"/>
          </a:xfrm>
          <a:prstGeom prst="rect">
            <a:avLst/>
          </a:prstGeom>
          <a:noFill/>
        </p:spPr>
        <p:txBody>
          <a:bodyPr wrap="square" rtlCol="0">
            <a:spAutoFit/>
          </a:bodyPr>
          <a:lstStyle/>
          <a:p>
            <a:r>
              <a:rPr lang="en-US" sz="4000" b="1" dirty="0">
                <a:latin typeface="Arial Black" panose="020B0A04020102020204" pitchFamily="34" charset="0"/>
              </a:rPr>
              <a:t>LSTM</a:t>
            </a:r>
            <a:r>
              <a:rPr lang="en-US" sz="3200" b="1" dirty="0">
                <a:latin typeface="Arial Black" panose="020B0A04020102020204" pitchFamily="34" charset="0"/>
              </a:rPr>
              <a:t>(Long Short Term Memory) </a:t>
            </a:r>
            <a:r>
              <a:rPr lang="en-US" sz="4000" b="1" dirty="0">
                <a:latin typeface="Arial Black" panose="020B0A04020102020204" pitchFamily="34" charset="0"/>
              </a:rPr>
              <a:t>Explained</a:t>
            </a:r>
            <a:endParaRPr lang="en-US" sz="4000" dirty="0">
              <a:latin typeface="Arial Black" panose="020B0A04020102020204" pitchFamily="34" charset="0"/>
            </a:endParaRPr>
          </a:p>
        </p:txBody>
      </p:sp>
      <p:sp>
        <p:nvSpPr>
          <p:cNvPr id="8" name="TextBox 7">
            <a:extLst>
              <a:ext uri="{FF2B5EF4-FFF2-40B4-BE49-F238E27FC236}">
                <a16:creationId xmlns:a16="http://schemas.microsoft.com/office/drawing/2014/main" id="{6399452F-9951-9A3A-9980-7B6D7EFD716F}"/>
              </a:ext>
            </a:extLst>
          </p:cNvPr>
          <p:cNvSpPr txBox="1"/>
          <p:nvPr/>
        </p:nvSpPr>
        <p:spPr>
          <a:xfrm>
            <a:off x="82550" y="1269921"/>
            <a:ext cx="11740482" cy="1200329"/>
          </a:xfrm>
          <a:prstGeom prst="rect">
            <a:avLst/>
          </a:prstGeom>
          <a:noFill/>
        </p:spPr>
        <p:txBody>
          <a:bodyPr wrap="square">
            <a:spAutoFit/>
          </a:bodyPr>
          <a:lstStyle/>
          <a:p>
            <a:pPr>
              <a:buNone/>
            </a:pPr>
            <a:r>
              <a:rPr lang="en-US" altLang="ko-KR" sz="3600" b="1" dirty="0"/>
              <a:t>▪ LSTM is a kind of neural network that is very good at </a:t>
            </a:r>
          </a:p>
          <a:p>
            <a:pPr>
              <a:buNone/>
            </a:pPr>
            <a:r>
              <a:rPr lang="en-US" altLang="ko-KR" sz="3600" b="1" dirty="0"/>
              <a:t>    understanding sequences</a:t>
            </a:r>
          </a:p>
        </p:txBody>
      </p:sp>
      <p:sp>
        <p:nvSpPr>
          <p:cNvPr id="2" name="TextBox 1">
            <a:extLst>
              <a:ext uri="{FF2B5EF4-FFF2-40B4-BE49-F238E27FC236}">
                <a16:creationId xmlns:a16="http://schemas.microsoft.com/office/drawing/2014/main" id="{1A826320-053C-80D7-021E-5F16114BD9A4}"/>
              </a:ext>
            </a:extLst>
          </p:cNvPr>
          <p:cNvSpPr txBox="1"/>
          <p:nvPr/>
        </p:nvSpPr>
        <p:spPr>
          <a:xfrm>
            <a:off x="11027968" y="6183877"/>
            <a:ext cx="1164032" cy="461665"/>
          </a:xfrm>
          <a:prstGeom prst="rect">
            <a:avLst/>
          </a:prstGeom>
          <a:noFill/>
        </p:spPr>
        <p:txBody>
          <a:bodyPr wrap="square" rtlCol="0">
            <a:spAutoFit/>
          </a:bodyPr>
          <a:lstStyle/>
          <a:p>
            <a:r>
              <a:rPr lang="ko-KR" altLang="en-US" sz="2400" b="1" dirty="0">
                <a:hlinkClick r:id="rId3" action="ppaction://hlinksldjump"/>
              </a:rPr>
              <a:t>←</a:t>
            </a:r>
            <a:r>
              <a:rPr lang="en-US" altLang="ko-KR" sz="2400" b="1" dirty="0">
                <a:hlinkClick r:id="rId3" action="ppaction://hlinksldjump"/>
              </a:rPr>
              <a:t>Back</a:t>
            </a:r>
            <a:endParaRPr lang="ko-KR" altLang="en-US" sz="2400" b="1" dirty="0"/>
          </a:p>
        </p:txBody>
      </p:sp>
      <p:pic>
        <p:nvPicPr>
          <p:cNvPr id="2050" name="Picture 2">
            <a:extLst>
              <a:ext uri="{FF2B5EF4-FFF2-40B4-BE49-F238E27FC236}">
                <a16:creationId xmlns:a16="http://schemas.microsoft.com/office/drawing/2014/main" id="{CEDD80F8-06ED-419F-F70D-52238DB09E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716" y="2409609"/>
            <a:ext cx="7320715" cy="40051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1FD0535-439C-CD7C-6E9E-5DB7A7E564BE}"/>
              </a:ext>
            </a:extLst>
          </p:cNvPr>
          <p:cNvSpPr txBox="1"/>
          <p:nvPr/>
        </p:nvSpPr>
        <p:spPr>
          <a:xfrm>
            <a:off x="7086774" y="2240643"/>
            <a:ext cx="4937586" cy="461665"/>
          </a:xfrm>
          <a:prstGeom prst="rect">
            <a:avLst/>
          </a:prstGeom>
          <a:noFill/>
        </p:spPr>
        <p:txBody>
          <a:bodyPr wrap="square">
            <a:spAutoFit/>
          </a:bodyPr>
          <a:lstStyle/>
          <a:p>
            <a:r>
              <a:rPr lang="en-US" altLang="ko-KR" sz="2400" dirty="0"/>
              <a:t>Forget Gate — "Should I forget this?"</a:t>
            </a:r>
            <a:endParaRPr lang="ko-KR" altLang="en-US" sz="2400" dirty="0"/>
          </a:p>
        </p:txBody>
      </p:sp>
      <p:sp>
        <p:nvSpPr>
          <p:cNvPr id="12" name="TextBox 11">
            <a:extLst>
              <a:ext uri="{FF2B5EF4-FFF2-40B4-BE49-F238E27FC236}">
                <a16:creationId xmlns:a16="http://schemas.microsoft.com/office/drawing/2014/main" id="{3C78BD16-EFD9-D8F0-C64B-49D6D9F11983}"/>
              </a:ext>
            </a:extLst>
          </p:cNvPr>
          <p:cNvSpPr txBox="1"/>
          <p:nvPr/>
        </p:nvSpPr>
        <p:spPr>
          <a:xfrm>
            <a:off x="7086774" y="2888200"/>
            <a:ext cx="6206490" cy="830997"/>
          </a:xfrm>
          <a:prstGeom prst="rect">
            <a:avLst/>
          </a:prstGeom>
          <a:noFill/>
        </p:spPr>
        <p:txBody>
          <a:bodyPr wrap="square">
            <a:spAutoFit/>
          </a:bodyPr>
          <a:lstStyle/>
          <a:p>
            <a:r>
              <a:rPr lang="en-US" altLang="ko-KR" sz="2400" dirty="0"/>
              <a:t>Input Gate — "Should I remember this </a:t>
            </a:r>
          </a:p>
          <a:p>
            <a:r>
              <a:rPr lang="en-US" altLang="ko-KR" sz="2400" dirty="0"/>
              <a:t>                               new information?"</a:t>
            </a:r>
            <a:endParaRPr lang="ko-KR" altLang="en-US" sz="2400" dirty="0"/>
          </a:p>
        </p:txBody>
      </p:sp>
      <p:sp>
        <p:nvSpPr>
          <p:cNvPr id="14" name="TextBox 13">
            <a:extLst>
              <a:ext uri="{FF2B5EF4-FFF2-40B4-BE49-F238E27FC236}">
                <a16:creationId xmlns:a16="http://schemas.microsoft.com/office/drawing/2014/main" id="{80BEDEA3-3299-875E-E5EB-FDCD5EE2F904}"/>
              </a:ext>
            </a:extLst>
          </p:cNvPr>
          <p:cNvSpPr txBox="1"/>
          <p:nvPr/>
        </p:nvSpPr>
        <p:spPr>
          <a:xfrm>
            <a:off x="7086774" y="4150099"/>
            <a:ext cx="5223336" cy="461665"/>
          </a:xfrm>
          <a:prstGeom prst="rect">
            <a:avLst/>
          </a:prstGeom>
          <a:noFill/>
        </p:spPr>
        <p:txBody>
          <a:bodyPr wrap="square">
            <a:spAutoFit/>
          </a:bodyPr>
          <a:lstStyle/>
          <a:p>
            <a:r>
              <a:rPr lang="en-US" altLang="ko-KR" sz="2400" dirty="0"/>
              <a:t>Output Gate — </a:t>
            </a:r>
            <a:r>
              <a:rPr lang="en-US" altLang="ko-KR" sz="2400" spc="-100" dirty="0"/>
              <a:t>"What should I output?"</a:t>
            </a:r>
            <a:endParaRPr lang="ko-KR" altLang="en-US" sz="2400" spc="-100" dirty="0"/>
          </a:p>
        </p:txBody>
      </p:sp>
      <p:sp>
        <p:nvSpPr>
          <p:cNvPr id="15" name="Rectangle: Rounded Corners 14">
            <a:extLst>
              <a:ext uri="{FF2B5EF4-FFF2-40B4-BE49-F238E27FC236}">
                <a16:creationId xmlns:a16="http://schemas.microsoft.com/office/drawing/2014/main" id="{E0D07E74-DCEF-A806-3C2A-F5683A5D4400}"/>
              </a:ext>
            </a:extLst>
          </p:cNvPr>
          <p:cNvSpPr/>
          <p:nvPr/>
        </p:nvSpPr>
        <p:spPr>
          <a:xfrm>
            <a:off x="765810" y="3609938"/>
            <a:ext cx="1017270" cy="2185072"/>
          </a:xfrm>
          <a:prstGeom prst="roundRect">
            <a:avLst/>
          </a:prstGeom>
          <a:noFill/>
          <a:ln w="57150">
            <a:solidFill>
              <a:srgbClr val="0000FF"/>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sp>
        <p:nvSpPr>
          <p:cNvPr id="16" name="Rectangle: Rounded Corners 15">
            <a:extLst>
              <a:ext uri="{FF2B5EF4-FFF2-40B4-BE49-F238E27FC236}">
                <a16:creationId xmlns:a16="http://schemas.microsoft.com/office/drawing/2014/main" id="{19C5367B-4168-1C8B-907B-3E4E1EB26103}"/>
              </a:ext>
            </a:extLst>
          </p:cNvPr>
          <p:cNvSpPr/>
          <p:nvPr/>
        </p:nvSpPr>
        <p:spPr>
          <a:xfrm>
            <a:off x="1861460" y="3519228"/>
            <a:ext cx="1373230" cy="2185072"/>
          </a:xfrm>
          <a:prstGeom prst="roundRect">
            <a:avLst/>
          </a:prstGeom>
          <a:noFill/>
          <a:ln w="57150">
            <a:solidFill>
              <a:srgbClr val="FF9900"/>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sp>
        <p:nvSpPr>
          <p:cNvPr id="17" name="Rectangle: Rounded Corners 16">
            <a:extLst>
              <a:ext uri="{FF2B5EF4-FFF2-40B4-BE49-F238E27FC236}">
                <a16:creationId xmlns:a16="http://schemas.microsoft.com/office/drawing/2014/main" id="{2D685223-2CC5-EBCC-E674-ADD0F95B4527}"/>
              </a:ext>
            </a:extLst>
          </p:cNvPr>
          <p:cNvSpPr/>
          <p:nvPr/>
        </p:nvSpPr>
        <p:spPr>
          <a:xfrm>
            <a:off x="3275835" y="2888200"/>
            <a:ext cx="1124715" cy="2816100"/>
          </a:xfrm>
          <a:prstGeom prst="roundRect">
            <a:avLst/>
          </a:prstGeom>
          <a:noFill/>
          <a:ln w="57150">
            <a:solidFill>
              <a:srgbClr val="00B050"/>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sp>
        <p:nvSpPr>
          <p:cNvPr id="18" name="Rectangle: Rounded Corners 17">
            <a:extLst>
              <a:ext uri="{FF2B5EF4-FFF2-40B4-BE49-F238E27FC236}">
                <a16:creationId xmlns:a16="http://schemas.microsoft.com/office/drawing/2014/main" id="{B0BA001F-A015-228F-FA95-47D7C422799A}"/>
              </a:ext>
            </a:extLst>
          </p:cNvPr>
          <p:cNvSpPr/>
          <p:nvPr/>
        </p:nvSpPr>
        <p:spPr>
          <a:xfrm>
            <a:off x="7086774" y="4181326"/>
            <a:ext cx="1771476" cy="461665"/>
          </a:xfrm>
          <a:prstGeom prst="roundRect">
            <a:avLst/>
          </a:prstGeom>
          <a:noFill/>
          <a:ln w="57150">
            <a:solidFill>
              <a:srgbClr val="00B050"/>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sp>
        <p:nvSpPr>
          <p:cNvPr id="19" name="Rectangle: Rounded Corners 18">
            <a:extLst>
              <a:ext uri="{FF2B5EF4-FFF2-40B4-BE49-F238E27FC236}">
                <a16:creationId xmlns:a16="http://schemas.microsoft.com/office/drawing/2014/main" id="{D2C4CAC8-93F6-8B8B-54BF-F902EB9B9DC3}"/>
              </a:ext>
            </a:extLst>
          </p:cNvPr>
          <p:cNvSpPr/>
          <p:nvPr/>
        </p:nvSpPr>
        <p:spPr>
          <a:xfrm>
            <a:off x="7082319" y="2860485"/>
            <a:ext cx="1627340" cy="568515"/>
          </a:xfrm>
          <a:prstGeom prst="roundRect">
            <a:avLst/>
          </a:prstGeom>
          <a:noFill/>
          <a:ln w="57150">
            <a:solidFill>
              <a:srgbClr val="FF9900"/>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sp>
        <p:nvSpPr>
          <p:cNvPr id="20" name="Rectangle: Rounded Corners 19">
            <a:extLst>
              <a:ext uri="{FF2B5EF4-FFF2-40B4-BE49-F238E27FC236}">
                <a16:creationId xmlns:a16="http://schemas.microsoft.com/office/drawing/2014/main" id="{A88B5CBF-058F-06FE-CD42-7890302455DE}"/>
              </a:ext>
            </a:extLst>
          </p:cNvPr>
          <p:cNvSpPr/>
          <p:nvPr/>
        </p:nvSpPr>
        <p:spPr>
          <a:xfrm>
            <a:off x="7082318" y="2162246"/>
            <a:ext cx="1627341" cy="568515"/>
          </a:xfrm>
          <a:prstGeom prst="roundRect">
            <a:avLst/>
          </a:prstGeom>
          <a:noFill/>
          <a:ln w="57150">
            <a:solidFill>
              <a:srgbClr val="0000FF"/>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ko-KR" altLang="en-US"/>
          </a:p>
        </p:txBody>
      </p:sp>
      <p:pic>
        <p:nvPicPr>
          <p:cNvPr id="2054" name="Picture 6" descr="Sigmoid function - Wikipedia">
            <a:extLst>
              <a:ext uri="{FF2B5EF4-FFF2-40B4-BE49-F238E27FC236}">
                <a16:creationId xmlns:a16="http://schemas.microsoft.com/office/drawing/2014/main" id="{696E268E-C6C1-16A5-A7DE-F1C8BCAD652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132" r="4530" b="2820"/>
          <a:stretch>
            <a:fillRect/>
          </a:stretch>
        </p:blipFill>
        <p:spPr bwMode="auto">
          <a:xfrm>
            <a:off x="6096000" y="2860485"/>
            <a:ext cx="773254" cy="49305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ctivation functions: (tanh &gt; sigmoid ...">
            <a:extLst>
              <a:ext uri="{FF2B5EF4-FFF2-40B4-BE49-F238E27FC236}">
                <a16:creationId xmlns:a16="http://schemas.microsoft.com/office/drawing/2014/main" id="{EBBA5B39-4291-44DB-3DB4-902CB1A080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3688275"/>
            <a:ext cx="773254" cy="493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248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FF7F2B1B-20BD-4FED-7FED-0BC47E5D50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 y="1194144"/>
            <a:ext cx="11395710" cy="540096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86264B2-ACDA-E692-1FDB-A43C10335B1A}"/>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D0C6032-F35C-C62C-7AE8-8072FAAE9FB8}"/>
              </a:ext>
            </a:extLst>
          </p:cNvPr>
          <p:cNvSpPr txBox="1"/>
          <p:nvPr/>
        </p:nvSpPr>
        <p:spPr>
          <a:xfrm>
            <a:off x="0" y="171800"/>
            <a:ext cx="10002558" cy="707886"/>
          </a:xfrm>
          <a:prstGeom prst="rect">
            <a:avLst/>
          </a:prstGeom>
          <a:noFill/>
        </p:spPr>
        <p:txBody>
          <a:bodyPr wrap="square" rtlCol="0">
            <a:spAutoFit/>
          </a:bodyPr>
          <a:lstStyle/>
          <a:p>
            <a:r>
              <a:rPr lang="en-US" sz="4000" b="1" dirty="0">
                <a:latin typeface="Arial Black" panose="020B0A04020102020204" pitchFamily="34" charset="0"/>
              </a:rPr>
              <a:t>Data </a:t>
            </a:r>
            <a:r>
              <a:rPr lang="en-US" sz="4000" b="1" dirty="0" err="1">
                <a:latin typeface="Arial Black" panose="020B0A04020102020204" pitchFamily="34" charset="0"/>
              </a:rPr>
              <a:t>Augumentation</a:t>
            </a:r>
            <a:r>
              <a:rPr lang="en-US" sz="4000" b="1" dirty="0">
                <a:latin typeface="Arial Black" panose="020B0A04020102020204" pitchFamily="34" charset="0"/>
              </a:rPr>
              <a:t> Example</a:t>
            </a:r>
            <a:endParaRPr lang="en-US" sz="4000" dirty="0">
              <a:latin typeface="Arial Black" panose="020B0A04020102020204" pitchFamily="34" charset="0"/>
            </a:endParaRPr>
          </a:p>
        </p:txBody>
      </p:sp>
      <p:sp>
        <p:nvSpPr>
          <p:cNvPr id="6" name="TextBox 5">
            <a:extLst>
              <a:ext uri="{FF2B5EF4-FFF2-40B4-BE49-F238E27FC236}">
                <a16:creationId xmlns:a16="http://schemas.microsoft.com/office/drawing/2014/main" id="{FFEC55C6-406C-13CC-B1E9-204BEF7C65FF}"/>
              </a:ext>
            </a:extLst>
          </p:cNvPr>
          <p:cNvSpPr txBox="1"/>
          <p:nvPr/>
        </p:nvSpPr>
        <p:spPr>
          <a:xfrm>
            <a:off x="11027968" y="6183877"/>
            <a:ext cx="1164032" cy="461665"/>
          </a:xfrm>
          <a:prstGeom prst="rect">
            <a:avLst/>
          </a:prstGeom>
          <a:noFill/>
        </p:spPr>
        <p:txBody>
          <a:bodyPr wrap="square" rtlCol="0">
            <a:spAutoFit/>
          </a:bodyPr>
          <a:lstStyle/>
          <a:p>
            <a:r>
              <a:rPr lang="ko-KR" altLang="en-US" sz="2400" b="1" dirty="0">
                <a:hlinkClick r:id="rId3" action="ppaction://hlinksldjump"/>
              </a:rPr>
              <a:t>←</a:t>
            </a:r>
            <a:r>
              <a:rPr lang="en-US" altLang="ko-KR" sz="2400" b="1" dirty="0">
                <a:hlinkClick r:id="rId3" action="ppaction://hlinksldjump"/>
              </a:rPr>
              <a:t>Back</a:t>
            </a:r>
            <a:endParaRPr lang="ko-KR" altLang="en-US" sz="2400" b="1" dirty="0"/>
          </a:p>
        </p:txBody>
      </p:sp>
    </p:spTree>
    <p:extLst>
      <p:ext uri="{BB962C8B-B14F-4D97-AF65-F5344CB8AC3E}">
        <p14:creationId xmlns:p14="http://schemas.microsoft.com/office/powerpoint/2010/main" val="2782054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BDD3A-32C2-C96C-1548-67137C2D0276}"/>
            </a:ext>
          </a:extLst>
        </p:cNvPr>
        <p:cNvGrpSpPr/>
        <p:nvPr/>
      </p:nvGrpSpPr>
      <p:grpSpPr>
        <a:xfrm>
          <a:off x="0" y="0"/>
          <a:ext cx="0" cy="0"/>
          <a:chOff x="0" y="0"/>
          <a:chExt cx="0" cy="0"/>
        </a:xfrm>
      </p:grpSpPr>
      <p:sp>
        <p:nvSpPr>
          <p:cNvPr id="40" name="Rectangle: Rounded Corners 39">
            <a:extLst>
              <a:ext uri="{FF2B5EF4-FFF2-40B4-BE49-F238E27FC236}">
                <a16:creationId xmlns:a16="http://schemas.microsoft.com/office/drawing/2014/main" id="{8FACE966-DDC2-947C-5EC5-4405A48E90EC}"/>
              </a:ext>
            </a:extLst>
          </p:cNvPr>
          <p:cNvSpPr/>
          <p:nvPr/>
        </p:nvSpPr>
        <p:spPr>
          <a:xfrm>
            <a:off x="7619622" y="2565400"/>
            <a:ext cx="3823078" cy="4120800"/>
          </a:xfrm>
          <a:prstGeom prst="roundRect">
            <a:avLst/>
          </a:prstGeom>
          <a:solidFill>
            <a:srgbClr val="FFC000">
              <a:alpha val="3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Rectangle: Rounded Corners 38">
            <a:extLst>
              <a:ext uri="{FF2B5EF4-FFF2-40B4-BE49-F238E27FC236}">
                <a16:creationId xmlns:a16="http://schemas.microsoft.com/office/drawing/2014/main" id="{BBF504CD-9EDB-83A4-0A54-D08C52F25E40}"/>
              </a:ext>
            </a:extLst>
          </p:cNvPr>
          <p:cNvSpPr/>
          <p:nvPr/>
        </p:nvSpPr>
        <p:spPr>
          <a:xfrm>
            <a:off x="177800" y="2565400"/>
            <a:ext cx="7162800" cy="4120800"/>
          </a:xfrm>
          <a:prstGeom prst="roundRect">
            <a:avLst/>
          </a:prstGeom>
          <a:solidFill>
            <a:srgbClr val="B1EFEF">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Rectangle 3">
            <a:extLst>
              <a:ext uri="{FF2B5EF4-FFF2-40B4-BE49-F238E27FC236}">
                <a16:creationId xmlns:a16="http://schemas.microsoft.com/office/drawing/2014/main" id="{22C05096-F42D-58D8-CB1E-EB8D7AF8E7C8}"/>
              </a:ext>
            </a:extLst>
          </p:cNvPr>
          <p:cNvSpPr/>
          <p:nvPr/>
        </p:nvSpPr>
        <p:spPr>
          <a:xfrm>
            <a:off x="0" y="962559"/>
            <a:ext cx="9638270" cy="234778"/>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D78736-600C-0A4E-7C9C-C8BA9D9033E9}"/>
              </a:ext>
            </a:extLst>
          </p:cNvPr>
          <p:cNvSpPr txBox="1"/>
          <p:nvPr/>
        </p:nvSpPr>
        <p:spPr>
          <a:xfrm>
            <a:off x="0" y="171800"/>
            <a:ext cx="10002558" cy="707886"/>
          </a:xfrm>
          <a:prstGeom prst="rect">
            <a:avLst/>
          </a:prstGeom>
          <a:noFill/>
        </p:spPr>
        <p:txBody>
          <a:bodyPr wrap="square" rtlCol="0">
            <a:spAutoFit/>
          </a:bodyPr>
          <a:lstStyle/>
          <a:p>
            <a:r>
              <a:rPr lang="en-US" sz="4000" b="1" dirty="0">
                <a:latin typeface="Arial Black" panose="020B0A04020102020204" pitchFamily="34" charset="0"/>
              </a:rPr>
              <a:t>3-Fold Stratified Cross-Validation</a:t>
            </a:r>
            <a:endParaRPr lang="en-US" sz="4000" dirty="0">
              <a:latin typeface="Arial Black" panose="020B0A04020102020204" pitchFamily="34" charset="0"/>
            </a:endParaRPr>
          </a:p>
        </p:txBody>
      </p:sp>
      <p:sp>
        <p:nvSpPr>
          <p:cNvPr id="8" name="TextBox 7">
            <a:extLst>
              <a:ext uri="{FF2B5EF4-FFF2-40B4-BE49-F238E27FC236}">
                <a16:creationId xmlns:a16="http://schemas.microsoft.com/office/drawing/2014/main" id="{FBB9E053-B5D4-0A77-2E57-BBC2DA05E758}"/>
              </a:ext>
            </a:extLst>
          </p:cNvPr>
          <p:cNvSpPr txBox="1"/>
          <p:nvPr/>
        </p:nvSpPr>
        <p:spPr>
          <a:xfrm>
            <a:off x="82550" y="1269921"/>
            <a:ext cx="3927976" cy="646331"/>
          </a:xfrm>
          <a:prstGeom prst="rect">
            <a:avLst/>
          </a:prstGeom>
          <a:noFill/>
        </p:spPr>
        <p:txBody>
          <a:bodyPr wrap="square">
            <a:spAutoFit/>
          </a:bodyPr>
          <a:lstStyle/>
          <a:p>
            <a:pPr>
              <a:buNone/>
            </a:pPr>
            <a:r>
              <a:rPr lang="en-US" altLang="ko-KR" sz="3600" b="1" dirty="0"/>
              <a:t>▪Dataset : </a:t>
            </a:r>
          </a:p>
        </p:txBody>
      </p:sp>
      <p:sp>
        <p:nvSpPr>
          <p:cNvPr id="2" name="TextBox 1">
            <a:extLst>
              <a:ext uri="{FF2B5EF4-FFF2-40B4-BE49-F238E27FC236}">
                <a16:creationId xmlns:a16="http://schemas.microsoft.com/office/drawing/2014/main" id="{D917523C-6E19-136A-2E8E-BB095616D5B1}"/>
              </a:ext>
            </a:extLst>
          </p:cNvPr>
          <p:cNvSpPr txBox="1"/>
          <p:nvPr/>
        </p:nvSpPr>
        <p:spPr>
          <a:xfrm>
            <a:off x="11027968" y="6183877"/>
            <a:ext cx="1164032" cy="461665"/>
          </a:xfrm>
          <a:prstGeom prst="rect">
            <a:avLst/>
          </a:prstGeom>
          <a:noFill/>
        </p:spPr>
        <p:txBody>
          <a:bodyPr wrap="square" rtlCol="0">
            <a:spAutoFit/>
          </a:bodyPr>
          <a:lstStyle/>
          <a:p>
            <a:r>
              <a:rPr lang="ko-KR" altLang="en-US" sz="2400" b="1" dirty="0">
                <a:hlinkClick r:id="rId3" action="ppaction://hlinksldjump"/>
              </a:rPr>
              <a:t>←</a:t>
            </a:r>
            <a:r>
              <a:rPr lang="en-US" altLang="ko-KR" sz="2400" b="1" dirty="0">
                <a:hlinkClick r:id="rId3" action="ppaction://hlinksldjump"/>
              </a:rPr>
              <a:t>Back</a:t>
            </a:r>
            <a:endParaRPr lang="ko-KR" altLang="en-US" sz="2400" b="1" dirty="0"/>
          </a:p>
        </p:txBody>
      </p:sp>
      <p:sp>
        <p:nvSpPr>
          <p:cNvPr id="10" name="Rectangle: Rounded Corners 9">
            <a:extLst>
              <a:ext uri="{FF2B5EF4-FFF2-40B4-BE49-F238E27FC236}">
                <a16:creationId xmlns:a16="http://schemas.microsoft.com/office/drawing/2014/main" id="{102A7F1C-A61D-E3AD-2A70-C16D39DD8500}"/>
              </a:ext>
            </a:extLst>
          </p:cNvPr>
          <p:cNvSpPr/>
          <p:nvPr/>
        </p:nvSpPr>
        <p:spPr>
          <a:xfrm>
            <a:off x="2540758" y="1287813"/>
            <a:ext cx="8737600" cy="646331"/>
          </a:xfrm>
          <a:prstGeom prst="round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Dataset</a:t>
            </a:r>
            <a:endParaRPr lang="ko-KR" altLang="en-US" dirty="0"/>
          </a:p>
        </p:txBody>
      </p:sp>
      <p:grpSp>
        <p:nvGrpSpPr>
          <p:cNvPr id="16" name="Group 15">
            <a:extLst>
              <a:ext uri="{FF2B5EF4-FFF2-40B4-BE49-F238E27FC236}">
                <a16:creationId xmlns:a16="http://schemas.microsoft.com/office/drawing/2014/main" id="{CD5F0DB5-66CC-0FE7-CA8A-B2FAA34118F7}"/>
              </a:ext>
            </a:extLst>
          </p:cNvPr>
          <p:cNvGrpSpPr/>
          <p:nvPr/>
        </p:nvGrpSpPr>
        <p:grpSpPr>
          <a:xfrm>
            <a:off x="2540758" y="1303640"/>
            <a:ext cx="8737600" cy="646331"/>
            <a:chOff x="930442" y="2115764"/>
            <a:chExt cx="9240252" cy="646331"/>
          </a:xfrm>
        </p:grpSpPr>
        <p:sp>
          <p:nvSpPr>
            <p:cNvPr id="11" name="Rectangle: Rounded Corners 10">
              <a:extLst>
                <a:ext uri="{FF2B5EF4-FFF2-40B4-BE49-F238E27FC236}">
                  <a16:creationId xmlns:a16="http://schemas.microsoft.com/office/drawing/2014/main" id="{A2FD3122-F81D-AB8A-6799-AD535415621A}"/>
                </a:ext>
              </a:extLst>
            </p:cNvPr>
            <p:cNvSpPr/>
            <p:nvPr/>
          </p:nvSpPr>
          <p:spPr>
            <a:xfrm>
              <a:off x="930442" y="2115764"/>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1</a:t>
              </a:r>
              <a:endParaRPr lang="ko-KR" altLang="en-US" dirty="0"/>
            </a:p>
          </p:txBody>
        </p:sp>
        <p:sp>
          <p:nvSpPr>
            <p:cNvPr id="14" name="Rectangle: Rounded Corners 13">
              <a:extLst>
                <a:ext uri="{FF2B5EF4-FFF2-40B4-BE49-F238E27FC236}">
                  <a16:creationId xmlns:a16="http://schemas.microsoft.com/office/drawing/2014/main" id="{91D258AC-76FA-5D33-8ADC-949CE92C3F26}"/>
                </a:ext>
              </a:extLst>
            </p:cNvPr>
            <p:cNvSpPr/>
            <p:nvPr/>
          </p:nvSpPr>
          <p:spPr>
            <a:xfrm>
              <a:off x="4010526" y="2115764"/>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2</a:t>
              </a:r>
              <a:endParaRPr lang="ko-KR" altLang="en-US" dirty="0"/>
            </a:p>
          </p:txBody>
        </p:sp>
        <p:sp>
          <p:nvSpPr>
            <p:cNvPr id="15" name="Rectangle: Rounded Corners 14">
              <a:extLst>
                <a:ext uri="{FF2B5EF4-FFF2-40B4-BE49-F238E27FC236}">
                  <a16:creationId xmlns:a16="http://schemas.microsoft.com/office/drawing/2014/main" id="{99D3B19E-ECCC-2BEA-BA61-55081B9C863A}"/>
                </a:ext>
              </a:extLst>
            </p:cNvPr>
            <p:cNvSpPr/>
            <p:nvPr/>
          </p:nvSpPr>
          <p:spPr>
            <a:xfrm>
              <a:off x="7090610" y="2115764"/>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3</a:t>
              </a:r>
              <a:endParaRPr lang="ko-KR" altLang="en-US" dirty="0"/>
            </a:p>
          </p:txBody>
        </p:sp>
      </p:grpSp>
      <p:grpSp>
        <p:nvGrpSpPr>
          <p:cNvPr id="41" name="Group 40">
            <a:extLst>
              <a:ext uri="{FF2B5EF4-FFF2-40B4-BE49-F238E27FC236}">
                <a16:creationId xmlns:a16="http://schemas.microsoft.com/office/drawing/2014/main" id="{10F47FDC-AC53-ADD4-1073-87FEC0FCFB53}"/>
              </a:ext>
            </a:extLst>
          </p:cNvPr>
          <p:cNvGrpSpPr/>
          <p:nvPr/>
        </p:nvGrpSpPr>
        <p:grpSpPr>
          <a:xfrm>
            <a:off x="413308" y="2780824"/>
            <a:ext cx="10747208" cy="1074420"/>
            <a:chOff x="413308" y="2780824"/>
            <a:chExt cx="10747208" cy="1074420"/>
          </a:xfrm>
        </p:grpSpPr>
        <p:sp>
          <p:nvSpPr>
            <p:cNvPr id="17" name="Rectangle: Rounded Corners 16">
              <a:extLst>
                <a:ext uri="{FF2B5EF4-FFF2-40B4-BE49-F238E27FC236}">
                  <a16:creationId xmlns:a16="http://schemas.microsoft.com/office/drawing/2014/main" id="{BECA7C25-9FFF-A1B4-DCB5-FCBC478F9E7C}"/>
                </a:ext>
              </a:extLst>
            </p:cNvPr>
            <p:cNvSpPr/>
            <p:nvPr/>
          </p:nvSpPr>
          <p:spPr>
            <a:xfrm>
              <a:off x="555080" y="3000911"/>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1</a:t>
              </a:r>
              <a:endParaRPr lang="ko-KR" altLang="en-US" dirty="0"/>
            </a:p>
          </p:txBody>
        </p:sp>
        <p:sp>
          <p:nvSpPr>
            <p:cNvPr id="18" name="Rectangle: Rounded Corners 17">
              <a:extLst>
                <a:ext uri="{FF2B5EF4-FFF2-40B4-BE49-F238E27FC236}">
                  <a16:creationId xmlns:a16="http://schemas.microsoft.com/office/drawing/2014/main" id="{95627306-376F-8E1B-5806-87DE514E6E4C}"/>
                </a:ext>
              </a:extLst>
            </p:cNvPr>
            <p:cNvSpPr/>
            <p:nvPr/>
          </p:nvSpPr>
          <p:spPr>
            <a:xfrm>
              <a:off x="3829474" y="3000911"/>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2</a:t>
              </a:r>
              <a:endParaRPr lang="ko-KR" altLang="en-US" dirty="0"/>
            </a:p>
          </p:txBody>
        </p:sp>
        <p:sp>
          <p:nvSpPr>
            <p:cNvPr id="19" name="Rectangle: Rounded Corners 18">
              <a:extLst>
                <a:ext uri="{FF2B5EF4-FFF2-40B4-BE49-F238E27FC236}">
                  <a16:creationId xmlns:a16="http://schemas.microsoft.com/office/drawing/2014/main" id="{7ECD24FB-0496-75EC-1E61-BA67BEBF9601}"/>
                </a:ext>
              </a:extLst>
            </p:cNvPr>
            <p:cNvSpPr/>
            <p:nvPr/>
          </p:nvSpPr>
          <p:spPr>
            <a:xfrm>
              <a:off x="413308" y="2780824"/>
              <a:ext cx="6675120" cy="107442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Rectangle: Rounded Corners 25">
              <a:extLst>
                <a:ext uri="{FF2B5EF4-FFF2-40B4-BE49-F238E27FC236}">
                  <a16:creationId xmlns:a16="http://schemas.microsoft.com/office/drawing/2014/main" id="{3759CEAA-5146-8F4E-70E6-4B6B71D6C20C}"/>
                </a:ext>
              </a:extLst>
            </p:cNvPr>
            <p:cNvSpPr/>
            <p:nvPr/>
          </p:nvSpPr>
          <p:spPr>
            <a:xfrm>
              <a:off x="7947884" y="3000911"/>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3</a:t>
              </a:r>
              <a:endParaRPr lang="ko-KR" altLang="en-US" dirty="0"/>
            </a:p>
          </p:txBody>
        </p:sp>
        <p:sp>
          <p:nvSpPr>
            <p:cNvPr id="30" name="Rectangle: Rounded Corners 29">
              <a:extLst>
                <a:ext uri="{FF2B5EF4-FFF2-40B4-BE49-F238E27FC236}">
                  <a16:creationId xmlns:a16="http://schemas.microsoft.com/office/drawing/2014/main" id="{66375B0E-42CA-120F-3009-42591C0EB3FB}"/>
                </a:ext>
              </a:extLst>
            </p:cNvPr>
            <p:cNvSpPr/>
            <p:nvPr/>
          </p:nvSpPr>
          <p:spPr>
            <a:xfrm>
              <a:off x="7815336" y="2780824"/>
              <a:ext cx="3345180" cy="107442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4" name="Straight Arrow Connector 33">
              <a:extLst>
                <a:ext uri="{FF2B5EF4-FFF2-40B4-BE49-F238E27FC236}">
                  <a16:creationId xmlns:a16="http://schemas.microsoft.com/office/drawing/2014/main" id="{CF27B32C-95F8-5BBE-7A23-96D7E1FAC215}"/>
                </a:ext>
              </a:extLst>
            </p:cNvPr>
            <p:cNvCxnSpPr>
              <a:stCxn id="19" idx="3"/>
              <a:endCxn id="30" idx="1"/>
            </p:cNvCxnSpPr>
            <p:nvPr/>
          </p:nvCxnSpPr>
          <p:spPr>
            <a:xfrm>
              <a:off x="7088428" y="3318034"/>
              <a:ext cx="726908" cy="0"/>
            </a:xfrm>
            <a:prstGeom prst="straightConnector1">
              <a:avLst/>
            </a:prstGeom>
            <a:ln w="31750">
              <a:solidFill>
                <a:schemeClr val="tx1"/>
              </a:solidFill>
              <a:prstDash val="sysDash"/>
              <a:headEnd w="lg" len="med"/>
              <a:tailEnd type="triangle" w="lg" len="med"/>
            </a:ln>
          </p:spPr>
          <p:style>
            <a:lnRef idx="2">
              <a:schemeClr val="accent1"/>
            </a:lnRef>
            <a:fillRef idx="0">
              <a:schemeClr val="accent1"/>
            </a:fillRef>
            <a:effectRef idx="1">
              <a:schemeClr val="accent1"/>
            </a:effectRef>
            <a:fontRef idx="minor">
              <a:schemeClr val="tx1"/>
            </a:fontRef>
          </p:style>
        </p:cxnSp>
      </p:grpSp>
      <p:grpSp>
        <p:nvGrpSpPr>
          <p:cNvPr id="42" name="Group 41">
            <a:extLst>
              <a:ext uri="{FF2B5EF4-FFF2-40B4-BE49-F238E27FC236}">
                <a16:creationId xmlns:a16="http://schemas.microsoft.com/office/drawing/2014/main" id="{B7F3E516-A98D-37D1-D9F7-A797EBA014E8}"/>
              </a:ext>
            </a:extLst>
          </p:cNvPr>
          <p:cNvGrpSpPr/>
          <p:nvPr/>
        </p:nvGrpSpPr>
        <p:grpSpPr>
          <a:xfrm>
            <a:off x="413308" y="4075331"/>
            <a:ext cx="10747208" cy="1074420"/>
            <a:chOff x="413308" y="4075331"/>
            <a:chExt cx="10747208" cy="1074420"/>
          </a:xfrm>
        </p:grpSpPr>
        <p:sp>
          <p:nvSpPr>
            <p:cNvPr id="20" name="Rectangle: Rounded Corners 19">
              <a:extLst>
                <a:ext uri="{FF2B5EF4-FFF2-40B4-BE49-F238E27FC236}">
                  <a16:creationId xmlns:a16="http://schemas.microsoft.com/office/drawing/2014/main" id="{D99C501C-8342-004B-A624-CF4D9C3F400B}"/>
                </a:ext>
              </a:extLst>
            </p:cNvPr>
            <p:cNvSpPr/>
            <p:nvPr/>
          </p:nvSpPr>
          <p:spPr>
            <a:xfrm>
              <a:off x="555080" y="4295418"/>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2</a:t>
              </a:r>
              <a:endParaRPr lang="ko-KR" altLang="en-US" dirty="0"/>
            </a:p>
          </p:txBody>
        </p:sp>
        <p:sp>
          <p:nvSpPr>
            <p:cNvPr id="21" name="Rectangle: Rounded Corners 20">
              <a:extLst>
                <a:ext uri="{FF2B5EF4-FFF2-40B4-BE49-F238E27FC236}">
                  <a16:creationId xmlns:a16="http://schemas.microsoft.com/office/drawing/2014/main" id="{E044A51D-193D-8E91-B4F8-A57DC8FBF4ED}"/>
                </a:ext>
              </a:extLst>
            </p:cNvPr>
            <p:cNvSpPr/>
            <p:nvPr/>
          </p:nvSpPr>
          <p:spPr>
            <a:xfrm>
              <a:off x="3829474" y="4295418"/>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3</a:t>
              </a:r>
              <a:endParaRPr lang="ko-KR" altLang="en-US" dirty="0"/>
            </a:p>
          </p:txBody>
        </p:sp>
        <p:sp>
          <p:nvSpPr>
            <p:cNvPr id="22" name="Rectangle: Rounded Corners 21">
              <a:extLst>
                <a:ext uri="{FF2B5EF4-FFF2-40B4-BE49-F238E27FC236}">
                  <a16:creationId xmlns:a16="http://schemas.microsoft.com/office/drawing/2014/main" id="{C3AC63D7-F600-E3E3-7491-75E6B737559B}"/>
                </a:ext>
              </a:extLst>
            </p:cNvPr>
            <p:cNvSpPr/>
            <p:nvPr/>
          </p:nvSpPr>
          <p:spPr>
            <a:xfrm>
              <a:off x="413308" y="4075331"/>
              <a:ext cx="6675120" cy="107442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Rectangle: Rounded Corners 26">
              <a:extLst>
                <a:ext uri="{FF2B5EF4-FFF2-40B4-BE49-F238E27FC236}">
                  <a16:creationId xmlns:a16="http://schemas.microsoft.com/office/drawing/2014/main" id="{E6080C60-AC45-67D0-656A-7978EC921031}"/>
                </a:ext>
              </a:extLst>
            </p:cNvPr>
            <p:cNvSpPr/>
            <p:nvPr/>
          </p:nvSpPr>
          <p:spPr>
            <a:xfrm>
              <a:off x="7947884" y="4295418"/>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1</a:t>
              </a:r>
              <a:endParaRPr lang="ko-KR" altLang="en-US" dirty="0"/>
            </a:p>
          </p:txBody>
        </p:sp>
        <p:sp>
          <p:nvSpPr>
            <p:cNvPr id="31" name="Rectangle: Rounded Corners 30">
              <a:extLst>
                <a:ext uri="{FF2B5EF4-FFF2-40B4-BE49-F238E27FC236}">
                  <a16:creationId xmlns:a16="http://schemas.microsoft.com/office/drawing/2014/main" id="{E116F09B-E02A-3760-3DFC-278F50EA8182}"/>
                </a:ext>
              </a:extLst>
            </p:cNvPr>
            <p:cNvSpPr/>
            <p:nvPr/>
          </p:nvSpPr>
          <p:spPr>
            <a:xfrm>
              <a:off x="7815336" y="4075331"/>
              <a:ext cx="3345180" cy="107442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Straight Arrow Connector 34">
              <a:extLst>
                <a:ext uri="{FF2B5EF4-FFF2-40B4-BE49-F238E27FC236}">
                  <a16:creationId xmlns:a16="http://schemas.microsoft.com/office/drawing/2014/main" id="{C636EE70-2782-5D00-38CD-FB56B4E09A97}"/>
                </a:ext>
              </a:extLst>
            </p:cNvPr>
            <p:cNvCxnSpPr/>
            <p:nvPr/>
          </p:nvCxnSpPr>
          <p:spPr>
            <a:xfrm>
              <a:off x="7088428" y="4612541"/>
              <a:ext cx="726908" cy="0"/>
            </a:xfrm>
            <a:prstGeom prst="straightConnector1">
              <a:avLst/>
            </a:prstGeom>
            <a:ln w="31750">
              <a:solidFill>
                <a:schemeClr val="tx1"/>
              </a:solidFill>
              <a:prstDash val="sysDash"/>
              <a:headEnd w="lg" len="med"/>
              <a:tailEnd type="triangle" w="lg" len="med"/>
            </a:ln>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192EFBBD-68C3-CD7E-7E63-686698A5FEDF}"/>
              </a:ext>
            </a:extLst>
          </p:cNvPr>
          <p:cNvGrpSpPr/>
          <p:nvPr/>
        </p:nvGrpSpPr>
        <p:grpSpPr>
          <a:xfrm>
            <a:off x="413308" y="5367992"/>
            <a:ext cx="10747208" cy="1074420"/>
            <a:chOff x="413308" y="5367992"/>
            <a:chExt cx="10747208" cy="1074420"/>
          </a:xfrm>
        </p:grpSpPr>
        <p:sp>
          <p:nvSpPr>
            <p:cNvPr id="23" name="Rectangle: Rounded Corners 22">
              <a:extLst>
                <a:ext uri="{FF2B5EF4-FFF2-40B4-BE49-F238E27FC236}">
                  <a16:creationId xmlns:a16="http://schemas.microsoft.com/office/drawing/2014/main" id="{6696960C-478D-2B0B-7CCF-352B656E20B7}"/>
                </a:ext>
              </a:extLst>
            </p:cNvPr>
            <p:cNvSpPr/>
            <p:nvPr/>
          </p:nvSpPr>
          <p:spPr>
            <a:xfrm>
              <a:off x="555080" y="5588079"/>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3</a:t>
              </a:r>
              <a:endParaRPr lang="ko-KR" altLang="en-US" dirty="0"/>
            </a:p>
          </p:txBody>
        </p:sp>
        <p:sp>
          <p:nvSpPr>
            <p:cNvPr id="24" name="Rectangle: Rounded Corners 23">
              <a:extLst>
                <a:ext uri="{FF2B5EF4-FFF2-40B4-BE49-F238E27FC236}">
                  <a16:creationId xmlns:a16="http://schemas.microsoft.com/office/drawing/2014/main" id="{9A3D11A4-3EA4-79AC-963C-14EBD8452084}"/>
                </a:ext>
              </a:extLst>
            </p:cNvPr>
            <p:cNvSpPr/>
            <p:nvPr/>
          </p:nvSpPr>
          <p:spPr>
            <a:xfrm>
              <a:off x="3829474" y="5588079"/>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1</a:t>
              </a:r>
              <a:endParaRPr lang="ko-KR" altLang="en-US" dirty="0"/>
            </a:p>
          </p:txBody>
        </p:sp>
        <p:sp>
          <p:nvSpPr>
            <p:cNvPr id="25" name="Rectangle: Rounded Corners 24">
              <a:extLst>
                <a:ext uri="{FF2B5EF4-FFF2-40B4-BE49-F238E27FC236}">
                  <a16:creationId xmlns:a16="http://schemas.microsoft.com/office/drawing/2014/main" id="{F2C202C2-7C6E-628D-ADE0-238F938DD704}"/>
                </a:ext>
              </a:extLst>
            </p:cNvPr>
            <p:cNvSpPr/>
            <p:nvPr/>
          </p:nvSpPr>
          <p:spPr>
            <a:xfrm>
              <a:off x="413308" y="5367992"/>
              <a:ext cx="6675120" cy="107442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Rectangle: Rounded Corners 27">
              <a:extLst>
                <a:ext uri="{FF2B5EF4-FFF2-40B4-BE49-F238E27FC236}">
                  <a16:creationId xmlns:a16="http://schemas.microsoft.com/office/drawing/2014/main" id="{B1A67288-79B1-EDEB-4757-CFD9308C6EAF}"/>
                </a:ext>
              </a:extLst>
            </p:cNvPr>
            <p:cNvSpPr/>
            <p:nvPr/>
          </p:nvSpPr>
          <p:spPr>
            <a:xfrm>
              <a:off x="7947884" y="5588079"/>
              <a:ext cx="3080084" cy="6463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3200" dirty="0"/>
                <a:t>Fold 2</a:t>
              </a:r>
              <a:endParaRPr lang="ko-KR" altLang="en-US" dirty="0"/>
            </a:p>
          </p:txBody>
        </p:sp>
        <p:sp>
          <p:nvSpPr>
            <p:cNvPr id="32" name="Rectangle: Rounded Corners 31">
              <a:extLst>
                <a:ext uri="{FF2B5EF4-FFF2-40B4-BE49-F238E27FC236}">
                  <a16:creationId xmlns:a16="http://schemas.microsoft.com/office/drawing/2014/main" id="{F85F2634-C105-7943-E68E-C1F9D57E9E34}"/>
                </a:ext>
              </a:extLst>
            </p:cNvPr>
            <p:cNvSpPr/>
            <p:nvPr/>
          </p:nvSpPr>
          <p:spPr>
            <a:xfrm>
              <a:off x="7815336" y="5367992"/>
              <a:ext cx="3345180" cy="107442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6" name="Straight Arrow Connector 35">
              <a:extLst>
                <a:ext uri="{FF2B5EF4-FFF2-40B4-BE49-F238E27FC236}">
                  <a16:creationId xmlns:a16="http://schemas.microsoft.com/office/drawing/2014/main" id="{3930C859-9E0F-C1AB-11C8-4C89B0296569}"/>
                </a:ext>
              </a:extLst>
            </p:cNvPr>
            <p:cNvCxnSpPr/>
            <p:nvPr/>
          </p:nvCxnSpPr>
          <p:spPr>
            <a:xfrm>
              <a:off x="7088428" y="5905202"/>
              <a:ext cx="726908" cy="0"/>
            </a:xfrm>
            <a:prstGeom prst="straightConnector1">
              <a:avLst/>
            </a:prstGeom>
            <a:ln w="31750">
              <a:solidFill>
                <a:schemeClr val="tx1"/>
              </a:solidFill>
              <a:prstDash val="sysDash"/>
              <a:headEnd w="lg" len="med"/>
              <a:tailEnd type="triangle" w="lg" len="med"/>
            </a:ln>
          </p:spPr>
          <p:style>
            <a:lnRef idx="2">
              <a:schemeClr val="accent1"/>
            </a:lnRef>
            <a:fillRef idx="0">
              <a:schemeClr val="accent1"/>
            </a:fillRef>
            <a:effectRef idx="1">
              <a:schemeClr val="accent1"/>
            </a:effectRef>
            <a:fontRef idx="minor">
              <a:schemeClr val="tx1"/>
            </a:fontRef>
          </p:style>
        </p:cxnSp>
      </p:grpSp>
      <p:sp>
        <p:nvSpPr>
          <p:cNvPr id="37" name="TextBox 36">
            <a:extLst>
              <a:ext uri="{FF2B5EF4-FFF2-40B4-BE49-F238E27FC236}">
                <a16:creationId xmlns:a16="http://schemas.microsoft.com/office/drawing/2014/main" id="{3681A7CC-C2AB-042E-9151-AA7EF5A330C7}"/>
              </a:ext>
            </a:extLst>
          </p:cNvPr>
          <p:cNvSpPr txBox="1"/>
          <p:nvPr/>
        </p:nvSpPr>
        <p:spPr>
          <a:xfrm>
            <a:off x="2777064" y="1999985"/>
            <a:ext cx="1762474" cy="646331"/>
          </a:xfrm>
          <a:prstGeom prst="rect">
            <a:avLst/>
          </a:prstGeom>
          <a:noFill/>
        </p:spPr>
        <p:txBody>
          <a:bodyPr wrap="square">
            <a:spAutoFit/>
          </a:bodyPr>
          <a:lstStyle/>
          <a:p>
            <a:pPr algn="ctr">
              <a:buNone/>
            </a:pPr>
            <a:r>
              <a:rPr lang="en-US" altLang="ko-KR" sz="3600" b="1" dirty="0"/>
              <a:t>Train</a:t>
            </a:r>
          </a:p>
        </p:txBody>
      </p:sp>
      <p:sp>
        <p:nvSpPr>
          <p:cNvPr id="38" name="TextBox 37">
            <a:extLst>
              <a:ext uri="{FF2B5EF4-FFF2-40B4-BE49-F238E27FC236}">
                <a16:creationId xmlns:a16="http://schemas.microsoft.com/office/drawing/2014/main" id="{5B301763-7CCE-AC65-C5CC-A0BF981F922A}"/>
              </a:ext>
            </a:extLst>
          </p:cNvPr>
          <p:cNvSpPr txBox="1"/>
          <p:nvPr/>
        </p:nvSpPr>
        <p:spPr>
          <a:xfrm>
            <a:off x="8431204" y="2012963"/>
            <a:ext cx="1982795" cy="646331"/>
          </a:xfrm>
          <a:prstGeom prst="rect">
            <a:avLst/>
          </a:prstGeom>
          <a:noFill/>
        </p:spPr>
        <p:txBody>
          <a:bodyPr wrap="square">
            <a:spAutoFit/>
          </a:bodyPr>
          <a:lstStyle/>
          <a:p>
            <a:pPr algn="ctr">
              <a:buNone/>
            </a:pPr>
            <a:r>
              <a:rPr lang="en-US" altLang="ko-KR" sz="3600" b="1" dirty="0"/>
              <a:t>Validate</a:t>
            </a:r>
          </a:p>
        </p:txBody>
      </p:sp>
    </p:spTree>
    <p:extLst>
      <p:ext uri="{BB962C8B-B14F-4D97-AF65-F5344CB8AC3E}">
        <p14:creationId xmlns:p14="http://schemas.microsoft.com/office/powerpoint/2010/main" val="3276565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400" fill="hold"/>
                                        <p:tgtEl>
                                          <p:spTgt spid="10"/>
                                        </p:tgtEl>
                                        <p:attrNameLst>
                                          <p:attrName>fillcolor</p:attrName>
                                        </p:attrNameLst>
                                      </p:cBhvr>
                                      <p:to>
                                        <a:srgbClr val="F2F2F2"/>
                                      </p:to>
                                    </p:animClr>
                                    <p:set>
                                      <p:cBhvr>
                                        <p:cTn id="7" dur="400" fill="hold"/>
                                        <p:tgtEl>
                                          <p:spTgt spid="10"/>
                                        </p:tgtEl>
                                        <p:attrNameLst>
                                          <p:attrName>fill.type</p:attrName>
                                        </p:attrNameLst>
                                      </p:cBhvr>
                                      <p:to>
                                        <p:strVal val="solid"/>
                                      </p:to>
                                    </p:set>
                                    <p:set>
                                      <p:cBhvr>
                                        <p:cTn id="8" dur="400" fill="hold"/>
                                        <p:tgtEl>
                                          <p:spTgt spid="10"/>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39" grpId="0" animBg="1"/>
      <p:bldP spid="37" grpId="0"/>
      <p:bldP spid="38"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3857</TotalTime>
  <Words>2270</Words>
  <Application>Microsoft Office PowerPoint</Application>
  <PresentationFormat>Widescreen</PresentationFormat>
  <Paragraphs>258</Paragraphs>
  <Slides>20</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HY중고딕</vt:lpstr>
      <vt:lpstr>굴림</vt:lpstr>
      <vt:lpstr>Aptos</vt:lpstr>
      <vt:lpstr>Aptos Display</vt:lpstr>
      <vt:lpstr>Arial</vt:lpstr>
      <vt:lpstr>Arial Black</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Hyokwon Jung</dc:creator>
  <cp:lastModifiedBy>Hyokwon Jung</cp:lastModifiedBy>
  <cp:revision>41</cp:revision>
  <dcterms:created xsi:type="dcterms:W3CDTF">2025-11-21T12:01:20Z</dcterms:created>
  <dcterms:modified xsi:type="dcterms:W3CDTF">2025-11-30T03:24:00Z</dcterms:modified>
</cp:coreProperties>
</file>